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y="10287000" cx="18288000"/>
  <p:notesSz cx="18288000" cy="10287000"/>
  <p:embeddedFontLst>
    <p:embeddedFont>
      <p:font typeface="Tahoma"/>
      <p:regular r:id="rId21"/>
      <p:bold r:id="rId2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880">
          <p15:clr>
            <a:srgbClr val="000000"/>
          </p15:clr>
        </p15:guide>
        <p15:guide id="2" pos="2160">
          <p15:clr>
            <a:srgbClr val="000000"/>
          </p15:clr>
        </p15:guide>
      </p15:sldGuideLst>
    </p:ext>
    <p:ext uri="GoogleSlidesCustomDataVersion2">
      <go:slidesCustomData xmlns:go="http://customooxmlschemas.google.com/" r:id="rId23" roundtripDataSignature="AMtx7miBL7hy3c+MTDcbsqAxlE+fOIrBg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880" orient="horz"/>
        <p:guide pos="216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11" Type="http://schemas.openxmlformats.org/officeDocument/2006/relationships/slide" Target="slides/slide6.xml"/><Relationship Id="rId22" Type="http://schemas.openxmlformats.org/officeDocument/2006/relationships/font" Target="fonts/Tahoma-bold.fntdata"/><Relationship Id="rId10" Type="http://schemas.openxmlformats.org/officeDocument/2006/relationships/slide" Target="slides/slide5.xml"/><Relationship Id="rId21" Type="http://schemas.openxmlformats.org/officeDocument/2006/relationships/font" Target="fonts/Tahoma-regular.fntdata"/><Relationship Id="rId13" Type="http://schemas.openxmlformats.org/officeDocument/2006/relationships/slide" Target="slides/slide8.xml"/><Relationship Id="rId12" Type="http://schemas.openxmlformats.org/officeDocument/2006/relationships/slide" Target="slides/slide7.xml"/><Relationship Id="rId23" Type="http://customschemas.google.com/relationships/presentationmetadata" Target="meta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048600" y="771525"/>
            <a:ext cx="12192600" cy="38576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1828800" y="4886325"/>
            <a:ext cx="14630400" cy="462915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 name="Shape 40"/>
        <p:cNvGrpSpPr/>
        <p:nvPr/>
      </p:nvGrpSpPr>
      <p:grpSpPr>
        <a:xfrm>
          <a:off x="0" y="0"/>
          <a:ext cx="0" cy="0"/>
          <a:chOff x="0" y="0"/>
          <a:chExt cx="0" cy="0"/>
        </a:xfrm>
      </p:grpSpPr>
      <p:sp>
        <p:nvSpPr>
          <p:cNvPr id="41" name="Google Shape;41;p1:notes"/>
          <p:cNvSpPr txBox="1"/>
          <p:nvPr>
            <p:ph idx="1" type="body"/>
          </p:nvPr>
        </p:nvSpPr>
        <p:spPr>
          <a:xfrm>
            <a:off x="1828800" y="4886325"/>
            <a:ext cx="14630400" cy="46291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1:notes"/>
          <p:cNvSpPr/>
          <p:nvPr>
            <p:ph idx="2" type="sldImg"/>
          </p:nvPr>
        </p:nvSpPr>
        <p:spPr>
          <a:xfrm>
            <a:off x="3048600" y="771525"/>
            <a:ext cx="12192600" cy="38576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 name="Shape 52"/>
        <p:cNvGrpSpPr/>
        <p:nvPr/>
      </p:nvGrpSpPr>
      <p:grpSpPr>
        <a:xfrm>
          <a:off x="0" y="0"/>
          <a:ext cx="0" cy="0"/>
          <a:chOff x="0" y="0"/>
          <a:chExt cx="0" cy="0"/>
        </a:xfrm>
      </p:grpSpPr>
      <p:sp>
        <p:nvSpPr>
          <p:cNvPr id="53" name="Google Shape;53;p2:notes"/>
          <p:cNvSpPr txBox="1"/>
          <p:nvPr>
            <p:ph idx="1" type="body"/>
          </p:nvPr>
        </p:nvSpPr>
        <p:spPr>
          <a:xfrm>
            <a:off x="1828800" y="4886325"/>
            <a:ext cx="14630400" cy="46291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2:notes"/>
          <p:cNvSpPr/>
          <p:nvPr>
            <p:ph idx="2" type="sldImg"/>
          </p:nvPr>
        </p:nvSpPr>
        <p:spPr>
          <a:xfrm>
            <a:off x="3048600" y="771525"/>
            <a:ext cx="12192600" cy="38576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p3:notes"/>
          <p:cNvSpPr txBox="1"/>
          <p:nvPr>
            <p:ph idx="1" type="body"/>
          </p:nvPr>
        </p:nvSpPr>
        <p:spPr>
          <a:xfrm>
            <a:off x="1828800" y="4886325"/>
            <a:ext cx="14630400" cy="46291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3:notes"/>
          <p:cNvSpPr/>
          <p:nvPr>
            <p:ph idx="2" type="sldImg"/>
          </p:nvPr>
        </p:nvSpPr>
        <p:spPr>
          <a:xfrm>
            <a:off x="3048600" y="771525"/>
            <a:ext cx="12192600" cy="38576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p4:notes"/>
          <p:cNvSpPr txBox="1"/>
          <p:nvPr>
            <p:ph idx="1" type="body"/>
          </p:nvPr>
        </p:nvSpPr>
        <p:spPr>
          <a:xfrm>
            <a:off x="1828800" y="4886325"/>
            <a:ext cx="14630400" cy="46291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4:notes"/>
          <p:cNvSpPr/>
          <p:nvPr>
            <p:ph idx="2" type="sldImg"/>
          </p:nvPr>
        </p:nvSpPr>
        <p:spPr>
          <a:xfrm>
            <a:off x="3048600" y="771525"/>
            <a:ext cx="12192600" cy="38576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5:notes"/>
          <p:cNvSpPr txBox="1"/>
          <p:nvPr>
            <p:ph idx="1" type="body"/>
          </p:nvPr>
        </p:nvSpPr>
        <p:spPr>
          <a:xfrm>
            <a:off x="1828800" y="4886325"/>
            <a:ext cx="14630400" cy="46291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5:notes"/>
          <p:cNvSpPr/>
          <p:nvPr>
            <p:ph idx="2" type="sldImg"/>
          </p:nvPr>
        </p:nvSpPr>
        <p:spPr>
          <a:xfrm>
            <a:off x="3048600" y="771525"/>
            <a:ext cx="12192600" cy="38576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6:notes"/>
          <p:cNvSpPr txBox="1"/>
          <p:nvPr>
            <p:ph idx="1" type="body"/>
          </p:nvPr>
        </p:nvSpPr>
        <p:spPr>
          <a:xfrm>
            <a:off x="1828800" y="4886325"/>
            <a:ext cx="14630400" cy="46291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6:notes"/>
          <p:cNvSpPr/>
          <p:nvPr>
            <p:ph idx="2" type="sldImg"/>
          </p:nvPr>
        </p:nvSpPr>
        <p:spPr>
          <a:xfrm>
            <a:off x="3048600" y="771525"/>
            <a:ext cx="12192600" cy="38576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7:notes"/>
          <p:cNvSpPr txBox="1"/>
          <p:nvPr>
            <p:ph idx="1" type="body"/>
          </p:nvPr>
        </p:nvSpPr>
        <p:spPr>
          <a:xfrm>
            <a:off x="1828800" y="4886325"/>
            <a:ext cx="14630400" cy="46291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7:notes"/>
          <p:cNvSpPr/>
          <p:nvPr>
            <p:ph idx="2" type="sldImg"/>
          </p:nvPr>
        </p:nvSpPr>
        <p:spPr>
          <a:xfrm>
            <a:off x="3048600" y="771525"/>
            <a:ext cx="12192600" cy="38576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8:notes"/>
          <p:cNvSpPr txBox="1"/>
          <p:nvPr>
            <p:ph idx="1" type="body"/>
          </p:nvPr>
        </p:nvSpPr>
        <p:spPr>
          <a:xfrm>
            <a:off x="1828800" y="4886325"/>
            <a:ext cx="14630400" cy="46291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8:notes"/>
          <p:cNvSpPr/>
          <p:nvPr>
            <p:ph idx="2" type="sldImg"/>
          </p:nvPr>
        </p:nvSpPr>
        <p:spPr>
          <a:xfrm>
            <a:off x="3048600" y="771525"/>
            <a:ext cx="12192600" cy="38576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9:notes"/>
          <p:cNvSpPr txBox="1"/>
          <p:nvPr>
            <p:ph idx="1" type="body"/>
          </p:nvPr>
        </p:nvSpPr>
        <p:spPr>
          <a:xfrm>
            <a:off x="1828800" y="4886325"/>
            <a:ext cx="14630400" cy="46291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9:notes"/>
          <p:cNvSpPr/>
          <p:nvPr>
            <p:ph idx="2" type="sldImg"/>
          </p:nvPr>
        </p:nvSpPr>
        <p:spPr>
          <a:xfrm>
            <a:off x="3048600" y="771525"/>
            <a:ext cx="12192600" cy="38576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10:notes"/>
          <p:cNvSpPr txBox="1"/>
          <p:nvPr>
            <p:ph idx="1" type="body"/>
          </p:nvPr>
        </p:nvSpPr>
        <p:spPr>
          <a:xfrm>
            <a:off x="1828800" y="4886325"/>
            <a:ext cx="14630400" cy="46291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10:notes"/>
          <p:cNvSpPr/>
          <p:nvPr>
            <p:ph idx="2" type="sldImg"/>
          </p:nvPr>
        </p:nvSpPr>
        <p:spPr>
          <a:xfrm>
            <a:off x="3048600" y="771525"/>
            <a:ext cx="12192600" cy="38576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11:notes"/>
          <p:cNvSpPr txBox="1"/>
          <p:nvPr>
            <p:ph idx="1" type="body"/>
          </p:nvPr>
        </p:nvSpPr>
        <p:spPr>
          <a:xfrm>
            <a:off x="1828800" y="4886325"/>
            <a:ext cx="14630400" cy="46291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11:notes"/>
          <p:cNvSpPr/>
          <p:nvPr>
            <p:ph idx="2" type="sldImg"/>
          </p:nvPr>
        </p:nvSpPr>
        <p:spPr>
          <a:xfrm>
            <a:off x="3048600" y="771525"/>
            <a:ext cx="12192600" cy="38576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12:notes"/>
          <p:cNvSpPr txBox="1"/>
          <p:nvPr>
            <p:ph idx="1" type="body"/>
          </p:nvPr>
        </p:nvSpPr>
        <p:spPr>
          <a:xfrm>
            <a:off x="1828800" y="4886325"/>
            <a:ext cx="14630400" cy="46291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12:notes"/>
          <p:cNvSpPr/>
          <p:nvPr>
            <p:ph idx="2" type="sldImg"/>
          </p:nvPr>
        </p:nvSpPr>
        <p:spPr>
          <a:xfrm>
            <a:off x="3048600" y="771525"/>
            <a:ext cx="12192600" cy="38576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13:notes"/>
          <p:cNvSpPr txBox="1"/>
          <p:nvPr>
            <p:ph idx="1" type="body"/>
          </p:nvPr>
        </p:nvSpPr>
        <p:spPr>
          <a:xfrm>
            <a:off x="1828800" y="4886325"/>
            <a:ext cx="14630400" cy="46291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13:notes"/>
          <p:cNvSpPr/>
          <p:nvPr>
            <p:ph idx="2" type="sldImg"/>
          </p:nvPr>
        </p:nvSpPr>
        <p:spPr>
          <a:xfrm>
            <a:off x="3048600" y="771525"/>
            <a:ext cx="12192600" cy="38576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14:notes"/>
          <p:cNvSpPr txBox="1"/>
          <p:nvPr>
            <p:ph idx="1" type="body"/>
          </p:nvPr>
        </p:nvSpPr>
        <p:spPr>
          <a:xfrm>
            <a:off x="1828800" y="4886325"/>
            <a:ext cx="14630400" cy="46291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14:notes"/>
          <p:cNvSpPr/>
          <p:nvPr>
            <p:ph idx="2" type="sldImg"/>
          </p:nvPr>
        </p:nvSpPr>
        <p:spPr>
          <a:xfrm>
            <a:off x="3048600" y="771525"/>
            <a:ext cx="12192600" cy="38576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15:notes"/>
          <p:cNvSpPr txBox="1"/>
          <p:nvPr>
            <p:ph idx="1" type="body"/>
          </p:nvPr>
        </p:nvSpPr>
        <p:spPr>
          <a:xfrm>
            <a:off x="1828800" y="4886325"/>
            <a:ext cx="14630400" cy="46291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15:notes"/>
          <p:cNvSpPr/>
          <p:nvPr>
            <p:ph idx="2" type="sldImg"/>
          </p:nvPr>
        </p:nvSpPr>
        <p:spPr>
          <a:xfrm>
            <a:off x="3048600" y="771525"/>
            <a:ext cx="12192600" cy="38576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obj">
  <p:cSld name="OBJECT">
    <p:spTree>
      <p:nvGrpSpPr>
        <p:cNvPr id="12" name="Shape 12"/>
        <p:cNvGrpSpPr/>
        <p:nvPr/>
      </p:nvGrpSpPr>
      <p:grpSpPr>
        <a:xfrm>
          <a:off x="0" y="0"/>
          <a:ext cx="0" cy="0"/>
          <a:chOff x="0" y="0"/>
          <a:chExt cx="0" cy="0"/>
        </a:xfrm>
      </p:grpSpPr>
      <p:sp>
        <p:nvSpPr>
          <p:cNvPr id="13" name="Google Shape;13;p17"/>
          <p:cNvSpPr txBox="1"/>
          <p:nvPr>
            <p:ph type="ctrTitle"/>
          </p:nvPr>
        </p:nvSpPr>
        <p:spPr>
          <a:xfrm>
            <a:off x="1206499" y="1224597"/>
            <a:ext cx="9505315" cy="688339"/>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1" i="0" sz="4350">
                <a:solidFill>
                  <a:srgbClr val="17324D"/>
                </a:solidFill>
                <a:latin typeface="Tahoma"/>
                <a:ea typeface="Tahoma"/>
                <a:cs typeface="Tahoma"/>
                <a:sym typeface="Tahom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 name="Google Shape;14;p17"/>
          <p:cNvSpPr txBox="1"/>
          <p:nvPr>
            <p:ph idx="1" type="subTitle"/>
          </p:nvPr>
        </p:nvSpPr>
        <p:spPr>
          <a:xfrm>
            <a:off x="1206499" y="5753735"/>
            <a:ext cx="7849234" cy="107315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2050">
                <a:solidFill>
                  <a:schemeClr val="dk1"/>
                </a:solidFill>
                <a:latin typeface="Verdana"/>
                <a:ea typeface="Verdana"/>
                <a:cs typeface="Verdana"/>
                <a:sym typeface="Verdana"/>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17"/>
          <p:cNvSpPr txBox="1"/>
          <p:nvPr>
            <p:ph idx="11" type="ftr"/>
          </p:nvPr>
        </p:nvSpPr>
        <p:spPr>
          <a:xfrm>
            <a:off x="6217920" y="9566910"/>
            <a:ext cx="5852160" cy="51435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 name="Google Shape;16;p17"/>
          <p:cNvSpPr txBox="1"/>
          <p:nvPr>
            <p:ph idx="10" type="dt"/>
          </p:nvPr>
        </p:nvSpPr>
        <p:spPr>
          <a:xfrm>
            <a:off x="914400" y="9566910"/>
            <a:ext cx="4206240" cy="51435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17"/>
          <p:cNvSpPr txBox="1"/>
          <p:nvPr>
            <p:ph idx="12" type="sldNum"/>
          </p:nvPr>
        </p:nvSpPr>
        <p:spPr>
          <a:xfrm>
            <a:off x="13167361" y="9566910"/>
            <a:ext cx="4206240" cy="514350"/>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18" name="Shape 18"/>
        <p:cNvGrpSpPr/>
        <p:nvPr/>
      </p:nvGrpSpPr>
      <p:grpSpPr>
        <a:xfrm>
          <a:off x="0" y="0"/>
          <a:ext cx="0" cy="0"/>
          <a:chOff x="0" y="0"/>
          <a:chExt cx="0" cy="0"/>
        </a:xfrm>
      </p:grpSpPr>
      <p:sp>
        <p:nvSpPr>
          <p:cNvPr id="19" name="Google Shape;19;p18"/>
          <p:cNvSpPr txBox="1"/>
          <p:nvPr>
            <p:ph type="title"/>
          </p:nvPr>
        </p:nvSpPr>
        <p:spPr>
          <a:xfrm>
            <a:off x="1206499" y="1224597"/>
            <a:ext cx="9653270" cy="688339"/>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1" i="0" sz="4350">
                <a:solidFill>
                  <a:srgbClr val="17324D"/>
                </a:solidFill>
                <a:latin typeface="Tahoma"/>
                <a:ea typeface="Tahoma"/>
                <a:cs typeface="Tahoma"/>
                <a:sym typeface="Tahom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 name="Google Shape;20;p18"/>
          <p:cNvSpPr txBox="1"/>
          <p:nvPr>
            <p:ph idx="11" type="ftr"/>
          </p:nvPr>
        </p:nvSpPr>
        <p:spPr>
          <a:xfrm>
            <a:off x="6217920" y="9566910"/>
            <a:ext cx="5852160" cy="51435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 name="Google Shape;21;p18"/>
          <p:cNvSpPr txBox="1"/>
          <p:nvPr>
            <p:ph idx="10" type="dt"/>
          </p:nvPr>
        </p:nvSpPr>
        <p:spPr>
          <a:xfrm>
            <a:off x="914400" y="9566910"/>
            <a:ext cx="4206240" cy="51435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 name="Google Shape;22;p18"/>
          <p:cNvSpPr txBox="1"/>
          <p:nvPr>
            <p:ph idx="12" type="sldNum"/>
          </p:nvPr>
        </p:nvSpPr>
        <p:spPr>
          <a:xfrm>
            <a:off x="13167361" y="9566910"/>
            <a:ext cx="4206240" cy="514350"/>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23" name="Shape 23"/>
        <p:cNvGrpSpPr/>
        <p:nvPr/>
      </p:nvGrpSpPr>
      <p:grpSpPr>
        <a:xfrm>
          <a:off x="0" y="0"/>
          <a:ext cx="0" cy="0"/>
          <a:chOff x="0" y="0"/>
          <a:chExt cx="0" cy="0"/>
        </a:xfrm>
      </p:grpSpPr>
      <p:sp>
        <p:nvSpPr>
          <p:cNvPr id="24" name="Google Shape;24;p19"/>
          <p:cNvSpPr txBox="1"/>
          <p:nvPr>
            <p:ph type="title"/>
          </p:nvPr>
        </p:nvSpPr>
        <p:spPr>
          <a:xfrm>
            <a:off x="1206499" y="1224597"/>
            <a:ext cx="9653270" cy="688339"/>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1" i="0" sz="4350">
                <a:solidFill>
                  <a:srgbClr val="17324D"/>
                </a:solidFill>
                <a:latin typeface="Tahoma"/>
                <a:ea typeface="Tahoma"/>
                <a:cs typeface="Tahoma"/>
                <a:sym typeface="Tahom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19"/>
          <p:cNvSpPr txBox="1"/>
          <p:nvPr>
            <p:ph idx="1" type="body"/>
          </p:nvPr>
        </p:nvSpPr>
        <p:spPr>
          <a:xfrm>
            <a:off x="1458465" y="2379973"/>
            <a:ext cx="10036810" cy="6902450"/>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b="0" i="0" sz="2050">
                <a:solidFill>
                  <a:schemeClr val="dk1"/>
                </a:solidFill>
                <a:latin typeface="Verdana"/>
                <a:ea typeface="Verdana"/>
                <a:cs typeface="Verdana"/>
                <a:sym typeface="Verdana"/>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6" name="Google Shape;26;p19"/>
          <p:cNvSpPr txBox="1"/>
          <p:nvPr>
            <p:ph idx="11" type="ftr"/>
          </p:nvPr>
        </p:nvSpPr>
        <p:spPr>
          <a:xfrm>
            <a:off x="6217920" y="9566910"/>
            <a:ext cx="5852160" cy="51435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 name="Google Shape;27;p19"/>
          <p:cNvSpPr txBox="1"/>
          <p:nvPr>
            <p:ph idx="10" type="dt"/>
          </p:nvPr>
        </p:nvSpPr>
        <p:spPr>
          <a:xfrm>
            <a:off x="914400" y="9566910"/>
            <a:ext cx="4206240" cy="51435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 name="Google Shape;28;p19"/>
          <p:cNvSpPr txBox="1"/>
          <p:nvPr>
            <p:ph idx="12" type="sldNum"/>
          </p:nvPr>
        </p:nvSpPr>
        <p:spPr>
          <a:xfrm>
            <a:off x="13167361" y="9566910"/>
            <a:ext cx="4206240" cy="514350"/>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29" name="Shape 29"/>
        <p:cNvGrpSpPr/>
        <p:nvPr/>
      </p:nvGrpSpPr>
      <p:grpSpPr>
        <a:xfrm>
          <a:off x="0" y="0"/>
          <a:ext cx="0" cy="0"/>
          <a:chOff x="0" y="0"/>
          <a:chExt cx="0" cy="0"/>
        </a:xfrm>
      </p:grpSpPr>
      <p:sp>
        <p:nvSpPr>
          <p:cNvPr id="30" name="Google Shape;30;p20"/>
          <p:cNvSpPr txBox="1"/>
          <p:nvPr>
            <p:ph type="title"/>
          </p:nvPr>
        </p:nvSpPr>
        <p:spPr>
          <a:xfrm>
            <a:off x="1206499" y="1224597"/>
            <a:ext cx="9653270" cy="688339"/>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1" i="0" sz="4350">
                <a:solidFill>
                  <a:srgbClr val="17324D"/>
                </a:solidFill>
                <a:latin typeface="Tahoma"/>
                <a:ea typeface="Tahoma"/>
                <a:cs typeface="Tahoma"/>
                <a:sym typeface="Tahom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20"/>
          <p:cNvSpPr txBox="1"/>
          <p:nvPr>
            <p:ph idx="1" type="body"/>
          </p:nvPr>
        </p:nvSpPr>
        <p:spPr>
          <a:xfrm>
            <a:off x="914400" y="2366010"/>
            <a:ext cx="7955280" cy="6789420"/>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2" name="Google Shape;32;p20"/>
          <p:cNvSpPr txBox="1"/>
          <p:nvPr>
            <p:ph idx="2" type="body"/>
          </p:nvPr>
        </p:nvSpPr>
        <p:spPr>
          <a:xfrm>
            <a:off x="9418320" y="2366010"/>
            <a:ext cx="7955280" cy="6789420"/>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3" name="Google Shape;33;p20"/>
          <p:cNvSpPr txBox="1"/>
          <p:nvPr>
            <p:ph idx="11" type="ftr"/>
          </p:nvPr>
        </p:nvSpPr>
        <p:spPr>
          <a:xfrm>
            <a:off x="6217920" y="9566910"/>
            <a:ext cx="5852160" cy="51435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4" name="Google Shape;34;p20"/>
          <p:cNvSpPr txBox="1"/>
          <p:nvPr>
            <p:ph idx="10" type="dt"/>
          </p:nvPr>
        </p:nvSpPr>
        <p:spPr>
          <a:xfrm>
            <a:off x="914400" y="9566910"/>
            <a:ext cx="4206240" cy="51435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20"/>
          <p:cNvSpPr txBox="1"/>
          <p:nvPr>
            <p:ph idx="12" type="sldNum"/>
          </p:nvPr>
        </p:nvSpPr>
        <p:spPr>
          <a:xfrm>
            <a:off x="13167361" y="9566910"/>
            <a:ext cx="4206240" cy="514350"/>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36" name="Shape 36"/>
        <p:cNvGrpSpPr/>
        <p:nvPr/>
      </p:nvGrpSpPr>
      <p:grpSpPr>
        <a:xfrm>
          <a:off x="0" y="0"/>
          <a:ext cx="0" cy="0"/>
          <a:chOff x="0" y="0"/>
          <a:chExt cx="0" cy="0"/>
        </a:xfrm>
      </p:grpSpPr>
      <p:sp>
        <p:nvSpPr>
          <p:cNvPr id="37" name="Google Shape;37;p21"/>
          <p:cNvSpPr txBox="1"/>
          <p:nvPr>
            <p:ph idx="11" type="ftr"/>
          </p:nvPr>
        </p:nvSpPr>
        <p:spPr>
          <a:xfrm>
            <a:off x="6217920" y="9566910"/>
            <a:ext cx="5852160" cy="51435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21"/>
          <p:cNvSpPr txBox="1"/>
          <p:nvPr>
            <p:ph idx="10" type="dt"/>
          </p:nvPr>
        </p:nvSpPr>
        <p:spPr>
          <a:xfrm>
            <a:off x="914400" y="9566910"/>
            <a:ext cx="4206240" cy="51435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21"/>
          <p:cNvSpPr txBox="1"/>
          <p:nvPr>
            <p:ph idx="12" type="sldNum"/>
          </p:nvPr>
        </p:nvSpPr>
        <p:spPr>
          <a:xfrm>
            <a:off x="13167361" y="9566910"/>
            <a:ext cx="4206240" cy="514350"/>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6"/>
          <p:cNvSpPr/>
          <p:nvPr/>
        </p:nvSpPr>
        <p:spPr>
          <a:xfrm>
            <a:off x="0" y="0"/>
            <a:ext cx="18288000" cy="10287000"/>
          </a:xfrm>
          <a:custGeom>
            <a:rect b="b" l="l" r="r" t="t"/>
            <a:pathLst>
              <a:path extrusionOk="0" h="10287000" w="18288000">
                <a:moveTo>
                  <a:pt x="18287998" y="10286999"/>
                </a:moveTo>
                <a:lnTo>
                  <a:pt x="0" y="10286999"/>
                </a:lnTo>
                <a:lnTo>
                  <a:pt x="0" y="0"/>
                </a:lnTo>
                <a:lnTo>
                  <a:pt x="18287998" y="0"/>
                </a:lnTo>
                <a:lnTo>
                  <a:pt x="18287998" y="10286999"/>
                </a:lnTo>
                <a:close/>
              </a:path>
            </a:pathLst>
          </a:custGeom>
          <a:solidFill>
            <a:srgbClr val="F6F5F1"/>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7" name="Google Shape;7;p16"/>
          <p:cNvSpPr txBox="1"/>
          <p:nvPr>
            <p:ph type="title"/>
          </p:nvPr>
        </p:nvSpPr>
        <p:spPr>
          <a:xfrm>
            <a:off x="1206499" y="1224597"/>
            <a:ext cx="9653270" cy="688339"/>
          </a:xfrm>
          <a:prstGeom prst="rect">
            <a:avLst/>
          </a:prstGeom>
          <a:noFill/>
          <a:ln>
            <a:noFill/>
          </a:ln>
        </p:spPr>
        <p:txBody>
          <a:bodyPr anchorCtr="0" anchor="t" bIns="0" lIns="0" spcFirstLastPara="1" rIns="0" wrap="square" tIns="0">
            <a:spAutoFit/>
          </a:bodyPr>
          <a:lstStyle>
            <a:lvl1pPr lvl="0" marR="0" rtl="0" algn="l">
              <a:spcBef>
                <a:spcPts val="0"/>
              </a:spcBef>
              <a:spcAft>
                <a:spcPts val="0"/>
              </a:spcAft>
              <a:buSzPts val="1400"/>
              <a:buNone/>
              <a:defRPr b="1" i="0" sz="4350" u="none" cap="none" strike="noStrike">
                <a:solidFill>
                  <a:srgbClr val="17324D"/>
                </a:solidFill>
                <a:latin typeface="Tahoma"/>
                <a:ea typeface="Tahoma"/>
                <a:cs typeface="Tahoma"/>
                <a:sym typeface="Tahoma"/>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8" name="Google Shape;8;p16"/>
          <p:cNvSpPr txBox="1"/>
          <p:nvPr>
            <p:ph idx="1" type="body"/>
          </p:nvPr>
        </p:nvSpPr>
        <p:spPr>
          <a:xfrm>
            <a:off x="1458465" y="2379973"/>
            <a:ext cx="10036810" cy="6902450"/>
          </a:xfrm>
          <a:prstGeom prst="rect">
            <a:avLst/>
          </a:prstGeom>
          <a:noFill/>
          <a:ln>
            <a:noFill/>
          </a:ln>
        </p:spPr>
        <p:txBody>
          <a:bodyPr anchorCtr="0" anchor="t" bIns="0" lIns="0" spcFirstLastPara="1" rIns="0" wrap="square" tIns="0">
            <a:spAutoFit/>
          </a:bodyPr>
          <a:lstStyle>
            <a:lvl1pPr indent="-228600" lvl="0" marL="457200" marR="0" rtl="0" algn="l">
              <a:spcBef>
                <a:spcPts val="0"/>
              </a:spcBef>
              <a:spcAft>
                <a:spcPts val="0"/>
              </a:spcAft>
              <a:buSzPts val="1400"/>
              <a:buNone/>
              <a:defRPr b="0" i="0" sz="2050" u="none" cap="none" strike="noStrike">
                <a:solidFill>
                  <a:schemeClr val="dk1"/>
                </a:solidFill>
                <a:latin typeface="Verdana"/>
                <a:ea typeface="Verdana"/>
                <a:cs typeface="Verdana"/>
                <a:sym typeface="Verdana"/>
              </a:defRPr>
            </a:lvl1pPr>
            <a:lvl2pPr indent="-228600" lvl="1" marL="914400" marR="0" rtl="0" algn="l">
              <a:spcBef>
                <a:spcPts val="0"/>
              </a:spcBef>
              <a:spcAft>
                <a:spcPts val="0"/>
              </a:spcAft>
              <a:buSzPts val="1400"/>
              <a:buNone/>
              <a:defRPr b="0" i="0" sz="1800" u="none" cap="none" strike="noStrike">
                <a:latin typeface="Calibri"/>
                <a:ea typeface="Calibri"/>
                <a:cs typeface="Calibri"/>
                <a:sym typeface="Calibri"/>
              </a:defRPr>
            </a:lvl2pPr>
            <a:lvl3pPr indent="-228600" lvl="2" marL="1371600" marR="0" rtl="0" algn="l">
              <a:spcBef>
                <a:spcPts val="0"/>
              </a:spcBef>
              <a:spcAft>
                <a:spcPts val="0"/>
              </a:spcAft>
              <a:buSzPts val="1400"/>
              <a:buNone/>
              <a:defRPr b="0" i="0" sz="1800" u="none" cap="none" strike="noStrike">
                <a:latin typeface="Calibri"/>
                <a:ea typeface="Calibri"/>
                <a:cs typeface="Calibri"/>
                <a:sym typeface="Calibri"/>
              </a:defRPr>
            </a:lvl3pPr>
            <a:lvl4pPr indent="-228600" lvl="3" marL="1828800" marR="0" rtl="0" algn="l">
              <a:spcBef>
                <a:spcPts val="0"/>
              </a:spcBef>
              <a:spcAft>
                <a:spcPts val="0"/>
              </a:spcAft>
              <a:buSzPts val="1400"/>
              <a:buNone/>
              <a:defRPr b="0" i="0" sz="1800" u="none" cap="none" strike="noStrike">
                <a:latin typeface="Calibri"/>
                <a:ea typeface="Calibri"/>
                <a:cs typeface="Calibri"/>
                <a:sym typeface="Calibri"/>
              </a:defRPr>
            </a:lvl4pPr>
            <a:lvl5pPr indent="-228600" lvl="4" marL="2286000" marR="0" rtl="0" algn="l">
              <a:spcBef>
                <a:spcPts val="0"/>
              </a:spcBef>
              <a:spcAft>
                <a:spcPts val="0"/>
              </a:spcAft>
              <a:buSzPts val="1400"/>
              <a:buNone/>
              <a:defRPr b="0" i="0" sz="1800" u="none" cap="none" strike="noStrike">
                <a:latin typeface="Calibri"/>
                <a:ea typeface="Calibri"/>
                <a:cs typeface="Calibri"/>
                <a:sym typeface="Calibri"/>
              </a:defRPr>
            </a:lvl5pPr>
            <a:lvl6pPr indent="-228600" lvl="5" marL="2743200" marR="0" rtl="0" algn="l">
              <a:spcBef>
                <a:spcPts val="0"/>
              </a:spcBef>
              <a:spcAft>
                <a:spcPts val="0"/>
              </a:spcAft>
              <a:buSzPts val="1400"/>
              <a:buNone/>
              <a:defRPr b="0" i="0" sz="1800" u="none" cap="none" strike="noStrike">
                <a:latin typeface="Calibri"/>
                <a:ea typeface="Calibri"/>
                <a:cs typeface="Calibri"/>
                <a:sym typeface="Calibri"/>
              </a:defRPr>
            </a:lvl6pPr>
            <a:lvl7pPr indent="-228600" lvl="6" marL="3200400" marR="0" rtl="0" algn="l">
              <a:spcBef>
                <a:spcPts val="0"/>
              </a:spcBef>
              <a:spcAft>
                <a:spcPts val="0"/>
              </a:spcAft>
              <a:buSzPts val="1400"/>
              <a:buNone/>
              <a:defRPr b="0" i="0" sz="1800" u="none" cap="none" strike="noStrike">
                <a:latin typeface="Calibri"/>
                <a:ea typeface="Calibri"/>
                <a:cs typeface="Calibri"/>
                <a:sym typeface="Calibri"/>
              </a:defRPr>
            </a:lvl7pPr>
            <a:lvl8pPr indent="-228600" lvl="7" marL="3657600" marR="0" rtl="0" algn="l">
              <a:spcBef>
                <a:spcPts val="0"/>
              </a:spcBef>
              <a:spcAft>
                <a:spcPts val="0"/>
              </a:spcAft>
              <a:buSzPts val="1400"/>
              <a:buNone/>
              <a:defRPr b="0" i="0" sz="1800" u="none" cap="none" strike="noStrike">
                <a:latin typeface="Calibri"/>
                <a:ea typeface="Calibri"/>
                <a:cs typeface="Calibri"/>
                <a:sym typeface="Calibri"/>
              </a:defRPr>
            </a:lvl8pPr>
            <a:lvl9pPr indent="-228600" lvl="8" marL="4114800" marR="0" rtl="0" algn="l">
              <a:spcBef>
                <a:spcPts val="0"/>
              </a:spcBef>
              <a:spcAft>
                <a:spcPts val="0"/>
              </a:spcAft>
              <a:buSzPts val="1400"/>
              <a:buNone/>
              <a:defRPr b="0" i="0" sz="1800" u="none" cap="none" strike="noStrike">
                <a:latin typeface="Calibri"/>
                <a:ea typeface="Calibri"/>
                <a:cs typeface="Calibri"/>
                <a:sym typeface="Calibri"/>
              </a:defRPr>
            </a:lvl9pPr>
          </a:lstStyle>
          <a:p/>
        </p:txBody>
      </p:sp>
      <p:sp>
        <p:nvSpPr>
          <p:cNvPr id="9" name="Google Shape;9;p16"/>
          <p:cNvSpPr txBox="1"/>
          <p:nvPr>
            <p:ph idx="11" type="ftr"/>
          </p:nvPr>
        </p:nvSpPr>
        <p:spPr>
          <a:xfrm>
            <a:off x="6217920" y="9566910"/>
            <a:ext cx="5852160" cy="51435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sz="1800">
                <a:solidFill>
                  <a:srgbClr val="888888"/>
                </a:solidFil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0" name="Google Shape;10;p16"/>
          <p:cNvSpPr txBox="1"/>
          <p:nvPr>
            <p:ph idx="10" type="dt"/>
          </p:nvPr>
        </p:nvSpPr>
        <p:spPr>
          <a:xfrm>
            <a:off x="914400" y="9566910"/>
            <a:ext cx="4206240" cy="51435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sz="1800">
                <a:solidFill>
                  <a:srgbClr val="888888"/>
                </a:solidFil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6"/>
          <p:cNvSpPr txBox="1"/>
          <p:nvPr>
            <p:ph idx="12" type="sldNum"/>
          </p:nvPr>
        </p:nvSpPr>
        <p:spPr>
          <a:xfrm>
            <a:off x="13167361" y="9566910"/>
            <a:ext cx="4206240" cy="514350"/>
          </a:xfrm>
          <a:prstGeom prst="rect">
            <a:avLst/>
          </a:prstGeom>
          <a:noFill/>
          <a:ln>
            <a:noFill/>
          </a:ln>
        </p:spPr>
        <p:txBody>
          <a:bodyPr anchorCtr="0" anchor="t" bIns="0" lIns="0" spcFirstLastPara="1" rIns="0" wrap="square" tIns="0">
            <a:spAutoFit/>
          </a:bodyPr>
          <a:lstStyle>
            <a:lvl1pPr indent="0" lvl="0" algn="r">
              <a:spcBef>
                <a:spcPts val="0"/>
              </a:spcBef>
              <a:buNone/>
              <a:defRPr sz="1800">
                <a:solidFill>
                  <a:srgbClr val="888888"/>
                </a:solidFill>
              </a:defRPr>
            </a:lvl1pPr>
            <a:lvl2pPr indent="0" lvl="1" algn="r">
              <a:spcBef>
                <a:spcPts val="0"/>
              </a:spcBef>
              <a:buNone/>
              <a:defRPr sz="1800">
                <a:solidFill>
                  <a:srgbClr val="888888"/>
                </a:solidFill>
              </a:defRPr>
            </a:lvl2pPr>
            <a:lvl3pPr indent="0" lvl="2" algn="r">
              <a:spcBef>
                <a:spcPts val="0"/>
              </a:spcBef>
              <a:buNone/>
              <a:defRPr sz="1800">
                <a:solidFill>
                  <a:srgbClr val="888888"/>
                </a:solidFill>
              </a:defRPr>
            </a:lvl3pPr>
            <a:lvl4pPr indent="0" lvl="3" algn="r">
              <a:spcBef>
                <a:spcPts val="0"/>
              </a:spcBef>
              <a:buNone/>
              <a:defRPr sz="1800">
                <a:solidFill>
                  <a:srgbClr val="888888"/>
                </a:solidFill>
              </a:defRPr>
            </a:lvl4pPr>
            <a:lvl5pPr indent="0" lvl="4" algn="r">
              <a:spcBef>
                <a:spcPts val="0"/>
              </a:spcBef>
              <a:buNone/>
              <a:defRPr sz="1800">
                <a:solidFill>
                  <a:srgbClr val="888888"/>
                </a:solidFill>
              </a:defRPr>
            </a:lvl5pPr>
            <a:lvl6pPr indent="0" lvl="5" algn="r">
              <a:spcBef>
                <a:spcPts val="0"/>
              </a:spcBef>
              <a:buNone/>
              <a:defRPr sz="1800">
                <a:solidFill>
                  <a:srgbClr val="888888"/>
                </a:solidFill>
              </a:defRPr>
            </a:lvl6pPr>
            <a:lvl7pPr indent="0" lvl="6" algn="r">
              <a:spcBef>
                <a:spcPts val="0"/>
              </a:spcBef>
              <a:buNone/>
              <a:defRPr sz="1800">
                <a:solidFill>
                  <a:srgbClr val="888888"/>
                </a:solidFill>
              </a:defRPr>
            </a:lvl7pPr>
            <a:lvl8pPr indent="0" lvl="7" algn="r">
              <a:spcBef>
                <a:spcPts val="0"/>
              </a:spcBef>
              <a:buNone/>
              <a:defRPr sz="1800">
                <a:solidFill>
                  <a:srgbClr val="888888"/>
                </a:solidFill>
              </a:defRPr>
            </a:lvl8pPr>
            <a:lvl9pPr indent="0" lvl="8" algn="r">
              <a:spcBef>
                <a:spcPts val="0"/>
              </a:spcBef>
              <a:buNone/>
              <a:defRPr sz="1800">
                <a:solidFill>
                  <a:srgbClr val="888888"/>
                </a:solidFill>
              </a:defRPr>
            </a:lvl9pPr>
          </a:lstStyle>
          <a:p>
            <a:pPr indent="0" lvl="0" marL="0" rtl="0" algn="r">
              <a:spcBef>
                <a:spcPts val="0"/>
              </a:spcBef>
              <a:spcAft>
                <a:spcPts val="0"/>
              </a:spcAft>
              <a:buNone/>
            </a:pPr>
            <a:fld id="{00000000-1234-1234-1234-123412341234}" type="slidenum">
              <a:rPr lang="en-US"/>
              <a:t>‹#›</a:t>
            </a:fld>
            <a:endParaRPr sz="1400">
              <a:solidFill>
                <a:srgbClr val="000000"/>
              </a:solidFill>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2.png"/><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3.jpg"/><Relationship Id="rId4" Type="http://schemas.openxmlformats.org/officeDocument/2006/relationships/image" Target="../media/image12.png"/><Relationship Id="rId5"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2.jpg"/><Relationship Id="rId4" Type="http://schemas.openxmlformats.org/officeDocument/2006/relationships/image" Target="../media/image5.jpg"/><Relationship Id="rId5"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9.jpg"/><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4.jpg"/><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6.jpg"/><Relationship Id="rId4" Type="http://schemas.openxmlformats.org/officeDocument/2006/relationships/image" Target="../media/image10.jpg"/><Relationship Id="rId5" Type="http://schemas.openxmlformats.org/officeDocument/2006/relationships/image" Target="../media/image11.jpg"/><Relationship Id="rId6"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8.jpg"/><Relationship Id="rId4" Type="http://schemas.openxmlformats.org/officeDocument/2006/relationships/image" Target="../media/image6.jpg"/><Relationship Id="rId5"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7.jpg"/><Relationship Id="rId4" Type="http://schemas.openxmlformats.org/officeDocument/2006/relationships/image" Target="../media/image12.png"/><Relationship Id="rId5"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3.jpg"/><Relationship Id="rId4" Type="http://schemas.openxmlformats.org/officeDocument/2006/relationships/image" Target="../media/image15.jpg"/><Relationship Id="rId5"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43" name="Shape 43"/>
        <p:cNvGrpSpPr/>
        <p:nvPr/>
      </p:nvGrpSpPr>
      <p:grpSpPr>
        <a:xfrm>
          <a:off x="0" y="0"/>
          <a:ext cx="0" cy="0"/>
          <a:chOff x="0" y="0"/>
          <a:chExt cx="0" cy="0"/>
        </a:xfrm>
      </p:grpSpPr>
      <p:grpSp>
        <p:nvGrpSpPr>
          <p:cNvPr id="44" name="Google Shape;44;p1"/>
          <p:cNvGrpSpPr/>
          <p:nvPr/>
        </p:nvGrpSpPr>
        <p:grpSpPr>
          <a:xfrm>
            <a:off x="0" y="0"/>
            <a:ext cx="18288000" cy="10287000"/>
            <a:chOff x="0" y="0"/>
            <a:chExt cx="18288000" cy="10287000"/>
          </a:xfrm>
        </p:grpSpPr>
        <p:sp>
          <p:nvSpPr>
            <p:cNvPr id="45" name="Google Shape;45;p1"/>
            <p:cNvSpPr/>
            <p:nvPr/>
          </p:nvSpPr>
          <p:spPr>
            <a:xfrm>
              <a:off x="209550" y="0"/>
              <a:ext cx="18078450" cy="10287000"/>
            </a:xfrm>
            <a:custGeom>
              <a:rect b="b" l="l" r="r" t="t"/>
              <a:pathLst>
                <a:path extrusionOk="0" h="10287000" w="18078450">
                  <a:moveTo>
                    <a:pt x="0" y="10286999"/>
                  </a:moveTo>
                  <a:lnTo>
                    <a:pt x="18078448" y="10286999"/>
                  </a:lnTo>
                  <a:lnTo>
                    <a:pt x="18078448" y="0"/>
                  </a:lnTo>
                  <a:lnTo>
                    <a:pt x="0" y="0"/>
                  </a:lnTo>
                  <a:lnTo>
                    <a:pt x="0" y="10286999"/>
                  </a:lnTo>
                  <a:close/>
                </a:path>
              </a:pathLst>
            </a:custGeom>
            <a:solidFill>
              <a:srgbClr val="F6F5F1"/>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46" name="Google Shape;46;p1"/>
            <p:cNvSpPr/>
            <p:nvPr/>
          </p:nvSpPr>
          <p:spPr>
            <a:xfrm>
              <a:off x="0" y="0"/>
              <a:ext cx="209550" cy="10287000"/>
            </a:xfrm>
            <a:custGeom>
              <a:rect b="b" l="l" r="r" t="t"/>
              <a:pathLst>
                <a:path extrusionOk="0" h="10287000" w="209550">
                  <a:moveTo>
                    <a:pt x="209550" y="10286776"/>
                  </a:moveTo>
                  <a:lnTo>
                    <a:pt x="0" y="10286776"/>
                  </a:lnTo>
                  <a:lnTo>
                    <a:pt x="0" y="0"/>
                  </a:lnTo>
                  <a:lnTo>
                    <a:pt x="209550" y="0"/>
                  </a:lnTo>
                  <a:lnTo>
                    <a:pt x="209550" y="10286776"/>
                  </a:lnTo>
                  <a:close/>
                </a:path>
              </a:pathLst>
            </a:custGeom>
            <a:solidFill>
              <a:srgbClr val="3F8069"/>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sp>
        <p:nvSpPr>
          <p:cNvPr id="47" name="Google Shape;47;p1"/>
          <p:cNvSpPr txBox="1"/>
          <p:nvPr/>
        </p:nvSpPr>
        <p:spPr>
          <a:xfrm>
            <a:off x="1206499" y="1231265"/>
            <a:ext cx="2805430" cy="29972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1800">
                <a:solidFill>
                  <a:srgbClr val="3F8069"/>
                </a:solidFill>
                <a:latin typeface="Courier New"/>
                <a:ea typeface="Courier New"/>
                <a:cs typeface="Courier New"/>
                <a:sym typeface="Courier New"/>
              </a:rPr>
              <a:t>SPRING BOOT  ×  AI</a:t>
            </a:r>
            <a:endParaRPr sz="1800">
              <a:latin typeface="Courier New"/>
              <a:ea typeface="Courier New"/>
              <a:cs typeface="Courier New"/>
              <a:sym typeface="Courier New"/>
            </a:endParaRPr>
          </a:p>
        </p:txBody>
      </p:sp>
      <p:sp>
        <p:nvSpPr>
          <p:cNvPr descr="$PPTXTitle" id="48" name="Google Shape;48;p1"/>
          <p:cNvSpPr txBox="1"/>
          <p:nvPr/>
        </p:nvSpPr>
        <p:spPr>
          <a:xfrm>
            <a:off x="1206500" y="2677550"/>
            <a:ext cx="16286700" cy="2332500"/>
          </a:xfrm>
          <a:prstGeom prst="rect">
            <a:avLst/>
          </a:prstGeom>
          <a:noFill/>
          <a:ln>
            <a:noFill/>
          </a:ln>
        </p:spPr>
        <p:txBody>
          <a:bodyPr anchorCtr="0" anchor="t" bIns="0" lIns="0" spcFirstLastPara="1" rIns="0" wrap="square" tIns="149850">
            <a:spAutoFit/>
          </a:bodyPr>
          <a:lstStyle/>
          <a:p>
            <a:pPr indent="0" lvl="0" marL="12700" marR="5080" rtl="0" algn="l">
              <a:lnSpc>
                <a:spcPct val="105362"/>
              </a:lnSpc>
              <a:spcBef>
                <a:spcPts val="0"/>
              </a:spcBef>
              <a:spcAft>
                <a:spcPts val="0"/>
              </a:spcAft>
              <a:buNone/>
            </a:pPr>
            <a:r>
              <a:rPr b="1" lang="en-US" sz="6900">
                <a:solidFill>
                  <a:srgbClr val="17324D"/>
                </a:solidFill>
                <a:latin typeface="Tahoma"/>
                <a:ea typeface="Tahoma"/>
                <a:cs typeface="Tahoma"/>
                <a:sym typeface="Tahoma"/>
              </a:rPr>
              <a:t>Developing Smart Web Apps with Spring Boot &amp; AI</a:t>
            </a:r>
            <a:endParaRPr sz="6900">
              <a:latin typeface="Tahoma"/>
              <a:ea typeface="Tahoma"/>
              <a:cs typeface="Tahoma"/>
              <a:sym typeface="Tahoma"/>
            </a:endParaRPr>
          </a:p>
        </p:txBody>
      </p:sp>
      <p:sp>
        <p:nvSpPr>
          <p:cNvPr id="49" name="Google Shape;49;p1"/>
          <p:cNvSpPr/>
          <p:nvPr/>
        </p:nvSpPr>
        <p:spPr>
          <a:xfrm>
            <a:off x="1219199" y="7505700"/>
            <a:ext cx="2095500" cy="28575"/>
          </a:xfrm>
          <a:custGeom>
            <a:rect b="b" l="l" r="r" t="t"/>
            <a:pathLst>
              <a:path extrusionOk="0" h="28575" w="2095500">
                <a:moveTo>
                  <a:pt x="2095462" y="28575"/>
                </a:moveTo>
                <a:lnTo>
                  <a:pt x="0" y="28575"/>
                </a:lnTo>
                <a:lnTo>
                  <a:pt x="0" y="0"/>
                </a:lnTo>
                <a:lnTo>
                  <a:pt x="2095462" y="0"/>
                </a:lnTo>
                <a:lnTo>
                  <a:pt x="2095462" y="28575"/>
                </a:lnTo>
                <a:close/>
              </a:path>
            </a:pathLst>
          </a:custGeom>
          <a:solidFill>
            <a:srgbClr val="3F8069"/>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50" name="Google Shape;50;p1"/>
          <p:cNvSpPr txBox="1"/>
          <p:nvPr>
            <p:ph idx="1" type="subTitle"/>
          </p:nvPr>
        </p:nvSpPr>
        <p:spPr>
          <a:xfrm>
            <a:off x="1206499" y="5753735"/>
            <a:ext cx="7849234" cy="1073150"/>
          </a:xfrm>
          <a:prstGeom prst="rect">
            <a:avLst/>
          </a:prstGeom>
          <a:noFill/>
          <a:ln>
            <a:noFill/>
          </a:ln>
        </p:spPr>
        <p:txBody>
          <a:bodyPr anchorCtr="0" anchor="t" bIns="0" lIns="0" spcFirstLastPara="1" rIns="0" wrap="square" tIns="12700">
            <a:spAutoFit/>
          </a:bodyPr>
          <a:lstStyle/>
          <a:p>
            <a:pPr indent="0" lvl="0" marL="12700" marR="5080" rtl="0" algn="l">
              <a:lnSpc>
                <a:spcPct val="114599"/>
              </a:lnSpc>
              <a:spcBef>
                <a:spcPts val="0"/>
              </a:spcBef>
              <a:spcAft>
                <a:spcPts val="0"/>
              </a:spcAft>
              <a:buNone/>
            </a:pPr>
            <a:r>
              <a:rPr lang="en-US" sz="3000">
                <a:solidFill>
                  <a:srgbClr val="202F40"/>
                </a:solidFill>
              </a:rPr>
              <a:t>Session 2: Clean/Hexagonal Architecture - Spring AI</a:t>
            </a:r>
            <a:endParaRPr sz="3000"/>
          </a:p>
        </p:txBody>
      </p:sp>
      <p:pic>
        <p:nvPicPr>
          <p:cNvPr id="51" name="Google Shape;51;p1" title="Logo_Color.png"/>
          <p:cNvPicPr preferRelativeResize="0"/>
          <p:nvPr/>
        </p:nvPicPr>
        <p:blipFill>
          <a:blip r:embed="rId3">
            <a:alphaModFix/>
          </a:blip>
          <a:stretch>
            <a:fillRect/>
          </a:stretch>
        </p:blipFill>
        <p:spPr>
          <a:xfrm>
            <a:off x="16144875" y="0"/>
            <a:ext cx="1928827" cy="1928827"/>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55" name="Shape 55"/>
        <p:cNvGrpSpPr/>
        <p:nvPr/>
      </p:nvGrpSpPr>
      <p:grpSpPr>
        <a:xfrm>
          <a:off x="0" y="0"/>
          <a:ext cx="0" cy="0"/>
          <a:chOff x="0" y="0"/>
          <a:chExt cx="0" cy="0"/>
        </a:xfrm>
      </p:grpSpPr>
      <p:sp>
        <p:nvSpPr>
          <p:cNvPr id="56" name="Google Shape;56;p2"/>
          <p:cNvSpPr/>
          <p:nvPr/>
        </p:nvSpPr>
        <p:spPr>
          <a:xfrm>
            <a:off x="0" y="0"/>
            <a:ext cx="18288000" cy="10287000"/>
          </a:xfrm>
          <a:custGeom>
            <a:rect b="b" l="l" r="r" t="t"/>
            <a:pathLst>
              <a:path extrusionOk="0" h="10287000" w="18288000">
                <a:moveTo>
                  <a:pt x="18287998" y="10286999"/>
                </a:moveTo>
                <a:lnTo>
                  <a:pt x="0" y="10286999"/>
                </a:lnTo>
                <a:lnTo>
                  <a:pt x="0" y="0"/>
                </a:lnTo>
                <a:lnTo>
                  <a:pt x="18287998" y="0"/>
                </a:lnTo>
                <a:lnTo>
                  <a:pt x="18287998" y="10286999"/>
                </a:lnTo>
                <a:close/>
              </a:path>
            </a:pathLst>
          </a:custGeom>
          <a:solidFill>
            <a:srgbClr val="17324D"/>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57" name="Google Shape;57;p2"/>
          <p:cNvSpPr/>
          <p:nvPr/>
        </p:nvSpPr>
        <p:spPr>
          <a:xfrm>
            <a:off x="1219199" y="3143250"/>
            <a:ext cx="876300" cy="76200"/>
          </a:xfrm>
          <a:custGeom>
            <a:rect b="b" l="l" r="r" t="t"/>
            <a:pathLst>
              <a:path extrusionOk="0" h="76200" w="876300">
                <a:moveTo>
                  <a:pt x="876299" y="76199"/>
                </a:moveTo>
                <a:lnTo>
                  <a:pt x="0" y="76199"/>
                </a:lnTo>
                <a:lnTo>
                  <a:pt x="0" y="0"/>
                </a:lnTo>
                <a:lnTo>
                  <a:pt x="876299" y="0"/>
                </a:lnTo>
                <a:lnTo>
                  <a:pt x="876299" y="76199"/>
                </a:lnTo>
                <a:close/>
              </a:path>
            </a:pathLst>
          </a:custGeom>
          <a:solidFill>
            <a:srgbClr val="3F8069"/>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58" name="Google Shape;58;p2"/>
          <p:cNvSpPr txBox="1"/>
          <p:nvPr/>
        </p:nvSpPr>
        <p:spPr>
          <a:xfrm>
            <a:off x="1206499" y="1014094"/>
            <a:ext cx="297815" cy="27686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1650">
                <a:solidFill>
                  <a:srgbClr val="86C7AC"/>
                </a:solidFill>
                <a:latin typeface="Courier New"/>
                <a:ea typeface="Courier New"/>
                <a:cs typeface="Courier New"/>
                <a:sym typeface="Courier New"/>
              </a:rPr>
              <a:t>01</a:t>
            </a:r>
            <a:endParaRPr sz="1650">
              <a:latin typeface="Courier New"/>
              <a:ea typeface="Courier New"/>
              <a:cs typeface="Courier New"/>
              <a:sym typeface="Courier New"/>
            </a:endParaRPr>
          </a:p>
        </p:txBody>
      </p:sp>
      <p:sp>
        <p:nvSpPr>
          <p:cNvPr descr="$PPTXTitle" id="59" name="Google Shape;59;p2"/>
          <p:cNvSpPr txBox="1"/>
          <p:nvPr>
            <p:ph type="title"/>
          </p:nvPr>
        </p:nvSpPr>
        <p:spPr>
          <a:xfrm>
            <a:off x="1054200" y="4011450"/>
            <a:ext cx="16179600" cy="1121100"/>
          </a:xfrm>
          <a:prstGeom prst="rect">
            <a:avLst/>
          </a:prstGeom>
          <a:noFill/>
          <a:ln>
            <a:noFill/>
          </a:ln>
        </p:spPr>
        <p:txBody>
          <a:bodyPr anchorCtr="0" anchor="t" bIns="0" lIns="0" spcFirstLastPara="1" rIns="0" wrap="square" tIns="12700">
            <a:spAutoFit/>
          </a:bodyPr>
          <a:lstStyle/>
          <a:p>
            <a:pPr indent="0" lvl="0" marL="12700" rtl="0" algn="ctr">
              <a:lnSpc>
                <a:spcPct val="100000"/>
              </a:lnSpc>
              <a:spcBef>
                <a:spcPts val="0"/>
              </a:spcBef>
              <a:spcAft>
                <a:spcPts val="0"/>
              </a:spcAft>
              <a:buNone/>
            </a:pPr>
            <a:r>
              <a:rPr lang="en-US" sz="7200">
                <a:solidFill>
                  <a:srgbClr val="FFFFFF"/>
                </a:solidFill>
              </a:rPr>
              <a:t>Clean/Hexagonal Architecture</a:t>
            </a:r>
            <a:endParaRPr sz="7200"/>
          </a:p>
        </p:txBody>
      </p:sp>
      <p:pic>
        <p:nvPicPr>
          <p:cNvPr id="60" name="Google Shape;60;p2" title="Logo_white.png"/>
          <p:cNvPicPr preferRelativeResize="0"/>
          <p:nvPr/>
        </p:nvPicPr>
        <p:blipFill>
          <a:blip r:embed="rId3">
            <a:alphaModFix/>
          </a:blip>
          <a:stretch>
            <a:fillRect/>
          </a:stretch>
        </p:blipFill>
        <p:spPr>
          <a:xfrm>
            <a:off x="15939500" y="167000"/>
            <a:ext cx="2051400" cy="168145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3"/>
          <p:cNvSpPr txBox="1"/>
          <p:nvPr/>
        </p:nvSpPr>
        <p:spPr>
          <a:xfrm>
            <a:off x="1206499" y="633094"/>
            <a:ext cx="579120" cy="27686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1650">
                <a:solidFill>
                  <a:srgbClr val="3F8069"/>
                </a:solidFill>
                <a:latin typeface="Courier New"/>
                <a:ea typeface="Courier New"/>
                <a:cs typeface="Courier New"/>
                <a:sym typeface="Courier New"/>
              </a:rPr>
              <a:t>01.1</a:t>
            </a:r>
            <a:endParaRPr sz="1650">
              <a:latin typeface="Courier New"/>
              <a:ea typeface="Courier New"/>
              <a:cs typeface="Courier New"/>
              <a:sym typeface="Courier New"/>
            </a:endParaRPr>
          </a:p>
        </p:txBody>
      </p:sp>
      <p:sp>
        <p:nvSpPr>
          <p:cNvPr descr="$PPTXTitle" id="66" name="Google Shape;66;p3"/>
          <p:cNvSpPr txBox="1"/>
          <p:nvPr>
            <p:ph type="title"/>
          </p:nvPr>
        </p:nvSpPr>
        <p:spPr>
          <a:xfrm>
            <a:off x="1206499" y="1224597"/>
            <a:ext cx="9653270" cy="688339"/>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Software Architect Pattern</a:t>
            </a:r>
            <a:endParaRPr/>
          </a:p>
        </p:txBody>
      </p:sp>
      <p:sp>
        <p:nvSpPr>
          <p:cNvPr id="67" name="Google Shape;67;p3"/>
          <p:cNvSpPr/>
          <p:nvPr/>
        </p:nvSpPr>
        <p:spPr>
          <a:xfrm>
            <a:off x="1219199" y="2152650"/>
            <a:ext cx="15849600" cy="19050"/>
          </a:xfrm>
          <a:custGeom>
            <a:rect b="b" l="l" r="r" t="t"/>
            <a:pathLst>
              <a:path extrusionOk="0" h="19050" w="15849600">
                <a:moveTo>
                  <a:pt x="15849600" y="19050"/>
                </a:moveTo>
                <a:lnTo>
                  <a:pt x="0" y="19050"/>
                </a:lnTo>
                <a:lnTo>
                  <a:pt x="0" y="0"/>
                </a:lnTo>
                <a:lnTo>
                  <a:pt x="15849600" y="0"/>
                </a:lnTo>
                <a:lnTo>
                  <a:pt x="15849600" y="19050"/>
                </a:lnTo>
                <a:close/>
              </a:path>
            </a:pathLst>
          </a:custGeom>
          <a:solidFill>
            <a:srgbClr val="D8DEDA"/>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pic>
        <p:nvPicPr>
          <p:cNvPr id="68" name="Google Shape;68;p3"/>
          <p:cNvPicPr preferRelativeResize="0"/>
          <p:nvPr/>
        </p:nvPicPr>
        <p:blipFill rotWithShape="1">
          <a:blip r:embed="rId3">
            <a:alphaModFix/>
          </a:blip>
          <a:srcRect b="0" l="0" r="0" t="0"/>
          <a:stretch/>
        </p:blipFill>
        <p:spPr>
          <a:xfrm>
            <a:off x="1390649" y="4731785"/>
            <a:ext cx="104775" cy="104774"/>
          </a:xfrm>
          <a:prstGeom prst="rect">
            <a:avLst/>
          </a:prstGeom>
          <a:noFill/>
          <a:ln>
            <a:noFill/>
          </a:ln>
        </p:spPr>
      </p:pic>
      <p:pic>
        <p:nvPicPr>
          <p:cNvPr id="69" name="Google Shape;69;p3"/>
          <p:cNvPicPr preferRelativeResize="0"/>
          <p:nvPr/>
        </p:nvPicPr>
        <p:blipFill rotWithShape="1">
          <a:blip r:embed="rId3">
            <a:alphaModFix/>
          </a:blip>
          <a:srcRect b="0" l="0" r="0" t="0"/>
          <a:stretch/>
        </p:blipFill>
        <p:spPr>
          <a:xfrm>
            <a:off x="1390649" y="5093735"/>
            <a:ext cx="104775" cy="104774"/>
          </a:xfrm>
          <a:prstGeom prst="rect">
            <a:avLst/>
          </a:prstGeom>
          <a:noFill/>
          <a:ln>
            <a:noFill/>
          </a:ln>
        </p:spPr>
      </p:pic>
      <p:pic>
        <p:nvPicPr>
          <p:cNvPr id="70" name="Google Shape;70;p3"/>
          <p:cNvPicPr preferRelativeResize="0"/>
          <p:nvPr/>
        </p:nvPicPr>
        <p:blipFill rotWithShape="1">
          <a:blip r:embed="rId3">
            <a:alphaModFix/>
          </a:blip>
          <a:srcRect b="0" l="0" r="0" t="0"/>
          <a:stretch/>
        </p:blipFill>
        <p:spPr>
          <a:xfrm>
            <a:off x="1390649" y="5455685"/>
            <a:ext cx="104775" cy="104774"/>
          </a:xfrm>
          <a:prstGeom prst="rect">
            <a:avLst/>
          </a:prstGeom>
          <a:noFill/>
          <a:ln>
            <a:noFill/>
          </a:ln>
        </p:spPr>
      </p:pic>
      <p:pic>
        <p:nvPicPr>
          <p:cNvPr id="71" name="Google Shape;71;p3"/>
          <p:cNvPicPr preferRelativeResize="0"/>
          <p:nvPr/>
        </p:nvPicPr>
        <p:blipFill rotWithShape="1">
          <a:blip r:embed="rId3">
            <a:alphaModFix/>
          </a:blip>
          <a:srcRect b="0" l="0" r="0" t="0"/>
          <a:stretch/>
        </p:blipFill>
        <p:spPr>
          <a:xfrm>
            <a:off x="1390649" y="5817635"/>
            <a:ext cx="104775" cy="104774"/>
          </a:xfrm>
          <a:prstGeom prst="rect">
            <a:avLst/>
          </a:prstGeom>
          <a:noFill/>
          <a:ln>
            <a:noFill/>
          </a:ln>
        </p:spPr>
      </p:pic>
      <p:sp>
        <p:nvSpPr>
          <p:cNvPr id="72" name="Google Shape;72;p3"/>
          <p:cNvSpPr txBox="1"/>
          <p:nvPr/>
        </p:nvSpPr>
        <p:spPr>
          <a:xfrm>
            <a:off x="1206500" y="2751850"/>
            <a:ext cx="16286700" cy="5846100"/>
          </a:xfrm>
          <a:prstGeom prst="rect">
            <a:avLst/>
          </a:prstGeom>
          <a:noFill/>
          <a:ln>
            <a:noFill/>
          </a:ln>
        </p:spPr>
        <p:txBody>
          <a:bodyPr anchorCtr="0" anchor="t" bIns="0" lIns="0" spcFirstLastPara="1" rIns="0" wrap="square" tIns="12050">
            <a:spAutoFit/>
          </a:bodyPr>
          <a:lstStyle/>
          <a:p>
            <a:pPr indent="0" lvl="0" marL="12700" marR="5080" rtl="0" algn="just">
              <a:lnSpc>
                <a:spcPct val="115900"/>
              </a:lnSpc>
              <a:spcBef>
                <a:spcPts val="0"/>
              </a:spcBef>
              <a:spcAft>
                <a:spcPts val="0"/>
              </a:spcAft>
              <a:buNone/>
            </a:pPr>
            <a:r>
              <a:rPr lang="en-US" sz="2400">
                <a:latin typeface="Verdana"/>
                <a:ea typeface="Verdana"/>
                <a:cs typeface="Verdana"/>
                <a:sym typeface="Verdana"/>
              </a:rPr>
              <a:t>Software architecture của hệ thống mô tả các component chính, mối quan hệ của chúng, và cách chúng tương tác với nhau. Nó được xem như một bản thiết kế chi tiết, cung cấp mô hình để quản lý hệ thống và thiế lập cũng như điều phối giao tiếp giữa các component.</a:t>
            </a:r>
            <a:endParaRPr sz="2400">
              <a:latin typeface="Verdana"/>
              <a:ea typeface="Verdana"/>
              <a:cs typeface="Verdana"/>
              <a:sym typeface="Verdana"/>
            </a:endParaRPr>
          </a:p>
          <a:p>
            <a:pPr indent="0" lvl="0" marL="0" rtl="0" algn="l">
              <a:lnSpc>
                <a:spcPct val="100000"/>
              </a:lnSpc>
              <a:spcBef>
                <a:spcPts val="360"/>
              </a:spcBef>
              <a:spcAft>
                <a:spcPts val="0"/>
              </a:spcAft>
              <a:buNone/>
            </a:pPr>
            <a:r>
              <a:t/>
            </a:r>
            <a:endParaRPr sz="2400">
              <a:latin typeface="Verdana"/>
              <a:ea typeface="Verdana"/>
              <a:cs typeface="Verdana"/>
              <a:sym typeface="Verdana"/>
            </a:endParaRPr>
          </a:p>
          <a:p>
            <a:pPr indent="-442595" lvl="0" marL="454659" marR="11972925" rtl="0" algn="l">
              <a:lnSpc>
                <a:spcPct val="115900"/>
              </a:lnSpc>
              <a:spcBef>
                <a:spcPts val="0"/>
              </a:spcBef>
              <a:spcAft>
                <a:spcPts val="0"/>
              </a:spcAft>
              <a:buNone/>
            </a:pPr>
            <a:r>
              <a:rPr lang="en-US" sz="2400">
                <a:latin typeface="Verdana"/>
                <a:ea typeface="Verdana"/>
                <a:cs typeface="Verdana"/>
                <a:sym typeface="Verdana"/>
              </a:rPr>
              <a:t>Một số software architect phổ biến: N-Tier (Layered Architecture) Microservice Architecture</a:t>
            </a:r>
            <a:endParaRPr sz="2400">
              <a:latin typeface="Verdana"/>
              <a:ea typeface="Verdana"/>
              <a:cs typeface="Verdana"/>
              <a:sym typeface="Verdana"/>
            </a:endParaRPr>
          </a:p>
          <a:p>
            <a:pPr indent="0" lvl="0" marL="454659" marR="10637520" rtl="0" algn="l">
              <a:lnSpc>
                <a:spcPct val="139024"/>
              </a:lnSpc>
              <a:spcBef>
                <a:spcPts val="160"/>
              </a:spcBef>
              <a:spcAft>
                <a:spcPts val="0"/>
              </a:spcAft>
              <a:buNone/>
            </a:pPr>
            <a:r>
              <a:rPr lang="en-US" sz="2400">
                <a:latin typeface="Verdana"/>
                <a:ea typeface="Verdana"/>
                <a:cs typeface="Verdana"/>
                <a:sym typeface="Verdana"/>
              </a:rPr>
              <a:t>Domain Driven Design (DDD Architecture) Hexagonal/Clean Architecture</a:t>
            </a:r>
            <a:endParaRPr sz="2400">
              <a:latin typeface="Verdana"/>
              <a:ea typeface="Verdana"/>
              <a:cs typeface="Verdana"/>
              <a:sym typeface="Verdana"/>
            </a:endParaRPr>
          </a:p>
          <a:p>
            <a:pPr indent="0" lvl="0" marL="0" rtl="0" algn="l">
              <a:lnSpc>
                <a:spcPct val="100000"/>
              </a:lnSpc>
              <a:spcBef>
                <a:spcPts val="944"/>
              </a:spcBef>
              <a:spcAft>
                <a:spcPts val="0"/>
              </a:spcAft>
              <a:buNone/>
            </a:pPr>
            <a:r>
              <a:t/>
            </a:r>
            <a:endParaRPr sz="2400">
              <a:latin typeface="Verdana"/>
              <a:ea typeface="Verdana"/>
              <a:cs typeface="Verdana"/>
              <a:sym typeface="Verdana"/>
            </a:endParaRPr>
          </a:p>
          <a:p>
            <a:pPr indent="0" lvl="0" marL="12700" rtl="0" algn="just">
              <a:lnSpc>
                <a:spcPct val="100000"/>
              </a:lnSpc>
              <a:spcBef>
                <a:spcPts val="0"/>
              </a:spcBef>
              <a:spcAft>
                <a:spcPts val="0"/>
              </a:spcAft>
              <a:buNone/>
            </a:pPr>
            <a:r>
              <a:rPr lang="en-US" sz="2400">
                <a:latin typeface="Verdana"/>
                <a:ea typeface="Verdana"/>
                <a:cs typeface="Verdana"/>
                <a:sym typeface="Verdana"/>
              </a:rPr>
              <a:t>Tham khảo: https://bytebytego.com/guides/top-5-software-architectural-patterns/</a:t>
            </a:r>
            <a:endParaRPr sz="2400">
              <a:latin typeface="Verdana"/>
              <a:ea typeface="Verdana"/>
              <a:cs typeface="Verdana"/>
              <a:sym typeface="Verdana"/>
            </a:endParaRPr>
          </a:p>
        </p:txBody>
      </p:sp>
      <p:sp>
        <p:nvSpPr>
          <p:cNvPr id="73" name="Google Shape;73;p3"/>
          <p:cNvSpPr txBox="1"/>
          <p:nvPr/>
        </p:nvSpPr>
        <p:spPr>
          <a:xfrm>
            <a:off x="1206499" y="9614693"/>
            <a:ext cx="3276600" cy="248285"/>
          </a:xfrm>
          <a:prstGeom prst="rect">
            <a:avLst/>
          </a:prstGeom>
          <a:noFill/>
          <a:ln>
            <a:noFill/>
          </a:ln>
        </p:spPr>
        <p:txBody>
          <a:bodyPr anchorCtr="0" anchor="t" bIns="0" lIns="0" spcFirstLastPara="1" rIns="0" wrap="square" tIns="16500">
            <a:spAutoFit/>
          </a:bodyPr>
          <a:lstStyle/>
          <a:p>
            <a:pPr indent="0" lvl="0" marL="12700" rtl="0" algn="l">
              <a:lnSpc>
                <a:spcPct val="100000"/>
              </a:lnSpc>
              <a:spcBef>
                <a:spcPts val="0"/>
              </a:spcBef>
              <a:spcAft>
                <a:spcPts val="0"/>
              </a:spcAft>
              <a:buNone/>
            </a:pPr>
            <a:r>
              <a:rPr b="1" lang="en-US" sz="1350">
                <a:solidFill>
                  <a:srgbClr val="3F8069"/>
                </a:solidFill>
                <a:latin typeface="Courier New"/>
                <a:ea typeface="Courier New"/>
                <a:cs typeface="Courier New"/>
                <a:sym typeface="Courier New"/>
              </a:rPr>
              <a:t>CLEAN/HEXAGONAL ARCHITECTURE</a:t>
            </a:r>
            <a:endParaRPr sz="1350">
              <a:latin typeface="Courier New"/>
              <a:ea typeface="Courier New"/>
              <a:cs typeface="Courier New"/>
              <a:sym typeface="Courier New"/>
            </a:endParaRPr>
          </a:p>
        </p:txBody>
      </p:sp>
      <p:pic>
        <p:nvPicPr>
          <p:cNvPr id="74" name="Google Shape;74;p3" title="Logo_Color.png"/>
          <p:cNvPicPr preferRelativeResize="0"/>
          <p:nvPr/>
        </p:nvPicPr>
        <p:blipFill>
          <a:blip r:embed="rId4">
            <a:alphaModFix/>
          </a:blip>
          <a:stretch>
            <a:fillRect/>
          </a:stretch>
        </p:blipFill>
        <p:spPr>
          <a:xfrm>
            <a:off x="16144875" y="0"/>
            <a:ext cx="1928827" cy="1928827"/>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4"/>
          <p:cNvSpPr txBox="1"/>
          <p:nvPr/>
        </p:nvSpPr>
        <p:spPr>
          <a:xfrm>
            <a:off x="1206499" y="633094"/>
            <a:ext cx="579120" cy="27686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1650">
                <a:solidFill>
                  <a:srgbClr val="3F8069"/>
                </a:solidFill>
                <a:latin typeface="Courier New"/>
                <a:ea typeface="Courier New"/>
                <a:cs typeface="Courier New"/>
                <a:sym typeface="Courier New"/>
              </a:rPr>
              <a:t>01.2</a:t>
            </a:r>
            <a:endParaRPr sz="1650">
              <a:latin typeface="Courier New"/>
              <a:ea typeface="Courier New"/>
              <a:cs typeface="Courier New"/>
              <a:sym typeface="Courier New"/>
            </a:endParaRPr>
          </a:p>
        </p:txBody>
      </p:sp>
      <p:sp>
        <p:nvSpPr>
          <p:cNvPr descr="$PPTXTitle" id="80" name="Google Shape;80;p4"/>
          <p:cNvSpPr txBox="1"/>
          <p:nvPr>
            <p:ph type="title"/>
          </p:nvPr>
        </p:nvSpPr>
        <p:spPr>
          <a:xfrm>
            <a:off x="1206501" y="1224600"/>
            <a:ext cx="9911100" cy="6825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Layered Architecture</a:t>
            </a:r>
            <a:endParaRPr/>
          </a:p>
        </p:txBody>
      </p:sp>
      <p:sp>
        <p:nvSpPr>
          <p:cNvPr id="81" name="Google Shape;81;p4"/>
          <p:cNvSpPr/>
          <p:nvPr/>
        </p:nvSpPr>
        <p:spPr>
          <a:xfrm>
            <a:off x="1219199" y="2152650"/>
            <a:ext cx="15849600" cy="19050"/>
          </a:xfrm>
          <a:custGeom>
            <a:rect b="b" l="l" r="r" t="t"/>
            <a:pathLst>
              <a:path extrusionOk="0" h="19050" w="15849600">
                <a:moveTo>
                  <a:pt x="15849600" y="19050"/>
                </a:moveTo>
                <a:lnTo>
                  <a:pt x="0" y="19050"/>
                </a:lnTo>
                <a:lnTo>
                  <a:pt x="0" y="0"/>
                </a:lnTo>
                <a:lnTo>
                  <a:pt x="15849600" y="0"/>
                </a:lnTo>
                <a:lnTo>
                  <a:pt x="15849600" y="19050"/>
                </a:lnTo>
                <a:close/>
              </a:path>
            </a:pathLst>
          </a:custGeom>
          <a:solidFill>
            <a:srgbClr val="D8DEDA"/>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pic>
        <p:nvPicPr>
          <p:cNvPr id="82" name="Google Shape;82;p4"/>
          <p:cNvPicPr preferRelativeResize="0"/>
          <p:nvPr/>
        </p:nvPicPr>
        <p:blipFill rotWithShape="1">
          <a:blip r:embed="rId3">
            <a:alphaModFix/>
          </a:blip>
          <a:srcRect b="0" l="0" r="0" t="0"/>
          <a:stretch/>
        </p:blipFill>
        <p:spPr>
          <a:xfrm>
            <a:off x="10058950" y="2853126"/>
            <a:ext cx="7362826" cy="6056475"/>
          </a:xfrm>
          <a:prstGeom prst="rect">
            <a:avLst/>
          </a:prstGeom>
          <a:noFill/>
          <a:ln>
            <a:noFill/>
          </a:ln>
        </p:spPr>
      </p:pic>
      <p:pic>
        <p:nvPicPr>
          <p:cNvPr id="83" name="Google Shape;83;p4"/>
          <p:cNvPicPr preferRelativeResize="0"/>
          <p:nvPr/>
        </p:nvPicPr>
        <p:blipFill rotWithShape="1">
          <a:blip r:embed="rId4">
            <a:alphaModFix/>
          </a:blip>
          <a:srcRect b="0" l="0" r="0" t="0"/>
          <a:stretch/>
        </p:blipFill>
        <p:spPr>
          <a:xfrm>
            <a:off x="1653600" y="4757821"/>
            <a:ext cx="104775" cy="104774"/>
          </a:xfrm>
          <a:prstGeom prst="rect">
            <a:avLst/>
          </a:prstGeom>
          <a:noFill/>
          <a:ln>
            <a:noFill/>
          </a:ln>
        </p:spPr>
      </p:pic>
      <p:pic>
        <p:nvPicPr>
          <p:cNvPr id="84" name="Google Shape;84;p4"/>
          <p:cNvPicPr preferRelativeResize="0"/>
          <p:nvPr/>
        </p:nvPicPr>
        <p:blipFill rotWithShape="1">
          <a:blip r:embed="rId4">
            <a:alphaModFix/>
          </a:blip>
          <a:srcRect b="0" l="0" r="0" t="0"/>
          <a:stretch/>
        </p:blipFill>
        <p:spPr>
          <a:xfrm>
            <a:off x="1653600" y="5119770"/>
            <a:ext cx="104775" cy="104774"/>
          </a:xfrm>
          <a:prstGeom prst="rect">
            <a:avLst/>
          </a:prstGeom>
          <a:noFill/>
          <a:ln>
            <a:noFill/>
          </a:ln>
        </p:spPr>
      </p:pic>
      <p:pic>
        <p:nvPicPr>
          <p:cNvPr id="85" name="Google Shape;85;p4"/>
          <p:cNvPicPr preferRelativeResize="0"/>
          <p:nvPr/>
        </p:nvPicPr>
        <p:blipFill rotWithShape="1">
          <a:blip r:embed="rId4">
            <a:alphaModFix/>
          </a:blip>
          <a:srcRect b="0" l="0" r="0" t="0"/>
          <a:stretch/>
        </p:blipFill>
        <p:spPr>
          <a:xfrm>
            <a:off x="1653600" y="5843670"/>
            <a:ext cx="104775" cy="104774"/>
          </a:xfrm>
          <a:prstGeom prst="rect">
            <a:avLst/>
          </a:prstGeom>
          <a:noFill/>
          <a:ln>
            <a:noFill/>
          </a:ln>
        </p:spPr>
      </p:pic>
      <p:sp>
        <p:nvSpPr>
          <p:cNvPr id="86" name="Google Shape;86;p4"/>
          <p:cNvSpPr txBox="1"/>
          <p:nvPr/>
        </p:nvSpPr>
        <p:spPr>
          <a:xfrm>
            <a:off x="1335500" y="2853113"/>
            <a:ext cx="8362200" cy="2741400"/>
          </a:xfrm>
          <a:prstGeom prst="rect">
            <a:avLst/>
          </a:prstGeom>
          <a:noFill/>
          <a:ln>
            <a:noFill/>
          </a:ln>
        </p:spPr>
        <p:txBody>
          <a:bodyPr anchorCtr="0" anchor="t" bIns="0" lIns="0" spcFirstLastPara="1" rIns="0" wrap="square" tIns="12050">
            <a:spAutoFit/>
          </a:bodyPr>
          <a:lstStyle/>
          <a:p>
            <a:pPr indent="0" lvl="0" marL="12700" marR="5080" rtl="0" algn="l">
              <a:lnSpc>
                <a:spcPct val="115900"/>
              </a:lnSpc>
              <a:spcBef>
                <a:spcPts val="0"/>
              </a:spcBef>
              <a:spcAft>
                <a:spcPts val="0"/>
              </a:spcAft>
              <a:buNone/>
            </a:pPr>
            <a:r>
              <a:rPr lang="en-US" sz="2350">
                <a:latin typeface="Verdana"/>
                <a:ea typeface="Verdana"/>
                <a:cs typeface="Verdana"/>
                <a:sym typeface="Verdana"/>
              </a:rPr>
              <a:t>Vấn  đề  thường  gặp  của  kiến  trúc  Layered  Truyền thống:</a:t>
            </a:r>
            <a:endParaRPr sz="2350">
              <a:latin typeface="Verdana"/>
              <a:ea typeface="Verdana"/>
              <a:cs typeface="Verdana"/>
              <a:sym typeface="Verdana"/>
            </a:endParaRPr>
          </a:p>
          <a:p>
            <a:pPr indent="-377825" lvl="0" marL="457200" marR="1736089" rtl="0" algn="l">
              <a:lnSpc>
                <a:spcPct val="139024"/>
              </a:lnSpc>
              <a:spcBef>
                <a:spcPts val="160"/>
              </a:spcBef>
              <a:spcAft>
                <a:spcPts val="0"/>
              </a:spcAft>
              <a:buSzPts val="2350"/>
              <a:buFont typeface="Verdana"/>
              <a:buChar char="●"/>
            </a:pPr>
            <a:r>
              <a:rPr lang="en-US" sz="2350">
                <a:latin typeface="Verdana"/>
                <a:ea typeface="Verdana"/>
                <a:cs typeface="Verdana"/>
                <a:sym typeface="Verdana"/>
              </a:rPr>
              <a:t>Business logic dễ bị rải khắp các layer</a:t>
            </a:r>
            <a:endParaRPr sz="2350">
              <a:latin typeface="Verdana"/>
              <a:ea typeface="Verdana"/>
              <a:cs typeface="Verdana"/>
              <a:sym typeface="Verdana"/>
            </a:endParaRPr>
          </a:p>
          <a:p>
            <a:pPr indent="-377825" lvl="0" marL="457200" marR="1736089" rtl="0" algn="l">
              <a:lnSpc>
                <a:spcPct val="139024"/>
              </a:lnSpc>
              <a:spcBef>
                <a:spcPts val="0"/>
              </a:spcBef>
              <a:spcAft>
                <a:spcPts val="0"/>
              </a:spcAft>
              <a:buSzPts val="2350"/>
              <a:buFont typeface="Verdana"/>
              <a:buChar char="●"/>
            </a:pPr>
            <a:r>
              <a:rPr lang="en-US" sz="2350">
                <a:latin typeface="Verdana"/>
                <a:ea typeface="Verdana"/>
                <a:cs typeface="Verdana"/>
                <a:sym typeface="Verdana"/>
              </a:rPr>
              <a:t>Domain/business logic dễ phụ thuộc infrastructure </a:t>
            </a:r>
            <a:endParaRPr sz="2350">
              <a:latin typeface="Verdana"/>
              <a:ea typeface="Verdana"/>
              <a:cs typeface="Verdana"/>
              <a:sym typeface="Verdana"/>
            </a:endParaRPr>
          </a:p>
          <a:p>
            <a:pPr indent="-377825" lvl="0" marL="457200" rtl="0" algn="l">
              <a:lnSpc>
                <a:spcPct val="100000"/>
              </a:lnSpc>
              <a:spcBef>
                <a:spcPts val="0"/>
              </a:spcBef>
              <a:spcAft>
                <a:spcPts val="0"/>
              </a:spcAft>
              <a:buSzPts val="2350"/>
              <a:buFont typeface="Verdana"/>
              <a:buChar char="●"/>
            </a:pPr>
            <a:r>
              <a:rPr lang="en-US" sz="2350">
                <a:latin typeface="Verdana"/>
                <a:ea typeface="Verdana"/>
                <a:cs typeface="Verdana"/>
                <a:sym typeface="Verdana"/>
              </a:rPr>
              <a:t>Layer tạo ra coupling theo chiều dọc</a:t>
            </a:r>
            <a:endParaRPr sz="2350">
              <a:latin typeface="Verdana"/>
              <a:ea typeface="Verdana"/>
              <a:cs typeface="Verdana"/>
              <a:sym typeface="Verdana"/>
            </a:endParaRPr>
          </a:p>
        </p:txBody>
      </p:sp>
      <p:sp>
        <p:nvSpPr>
          <p:cNvPr id="87" name="Google Shape;87;p4"/>
          <p:cNvSpPr txBox="1"/>
          <p:nvPr/>
        </p:nvSpPr>
        <p:spPr>
          <a:xfrm>
            <a:off x="1206499" y="9614693"/>
            <a:ext cx="3276600" cy="248285"/>
          </a:xfrm>
          <a:prstGeom prst="rect">
            <a:avLst/>
          </a:prstGeom>
          <a:noFill/>
          <a:ln>
            <a:noFill/>
          </a:ln>
        </p:spPr>
        <p:txBody>
          <a:bodyPr anchorCtr="0" anchor="t" bIns="0" lIns="0" spcFirstLastPara="1" rIns="0" wrap="square" tIns="16500">
            <a:spAutoFit/>
          </a:bodyPr>
          <a:lstStyle/>
          <a:p>
            <a:pPr indent="0" lvl="0" marL="12700" rtl="0" algn="l">
              <a:lnSpc>
                <a:spcPct val="100000"/>
              </a:lnSpc>
              <a:spcBef>
                <a:spcPts val="0"/>
              </a:spcBef>
              <a:spcAft>
                <a:spcPts val="0"/>
              </a:spcAft>
              <a:buNone/>
            </a:pPr>
            <a:r>
              <a:rPr b="1" lang="en-US" sz="1350">
                <a:solidFill>
                  <a:srgbClr val="3F8069"/>
                </a:solidFill>
                <a:latin typeface="Courier New"/>
                <a:ea typeface="Courier New"/>
                <a:cs typeface="Courier New"/>
                <a:sym typeface="Courier New"/>
              </a:rPr>
              <a:t>CLEAN/HEXAGONAL ARCHITECTURE</a:t>
            </a:r>
            <a:endParaRPr sz="1350">
              <a:latin typeface="Courier New"/>
              <a:ea typeface="Courier New"/>
              <a:cs typeface="Courier New"/>
              <a:sym typeface="Courier New"/>
            </a:endParaRPr>
          </a:p>
        </p:txBody>
      </p:sp>
      <p:sp>
        <p:nvSpPr>
          <p:cNvPr id="88" name="Google Shape;88;p4"/>
          <p:cNvSpPr txBox="1"/>
          <p:nvPr/>
        </p:nvSpPr>
        <p:spPr>
          <a:xfrm>
            <a:off x="1335500" y="5798284"/>
            <a:ext cx="8256000" cy="28704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1250">
                <a:latin typeface="Lucida Sans"/>
                <a:ea typeface="Lucida Sans"/>
                <a:cs typeface="Lucida Sans"/>
                <a:sym typeface="Lucida Sans"/>
              </a:rPr>
              <a:t>→ </a:t>
            </a:r>
            <a:r>
              <a:rPr lang="en-US" sz="2350">
                <a:latin typeface="Verdana"/>
                <a:ea typeface="Verdana"/>
                <a:cs typeface="Verdana"/>
                <a:sym typeface="Verdana"/>
              </a:rPr>
              <a:t>Khó bảo trì, phát triển và thay thế trong tương lai.</a:t>
            </a:r>
            <a:endParaRPr sz="2350">
              <a:latin typeface="Verdana"/>
              <a:ea typeface="Verdana"/>
              <a:cs typeface="Verdana"/>
              <a:sym typeface="Verdana"/>
            </a:endParaRPr>
          </a:p>
          <a:p>
            <a:pPr indent="0" lvl="0" marL="0" rtl="0" algn="l">
              <a:lnSpc>
                <a:spcPct val="100000"/>
              </a:lnSpc>
              <a:spcBef>
                <a:spcPts val="355"/>
              </a:spcBef>
              <a:spcAft>
                <a:spcPts val="0"/>
              </a:spcAft>
              <a:buNone/>
            </a:pPr>
            <a:r>
              <a:t/>
            </a:r>
            <a:endParaRPr sz="2350">
              <a:latin typeface="Verdana"/>
              <a:ea typeface="Verdana"/>
              <a:cs typeface="Verdana"/>
              <a:sym typeface="Verdana"/>
            </a:endParaRPr>
          </a:p>
          <a:p>
            <a:pPr indent="0" lvl="0" marL="12700" marR="13970" rtl="0" algn="l">
              <a:lnSpc>
                <a:spcPct val="115900"/>
              </a:lnSpc>
              <a:spcBef>
                <a:spcPts val="0"/>
              </a:spcBef>
              <a:spcAft>
                <a:spcPts val="0"/>
              </a:spcAft>
              <a:buNone/>
            </a:pPr>
            <a:r>
              <a:rPr lang="en-US" sz="1250">
                <a:latin typeface="Lucida Sans"/>
                <a:ea typeface="Lucida Sans"/>
                <a:cs typeface="Lucida Sans"/>
                <a:sym typeface="Lucida Sans"/>
              </a:rPr>
              <a:t>→ </a:t>
            </a:r>
            <a:r>
              <a:rPr lang="en-US" sz="2350">
                <a:latin typeface="Verdana"/>
                <a:ea typeface="Verdana"/>
                <a:cs typeface="Verdana"/>
                <a:sym typeface="Verdana"/>
              </a:rPr>
              <a:t>Để giải quyết các vấn đề đó, các kiến trúc hiện tại sẽ sử dụng business model làm trung tâm, cô lập nó với các yếu tố khác, giúp dễ dàng kiểm thử và thay thế hơn (Inversion of control)</a:t>
            </a:r>
            <a:endParaRPr sz="2350">
              <a:latin typeface="Verdana"/>
              <a:ea typeface="Verdana"/>
              <a:cs typeface="Verdana"/>
              <a:sym typeface="Verdana"/>
            </a:endParaRPr>
          </a:p>
          <a:p>
            <a:pPr indent="0" lvl="0" marL="12700" rtl="0" algn="l">
              <a:lnSpc>
                <a:spcPct val="100000"/>
              </a:lnSpc>
              <a:spcBef>
                <a:spcPts val="390"/>
              </a:spcBef>
              <a:spcAft>
                <a:spcPts val="0"/>
              </a:spcAft>
              <a:buNone/>
            </a:pPr>
            <a:r>
              <a:rPr b="1" lang="en-US" sz="1250">
                <a:latin typeface="Arial"/>
                <a:ea typeface="Arial"/>
                <a:cs typeface="Arial"/>
                <a:sym typeface="Arial"/>
              </a:rPr>
              <a:t>→ </a:t>
            </a:r>
            <a:r>
              <a:rPr b="1" lang="en-US" sz="2350">
                <a:latin typeface="Tahoma"/>
                <a:ea typeface="Tahoma"/>
                <a:cs typeface="Tahoma"/>
                <a:sym typeface="Tahoma"/>
              </a:rPr>
              <a:t>Clean Architecture vs Hexagonal Architecture</a:t>
            </a:r>
            <a:endParaRPr sz="2350">
              <a:latin typeface="Tahoma"/>
              <a:ea typeface="Tahoma"/>
              <a:cs typeface="Tahoma"/>
              <a:sym typeface="Tahoma"/>
            </a:endParaRPr>
          </a:p>
        </p:txBody>
      </p:sp>
      <p:pic>
        <p:nvPicPr>
          <p:cNvPr id="89" name="Google Shape;89;p4" title="Logo_Color.png"/>
          <p:cNvPicPr preferRelativeResize="0"/>
          <p:nvPr/>
        </p:nvPicPr>
        <p:blipFill>
          <a:blip r:embed="rId5">
            <a:alphaModFix/>
          </a:blip>
          <a:stretch>
            <a:fillRect/>
          </a:stretch>
        </p:blipFill>
        <p:spPr>
          <a:xfrm>
            <a:off x="16144875" y="0"/>
            <a:ext cx="1928827" cy="1928827"/>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5"/>
          <p:cNvSpPr txBox="1"/>
          <p:nvPr/>
        </p:nvSpPr>
        <p:spPr>
          <a:xfrm>
            <a:off x="1206499" y="633094"/>
            <a:ext cx="579120" cy="27686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1650">
                <a:solidFill>
                  <a:srgbClr val="3F8069"/>
                </a:solidFill>
                <a:latin typeface="Courier New"/>
                <a:ea typeface="Courier New"/>
                <a:cs typeface="Courier New"/>
                <a:sym typeface="Courier New"/>
              </a:rPr>
              <a:t>01.3</a:t>
            </a:r>
            <a:endParaRPr sz="1650">
              <a:latin typeface="Courier New"/>
              <a:ea typeface="Courier New"/>
              <a:cs typeface="Courier New"/>
              <a:sym typeface="Courier New"/>
            </a:endParaRPr>
          </a:p>
        </p:txBody>
      </p:sp>
      <p:sp>
        <p:nvSpPr>
          <p:cNvPr descr="$PPTXTitle" id="95" name="Google Shape;95;p5"/>
          <p:cNvSpPr txBox="1"/>
          <p:nvPr>
            <p:ph type="title"/>
          </p:nvPr>
        </p:nvSpPr>
        <p:spPr>
          <a:xfrm>
            <a:off x="1206499" y="1224597"/>
            <a:ext cx="9653270" cy="688339"/>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Clean/Hexagonal Architecture</a:t>
            </a:r>
            <a:endParaRPr/>
          </a:p>
        </p:txBody>
      </p:sp>
      <p:sp>
        <p:nvSpPr>
          <p:cNvPr id="96" name="Google Shape;96;p5"/>
          <p:cNvSpPr/>
          <p:nvPr/>
        </p:nvSpPr>
        <p:spPr>
          <a:xfrm>
            <a:off x="1219199" y="2152650"/>
            <a:ext cx="15849600" cy="19050"/>
          </a:xfrm>
          <a:custGeom>
            <a:rect b="b" l="l" r="r" t="t"/>
            <a:pathLst>
              <a:path extrusionOk="0" h="19050" w="15849600">
                <a:moveTo>
                  <a:pt x="15849600" y="19050"/>
                </a:moveTo>
                <a:lnTo>
                  <a:pt x="0" y="19050"/>
                </a:lnTo>
                <a:lnTo>
                  <a:pt x="0" y="0"/>
                </a:lnTo>
                <a:lnTo>
                  <a:pt x="15849600" y="0"/>
                </a:lnTo>
                <a:lnTo>
                  <a:pt x="15849600" y="19050"/>
                </a:lnTo>
                <a:close/>
              </a:path>
            </a:pathLst>
          </a:custGeom>
          <a:solidFill>
            <a:srgbClr val="D8DEDA"/>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pic>
        <p:nvPicPr>
          <p:cNvPr id="97" name="Google Shape;97;p5"/>
          <p:cNvPicPr preferRelativeResize="0"/>
          <p:nvPr/>
        </p:nvPicPr>
        <p:blipFill rotWithShape="1">
          <a:blip r:embed="rId3">
            <a:alphaModFix/>
          </a:blip>
          <a:srcRect b="0" l="0" r="0" t="0"/>
          <a:stretch/>
        </p:blipFill>
        <p:spPr>
          <a:xfrm>
            <a:off x="903488" y="2947043"/>
            <a:ext cx="6953249" cy="5019674"/>
          </a:xfrm>
          <a:prstGeom prst="rect">
            <a:avLst/>
          </a:prstGeom>
          <a:noFill/>
          <a:ln>
            <a:noFill/>
          </a:ln>
        </p:spPr>
      </p:pic>
      <p:pic>
        <p:nvPicPr>
          <p:cNvPr id="98" name="Google Shape;98;p5"/>
          <p:cNvPicPr preferRelativeResize="0"/>
          <p:nvPr/>
        </p:nvPicPr>
        <p:blipFill rotWithShape="1">
          <a:blip r:embed="rId4">
            <a:alphaModFix/>
          </a:blip>
          <a:srcRect b="0" l="0" r="0" t="0"/>
          <a:stretch/>
        </p:blipFill>
        <p:spPr>
          <a:xfrm>
            <a:off x="8573896" y="2947044"/>
            <a:ext cx="8810623" cy="5019674"/>
          </a:xfrm>
          <a:prstGeom prst="rect">
            <a:avLst/>
          </a:prstGeom>
          <a:noFill/>
          <a:ln>
            <a:noFill/>
          </a:ln>
        </p:spPr>
      </p:pic>
      <p:sp>
        <p:nvSpPr>
          <p:cNvPr id="99" name="Google Shape;99;p5"/>
          <p:cNvSpPr txBox="1"/>
          <p:nvPr/>
        </p:nvSpPr>
        <p:spPr>
          <a:xfrm>
            <a:off x="1206499" y="9614693"/>
            <a:ext cx="3276600" cy="248285"/>
          </a:xfrm>
          <a:prstGeom prst="rect">
            <a:avLst/>
          </a:prstGeom>
          <a:noFill/>
          <a:ln>
            <a:noFill/>
          </a:ln>
        </p:spPr>
        <p:txBody>
          <a:bodyPr anchorCtr="0" anchor="t" bIns="0" lIns="0" spcFirstLastPara="1" rIns="0" wrap="square" tIns="16500">
            <a:spAutoFit/>
          </a:bodyPr>
          <a:lstStyle/>
          <a:p>
            <a:pPr indent="0" lvl="0" marL="12700" rtl="0" algn="l">
              <a:lnSpc>
                <a:spcPct val="100000"/>
              </a:lnSpc>
              <a:spcBef>
                <a:spcPts val="0"/>
              </a:spcBef>
              <a:spcAft>
                <a:spcPts val="0"/>
              </a:spcAft>
              <a:buNone/>
            </a:pPr>
            <a:r>
              <a:rPr b="1" lang="en-US" sz="1350">
                <a:solidFill>
                  <a:srgbClr val="3F8069"/>
                </a:solidFill>
                <a:latin typeface="Courier New"/>
                <a:ea typeface="Courier New"/>
                <a:cs typeface="Courier New"/>
                <a:sym typeface="Courier New"/>
              </a:rPr>
              <a:t>CLEAN/HEXAGONAL ARCHITECTURE</a:t>
            </a:r>
            <a:endParaRPr sz="1350">
              <a:latin typeface="Courier New"/>
              <a:ea typeface="Courier New"/>
              <a:cs typeface="Courier New"/>
              <a:sym typeface="Courier New"/>
            </a:endParaRPr>
          </a:p>
        </p:txBody>
      </p:sp>
      <p:pic>
        <p:nvPicPr>
          <p:cNvPr id="100" name="Google Shape;100;p5" title="Logo_Color.png"/>
          <p:cNvPicPr preferRelativeResize="0"/>
          <p:nvPr/>
        </p:nvPicPr>
        <p:blipFill>
          <a:blip r:embed="rId5">
            <a:alphaModFix/>
          </a:blip>
          <a:stretch>
            <a:fillRect/>
          </a:stretch>
        </p:blipFill>
        <p:spPr>
          <a:xfrm>
            <a:off x="16144875" y="0"/>
            <a:ext cx="1928827" cy="1928827"/>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6"/>
          <p:cNvSpPr txBox="1"/>
          <p:nvPr/>
        </p:nvSpPr>
        <p:spPr>
          <a:xfrm>
            <a:off x="1206499" y="633094"/>
            <a:ext cx="579120" cy="27686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1650">
                <a:solidFill>
                  <a:srgbClr val="3F8069"/>
                </a:solidFill>
                <a:latin typeface="Courier New"/>
                <a:ea typeface="Courier New"/>
                <a:cs typeface="Courier New"/>
                <a:sym typeface="Courier New"/>
              </a:rPr>
              <a:t>01.4</a:t>
            </a:r>
            <a:endParaRPr sz="1650">
              <a:latin typeface="Courier New"/>
              <a:ea typeface="Courier New"/>
              <a:cs typeface="Courier New"/>
              <a:sym typeface="Courier New"/>
            </a:endParaRPr>
          </a:p>
        </p:txBody>
      </p:sp>
      <p:sp>
        <p:nvSpPr>
          <p:cNvPr descr="$PPTXTitle" id="106" name="Google Shape;106;p6"/>
          <p:cNvSpPr txBox="1"/>
          <p:nvPr>
            <p:ph type="title"/>
          </p:nvPr>
        </p:nvSpPr>
        <p:spPr>
          <a:xfrm>
            <a:off x="1206499" y="1224597"/>
            <a:ext cx="9653270" cy="688339"/>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Hexagonal Architecture</a:t>
            </a:r>
            <a:endParaRPr/>
          </a:p>
        </p:txBody>
      </p:sp>
      <p:grpSp>
        <p:nvGrpSpPr>
          <p:cNvPr id="107" name="Google Shape;107;p6"/>
          <p:cNvGrpSpPr/>
          <p:nvPr/>
        </p:nvGrpSpPr>
        <p:grpSpPr>
          <a:xfrm>
            <a:off x="1206499" y="2227575"/>
            <a:ext cx="15849600" cy="7600949"/>
            <a:chOff x="1219199" y="2152650"/>
            <a:chExt cx="15849600" cy="7600949"/>
          </a:xfrm>
        </p:grpSpPr>
        <p:sp>
          <p:nvSpPr>
            <p:cNvPr id="108" name="Google Shape;108;p6"/>
            <p:cNvSpPr/>
            <p:nvPr/>
          </p:nvSpPr>
          <p:spPr>
            <a:xfrm>
              <a:off x="1219199" y="2152650"/>
              <a:ext cx="15849600" cy="19050"/>
            </a:xfrm>
            <a:custGeom>
              <a:rect b="b" l="l" r="r" t="t"/>
              <a:pathLst>
                <a:path extrusionOk="0" h="19050" w="15849600">
                  <a:moveTo>
                    <a:pt x="15849600" y="19050"/>
                  </a:moveTo>
                  <a:lnTo>
                    <a:pt x="0" y="19050"/>
                  </a:lnTo>
                  <a:lnTo>
                    <a:pt x="0" y="0"/>
                  </a:lnTo>
                  <a:lnTo>
                    <a:pt x="15849600" y="0"/>
                  </a:lnTo>
                  <a:lnTo>
                    <a:pt x="15849600" y="19050"/>
                  </a:lnTo>
                  <a:close/>
                </a:path>
              </a:pathLst>
            </a:custGeom>
            <a:solidFill>
              <a:srgbClr val="D8DEDA"/>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pic>
          <p:nvPicPr>
            <p:cNvPr id="109" name="Google Shape;109;p6"/>
            <p:cNvPicPr preferRelativeResize="0"/>
            <p:nvPr/>
          </p:nvPicPr>
          <p:blipFill rotWithShape="1">
            <a:blip r:embed="rId3">
              <a:alphaModFix/>
            </a:blip>
            <a:srcRect b="0" l="0" r="0" t="0"/>
            <a:stretch/>
          </p:blipFill>
          <p:spPr>
            <a:xfrm>
              <a:off x="5327104" y="2171700"/>
              <a:ext cx="11353799" cy="7581899"/>
            </a:xfrm>
            <a:prstGeom prst="rect">
              <a:avLst/>
            </a:prstGeom>
            <a:noFill/>
            <a:ln>
              <a:noFill/>
            </a:ln>
          </p:spPr>
        </p:pic>
      </p:grpSp>
      <p:sp>
        <p:nvSpPr>
          <p:cNvPr id="110" name="Google Shape;110;p6"/>
          <p:cNvSpPr txBox="1"/>
          <p:nvPr/>
        </p:nvSpPr>
        <p:spPr>
          <a:xfrm>
            <a:off x="1206499" y="9614693"/>
            <a:ext cx="3276600" cy="248285"/>
          </a:xfrm>
          <a:prstGeom prst="rect">
            <a:avLst/>
          </a:prstGeom>
          <a:noFill/>
          <a:ln>
            <a:noFill/>
          </a:ln>
        </p:spPr>
        <p:txBody>
          <a:bodyPr anchorCtr="0" anchor="t" bIns="0" lIns="0" spcFirstLastPara="1" rIns="0" wrap="square" tIns="16500">
            <a:spAutoFit/>
          </a:bodyPr>
          <a:lstStyle/>
          <a:p>
            <a:pPr indent="0" lvl="0" marL="12700" rtl="0" algn="l">
              <a:lnSpc>
                <a:spcPct val="100000"/>
              </a:lnSpc>
              <a:spcBef>
                <a:spcPts val="0"/>
              </a:spcBef>
              <a:spcAft>
                <a:spcPts val="0"/>
              </a:spcAft>
              <a:buNone/>
            </a:pPr>
            <a:r>
              <a:rPr b="1" lang="en-US" sz="1350">
                <a:solidFill>
                  <a:srgbClr val="3F8069"/>
                </a:solidFill>
                <a:latin typeface="Courier New"/>
                <a:ea typeface="Courier New"/>
                <a:cs typeface="Courier New"/>
                <a:sym typeface="Courier New"/>
              </a:rPr>
              <a:t>CLEAN/HEXAGONAL ARCHITECTURE</a:t>
            </a:r>
            <a:endParaRPr sz="1350">
              <a:latin typeface="Courier New"/>
              <a:ea typeface="Courier New"/>
              <a:cs typeface="Courier New"/>
              <a:sym typeface="Courier New"/>
            </a:endParaRPr>
          </a:p>
        </p:txBody>
      </p:sp>
      <p:pic>
        <p:nvPicPr>
          <p:cNvPr id="111" name="Google Shape;111;p6" title="Logo_Color.png"/>
          <p:cNvPicPr preferRelativeResize="0"/>
          <p:nvPr/>
        </p:nvPicPr>
        <p:blipFill>
          <a:blip r:embed="rId4">
            <a:alphaModFix/>
          </a:blip>
          <a:stretch>
            <a:fillRect/>
          </a:stretch>
        </p:blipFill>
        <p:spPr>
          <a:xfrm>
            <a:off x="16144875" y="0"/>
            <a:ext cx="1928827" cy="1928827"/>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7"/>
          <p:cNvSpPr txBox="1"/>
          <p:nvPr/>
        </p:nvSpPr>
        <p:spPr>
          <a:xfrm>
            <a:off x="1206499" y="633094"/>
            <a:ext cx="579120" cy="27686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1650">
                <a:solidFill>
                  <a:srgbClr val="3F8069"/>
                </a:solidFill>
                <a:latin typeface="Courier New"/>
                <a:ea typeface="Courier New"/>
                <a:cs typeface="Courier New"/>
                <a:sym typeface="Courier New"/>
              </a:rPr>
              <a:t>01.5</a:t>
            </a:r>
            <a:endParaRPr sz="1650">
              <a:latin typeface="Courier New"/>
              <a:ea typeface="Courier New"/>
              <a:cs typeface="Courier New"/>
              <a:sym typeface="Courier New"/>
            </a:endParaRPr>
          </a:p>
        </p:txBody>
      </p:sp>
      <p:sp>
        <p:nvSpPr>
          <p:cNvPr descr="$PPTXTitle" id="117" name="Google Shape;117;p7"/>
          <p:cNvSpPr txBox="1"/>
          <p:nvPr>
            <p:ph type="ctrTitle"/>
          </p:nvPr>
        </p:nvSpPr>
        <p:spPr>
          <a:xfrm>
            <a:off x="1206500" y="1224600"/>
            <a:ext cx="13848900" cy="6825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Practice 1: Hexagonal Architecture</a:t>
            </a:r>
            <a:endParaRPr/>
          </a:p>
        </p:txBody>
      </p:sp>
      <p:sp>
        <p:nvSpPr>
          <p:cNvPr id="118" name="Google Shape;118;p7"/>
          <p:cNvSpPr/>
          <p:nvPr/>
        </p:nvSpPr>
        <p:spPr>
          <a:xfrm>
            <a:off x="1219199" y="2152650"/>
            <a:ext cx="15849600" cy="19050"/>
          </a:xfrm>
          <a:custGeom>
            <a:rect b="b" l="l" r="r" t="t"/>
            <a:pathLst>
              <a:path extrusionOk="0" h="19050" w="15849600">
                <a:moveTo>
                  <a:pt x="15849600" y="19050"/>
                </a:moveTo>
                <a:lnTo>
                  <a:pt x="0" y="19050"/>
                </a:lnTo>
                <a:lnTo>
                  <a:pt x="0" y="0"/>
                </a:lnTo>
                <a:lnTo>
                  <a:pt x="15849600" y="0"/>
                </a:lnTo>
                <a:lnTo>
                  <a:pt x="15849600" y="19050"/>
                </a:lnTo>
                <a:close/>
              </a:path>
            </a:pathLst>
          </a:custGeom>
          <a:solidFill>
            <a:srgbClr val="D8DEDA"/>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19" name="Google Shape;119;p7"/>
          <p:cNvSpPr txBox="1"/>
          <p:nvPr/>
        </p:nvSpPr>
        <p:spPr>
          <a:xfrm>
            <a:off x="1206499" y="2389552"/>
            <a:ext cx="9398635" cy="41402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2550">
                <a:latin typeface="Verdana"/>
                <a:ea typeface="Verdana"/>
                <a:cs typeface="Verdana"/>
                <a:sym typeface="Verdana"/>
              </a:rPr>
              <a:t>https://github.com/r ichard-truong/spring-ai-demo</a:t>
            </a:r>
            <a:endParaRPr sz="2550">
              <a:latin typeface="Verdana"/>
              <a:ea typeface="Verdana"/>
              <a:cs typeface="Verdana"/>
              <a:sym typeface="Verdana"/>
            </a:endParaRPr>
          </a:p>
        </p:txBody>
      </p:sp>
      <p:sp>
        <p:nvSpPr>
          <p:cNvPr id="120" name="Google Shape;120;p7"/>
          <p:cNvSpPr txBox="1"/>
          <p:nvPr/>
        </p:nvSpPr>
        <p:spPr>
          <a:xfrm>
            <a:off x="1206499" y="9614693"/>
            <a:ext cx="3276600" cy="248285"/>
          </a:xfrm>
          <a:prstGeom prst="rect">
            <a:avLst/>
          </a:prstGeom>
          <a:noFill/>
          <a:ln>
            <a:noFill/>
          </a:ln>
        </p:spPr>
        <p:txBody>
          <a:bodyPr anchorCtr="0" anchor="t" bIns="0" lIns="0" spcFirstLastPara="1" rIns="0" wrap="square" tIns="16500">
            <a:spAutoFit/>
          </a:bodyPr>
          <a:lstStyle/>
          <a:p>
            <a:pPr indent="0" lvl="0" marL="12700" rtl="0" algn="l">
              <a:lnSpc>
                <a:spcPct val="100000"/>
              </a:lnSpc>
              <a:spcBef>
                <a:spcPts val="0"/>
              </a:spcBef>
              <a:spcAft>
                <a:spcPts val="0"/>
              </a:spcAft>
              <a:buNone/>
            </a:pPr>
            <a:r>
              <a:rPr b="1" lang="en-US" sz="1350">
                <a:solidFill>
                  <a:srgbClr val="3F8069"/>
                </a:solidFill>
                <a:latin typeface="Courier New"/>
                <a:ea typeface="Courier New"/>
                <a:cs typeface="Courier New"/>
                <a:sym typeface="Courier New"/>
              </a:rPr>
              <a:t>CLEAN/HEXAGONAL ARCHITECTURE</a:t>
            </a:r>
            <a:endParaRPr sz="1350">
              <a:latin typeface="Courier New"/>
              <a:ea typeface="Courier New"/>
              <a:cs typeface="Courier New"/>
              <a:sym typeface="Courier New"/>
            </a:endParaRPr>
          </a:p>
        </p:txBody>
      </p:sp>
      <p:pic>
        <p:nvPicPr>
          <p:cNvPr id="121" name="Google Shape;121;p7" title="Logo_Color.png"/>
          <p:cNvPicPr preferRelativeResize="0"/>
          <p:nvPr/>
        </p:nvPicPr>
        <p:blipFill>
          <a:blip r:embed="rId3">
            <a:alphaModFix/>
          </a:blip>
          <a:stretch>
            <a:fillRect/>
          </a:stretch>
        </p:blipFill>
        <p:spPr>
          <a:xfrm>
            <a:off x="16144875" y="0"/>
            <a:ext cx="1928827" cy="1928827"/>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25" name="Shape 125"/>
        <p:cNvGrpSpPr/>
        <p:nvPr/>
      </p:nvGrpSpPr>
      <p:grpSpPr>
        <a:xfrm>
          <a:off x="0" y="0"/>
          <a:ext cx="0" cy="0"/>
          <a:chOff x="0" y="0"/>
          <a:chExt cx="0" cy="0"/>
        </a:xfrm>
      </p:grpSpPr>
      <p:sp>
        <p:nvSpPr>
          <p:cNvPr id="126" name="Google Shape;126;p8"/>
          <p:cNvSpPr/>
          <p:nvPr/>
        </p:nvSpPr>
        <p:spPr>
          <a:xfrm>
            <a:off x="0" y="0"/>
            <a:ext cx="18288000" cy="10287000"/>
          </a:xfrm>
          <a:custGeom>
            <a:rect b="b" l="l" r="r" t="t"/>
            <a:pathLst>
              <a:path extrusionOk="0" h="10287000" w="18288000">
                <a:moveTo>
                  <a:pt x="18287998" y="10286999"/>
                </a:moveTo>
                <a:lnTo>
                  <a:pt x="0" y="10286999"/>
                </a:lnTo>
                <a:lnTo>
                  <a:pt x="0" y="0"/>
                </a:lnTo>
                <a:lnTo>
                  <a:pt x="18287998" y="0"/>
                </a:lnTo>
                <a:lnTo>
                  <a:pt x="18287998" y="10286999"/>
                </a:lnTo>
                <a:close/>
              </a:path>
            </a:pathLst>
          </a:custGeom>
          <a:solidFill>
            <a:srgbClr val="17324D"/>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27" name="Google Shape;127;p8"/>
          <p:cNvSpPr/>
          <p:nvPr/>
        </p:nvSpPr>
        <p:spPr>
          <a:xfrm>
            <a:off x="1219199" y="3143250"/>
            <a:ext cx="876300" cy="76200"/>
          </a:xfrm>
          <a:custGeom>
            <a:rect b="b" l="l" r="r" t="t"/>
            <a:pathLst>
              <a:path extrusionOk="0" h="76200" w="876300">
                <a:moveTo>
                  <a:pt x="876299" y="76199"/>
                </a:moveTo>
                <a:lnTo>
                  <a:pt x="0" y="76199"/>
                </a:lnTo>
                <a:lnTo>
                  <a:pt x="0" y="0"/>
                </a:lnTo>
                <a:lnTo>
                  <a:pt x="876299" y="0"/>
                </a:lnTo>
                <a:lnTo>
                  <a:pt x="876299" y="76199"/>
                </a:lnTo>
                <a:close/>
              </a:path>
            </a:pathLst>
          </a:custGeom>
          <a:solidFill>
            <a:srgbClr val="3F8069"/>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28" name="Google Shape;128;p8"/>
          <p:cNvSpPr txBox="1"/>
          <p:nvPr/>
        </p:nvSpPr>
        <p:spPr>
          <a:xfrm>
            <a:off x="1206499" y="1014094"/>
            <a:ext cx="297815" cy="27686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1650">
                <a:solidFill>
                  <a:srgbClr val="86C7AC"/>
                </a:solidFill>
                <a:latin typeface="Courier New"/>
                <a:ea typeface="Courier New"/>
                <a:cs typeface="Courier New"/>
                <a:sym typeface="Courier New"/>
              </a:rPr>
              <a:t>02</a:t>
            </a:r>
            <a:endParaRPr sz="1650">
              <a:latin typeface="Courier New"/>
              <a:ea typeface="Courier New"/>
              <a:cs typeface="Courier New"/>
              <a:sym typeface="Courier New"/>
            </a:endParaRPr>
          </a:p>
        </p:txBody>
      </p:sp>
      <p:sp>
        <p:nvSpPr>
          <p:cNvPr descr="$PPTXTitle" id="129" name="Google Shape;129;p8"/>
          <p:cNvSpPr txBox="1"/>
          <p:nvPr>
            <p:ph type="title"/>
          </p:nvPr>
        </p:nvSpPr>
        <p:spPr>
          <a:xfrm>
            <a:off x="4844852" y="4092300"/>
            <a:ext cx="8598300" cy="1121100"/>
          </a:xfrm>
          <a:prstGeom prst="rect">
            <a:avLst/>
          </a:prstGeom>
          <a:noFill/>
          <a:ln>
            <a:noFill/>
          </a:ln>
        </p:spPr>
        <p:txBody>
          <a:bodyPr anchorCtr="0" anchor="t" bIns="0" lIns="0" spcFirstLastPara="1" rIns="0" wrap="square" tIns="12700">
            <a:spAutoFit/>
          </a:bodyPr>
          <a:lstStyle/>
          <a:p>
            <a:pPr indent="0" lvl="0" marL="12700" rtl="0" algn="ctr">
              <a:lnSpc>
                <a:spcPct val="100000"/>
              </a:lnSpc>
              <a:spcBef>
                <a:spcPts val="0"/>
              </a:spcBef>
              <a:spcAft>
                <a:spcPts val="0"/>
              </a:spcAft>
              <a:buNone/>
            </a:pPr>
            <a:r>
              <a:rPr lang="en-US" sz="7200">
                <a:solidFill>
                  <a:srgbClr val="FFFFFF"/>
                </a:solidFill>
              </a:rPr>
              <a:t>Spring AI</a:t>
            </a:r>
            <a:endParaRPr sz="7200"/>
          </a:p>
        </p:txBody>
      </p:sp>
      <p:pic>
        <p:nvPicPr>
          <p:cNvPr id="130" name="Google Shape;130;p8" title="Logo_white.png"/>
          <p:cNvPicPr preferRelativeResize="0"/>
          <p:nvPr/>
        </p:nvPicPr>
        <p:blipFill>
          <a:blip r:embed="rId3">
            <a:alphaModFix/>
          </a:blip>
          <a:stretch>
            <a:fillRect/>
          </a:stretch>
        </p:blipFill>
        <p:spPr>
          <a:xfrm>
            <a:off x="15939500" y="167000"/>
            <a:ext cx="2051400" cy="16814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9"/>
          <p:cNvSpPr txBox="1"/>
          <p:nvPr/>
        </p:nvSpPr>
        <p:spPr>
          <a:xfrm>
            <a:off x="1206499" y="633094"/>
            <a:ext cx="579120" cy="27686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1650">
                <a:solidFill>
                  <a:srgbClr val="3F8069"/>
                </a:solidFill>
                <a:latin typeface="Courier New"/>
                <a:ea typeface="Courier New"/>
                <a:cs typeface="Courier New"/>
                <a:sym typeface="Courier New"/>
              </a:rPr>
              <a:t>02.1</a:t>
            </a:r>
            <a:endParaRPr sz="1650">
              <a:latin typeface="Courier New"/>
              <a:ea typeface="Courier New"/>
              <a:cs typeface="Courier New"/>
              <a:sym typeface="Courier New"/>
            </a:endParaRPr>
          </a:p>
        </p:txBody>
      </p:sp>
      <p:sp>
        <p:nvSpPr>
          <p:cNvPr descr="$PPTXTitle" id="136" name="Google Shape;136;p9"/>
          <p:cNvSpPr txBox="1"/>
          <p:nvPr>
            <p:ph type="title"/>
          </p:nvPr>
        </p:nvSpPr>
        <p:spPr>
          <a:xfrm>
            <a:off x="1206502" y="1224600"/>
            <a:ext cx="5919300" cy="6825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AI Agent</a:t>
            </a:r>
            <a:endParaRPr/>
          </a:p>
        </p:txBody>
      </p:sp>
      <p:sp>
        <p:nvSpPr>
          <p:cNvPr id="137" name="Google Shape;137;p9"/>
          <p:cNvSpPr/>
          <p:nvPr/>
        </p:nvSpPr>
        <p:spPr>
          <a:xfrm>
            <a:off x="1219199" y="2152650"/>
            <a:ext cx="15849600" cy="19050"/>
          </a:xfrm>
          <a:custGeom>
            <a:rect b="b" l="l" r="r" t="t"/>
            <a:pathLst>
              <a:path extrusionOk="0" h="19050" w="15849600">
                <a:moveTo>
                  <a:pt x="15849600" y="19050"/>
                </a:moveTo>
                <a:lnTo>
                  <a:pt x="0" y="19050"/>
                </a:lnTo>
                <a:lnTo>
                  <a:pt x="0" y="0"/>
                </a:lnTo>
                <a:lnTo>
                  <a:pt x="15849600" y="0"/>
                </a:lnTo>
                <a:lnTo>
                  <a:pt x="15849600" y="19050"/>
                </a:lnTo>
                <a:close/>
              </a:path>
            </a:pathLst>
          </a:custGeom>
          <a:solidFill>
            <a:srgbClr val="D8DEDA"/>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pic>
        <p:nvPicPr>
          <p:cNvPr id="138" name="Google Shape;138;p9"/>
          <p:cNvPicPr preferRelativeResize="0"/>
          <p:nvPr/>
        </p:nvPicPr>
        <p:blipFill rotWithShape="1">
          <a:blip r:embed="rId3">
            <a:alphaModFix/>
          </a:blip>
          <a:srcRect b="0" l="0" r="0" t="0"/>
          <a:stretch/>
        </p:blipFill>
        <p:spPr>
          <a:xfrm>
            <a:off x="8095888" y="2572892"/>
            <a:ext cx="9801223" cy="5229224"/>
          </a:xfrm>
          <a:prstGeom prst="rect">
            <a:avLst/>
          </a:prstGeom>
          <a:noFill/>
          <a:ln>
            <a:noFill/>
          </a:ln>
        </p:spPr>
      </p:pic>
      <p:sp>
        <p:nvSpPr>
          <p:cNvPr id="139" name="Google Shape;139;p9"/>
          <p:cNvSpPr txBox="1"/>
          <p:nvPr/>
        </p:nvSpPr>
        <p:spPr>
          <a:xfrm>
            <a:off x="1206500" y="3345000"/>
            <a:ext cx="6482100" cy="3597000"/>
          </a:xfrm>
          <a:prstGeom prst="rect">
            <a:avLst/>
          </a:prstGeom>
          <a:noFill/>
          <a:ln>
            <a:noFill/>
          </a:ln>
        </p:spPr>
        <p:txBody>
          <a:bodyPr anchorCtr="0" anchor="t" bIns="0" lIns="0" spcFirstLastPara="1" rIns="0" wrap="square" tIns="12700">
            <a:spAutoFit/>
          </a:bodyPr>
          <a:lstStyle/>
          <a:p>
            <a:pPr indent="0" lvl="0" marL="12700" marR="5080" rtl="0" algn="just">
              <a:lnSpc>
                <a:spcPct val="112700"/>
              </a:lnSpc>
              <a:spcBef>
                <a:spcPts val="0"/>
              </a:spcBef>
              <a:spcAft>
                <a:spcPts val="0"/>
              </a:spcAft>
              <a:buNone/>
            </a:pPr>
            <a:r>
              <a:rPr b="1" lang="en-US" sz="3000">
                <a:latin typeface="Tahoma"/>
                <a:ea typeface="Tahoma"/>
                <a:cs typeface="Tahoma"/>
                <a:sym typeface="Tahoma"/>
              </a:rPr>
              <a:t>AI Agents </a:t>
            </a:r>
            <a:r>
              <a:rPr lang="en-US" sz="3000">
                <a:latin typeface="Verdana"/>
                <a:ea typeface="Verdana"/>
                <a:cs typeface="Verdana"/>
                <a:sym typeface="Verdana"/>
              </a:rPr>
              <a:t>are software systems that use AI to pursue goals and complete tasks on behalf of users. They show reasoning, planning, and memory and have a level of autonomy to make decisions, learn, and adapt.</a:t>
            </a:r>
            <a:endParaRPr sz="3000">
              <a:latin typeface="Verdana"/>
              <a:ea typeface="Verdana"/>
              <a:cs typeface="Verdana"/>
              <a:sym typeface="Verdana"/>
            </a:endParaRPr>
          </a:p>
        </p:txBody>
      </p:sp>
      <p:sp>
        <p:nvSpPr>
          <p:cNvPr id="140" name="Google Shape;140;p9"/>
          <p:cNvSpPr txBox="1"/>
          <p:nvPr/>
        </p:nvSpPr>
        <p:spPr>
          <a:xfrm>
            <a:off x="1206499" y="9614693"/>
            <a:ext cx="1061085" cy="248285"/>
          </a:xfrm>
          <a:prstGeom prst="rect">
            <a:avLst/>
          </a:prstGeom>
          <a:noFill/>
          <a:ln>
            <a:noFill/>
          </a:ln>
        </p:spPr>
        <p:txBody>
          <a:bodyPr anchorCtr="0" anchor="t" bIns="0" lIns="0" spcFirstLastPara="1" rIns="0" wrap="square" tIns="16500">
            <a:spAutoFit/>
          </a:bodyPr>
          <a:lstStyle/>
          <a:p>
            <a:pPr indent="0" lvl="0" marL="12700" rtl="0" algn="l">
              <a:lnSpc>
                <a:spcPct val="100000"/>
              </a:lnSpc>
              <a:spcBef>
                <a:spcPts val="0"/>
              </a:spcBef>
              <a:spcAft>
                <a:spcPts val="0"/>
              </a:spcAft>
              <a:buNone/>
            </a:pPr>
            <a:r>
              <a:rPr b="1" lang="en-US" sz="1350">
                <a:solidFill>
                  <a:srgbClr val="3F8069"/>
                </a:solidFill>
                <a:latin typeface="Courier New"/>
                <a:ea typeface="Courier New"/>
                <a:cs typeface="Courier New"/>
                <a:sym typeface="Courier New"/>
              </a:rPr>
              <a:t>SPRING AI</a:t>
            </a:r>
            <a:endParaRPr sz="1350">
              <a:latin typeface="Courier New"/>
              <a:ea typeface="Courier New"/>
              <a:cs typeface="Courier New"/>
              <a:sym typeface="Courier New"/>
            </a:endParaRPr>
          </a:p>
        </p:txBody>
      </p:sp>
      <p:sp>
        <p:nvSpPr>
          <p:cNvPr id="141" name="Google Shape;141;p9"/>
          <p:cNvSpPr txBox="1"/>
          <p:nvPr/>
        </p:nvSpPr>
        <p:spPr>
          <a:xfrm>
            <a:off x="9131300" y="8565485"/>
            <a:ext cx="8573770" cy="3302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2000">
                <a:latin typeface="Tahoma"/>
                <a:ea typeface="Tahoma"/>
                <a:cs typeface="Tahoma"/>
                <a:sym typeface="Tahoma"/>
              </a:rPr>
              <a:t>AI Agent = Brain (LLM/Reasoning) + Memory + Tools/Actions</a:t>
            </a:r>
            <a:endParaRPr sz="2000">
              <a:latin typeface="Tahoma"/>
              <a:ea typeface="Tahoma"/>
              <a:cs typeface="Tahoma"/>
              <a:sym typeface="Tahoma"/>
            </a:endParaRPr>
          </a:p>
        </p:txBody>
      </p:sp>
      <p:pic>
        <p:nvPicPr>
          <p:cNvPr id="142" name="Google Shape;142;p9" title="Logo_Color.png"/>
          <p:cNvPicPr preferRelativeResize="0"/>
          <p:nvPr/>
        </p:nvPicPr>
        <p:blipFill>
          <a:blip r:embed="rId4">
            <a:alphaModFix/>
          </a:blip>
          <a:stretch>
            <a:fillRect/>
          </a:stretch>
        </p:blipFill>
        <p:spPr>
          <a:xfrm>
            <a:off x="16144875" y="0"/>
            <a:ext cx="1928827" cy="1928827"/>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10"/>
          <p:cNvSpPr txBox="1"/>
          <p:nvPr/>
        </p:nvSpPr>
        <p:spPr>
          <a:xfrm>
            <a:off x="1206499" y="633094"/>
            <a:ext cx="579120" cy="27686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1650">
                <a:solidFill>
                  <a:srgbClr val="3F8069"/>
                </a:solidFill>
                <a:latin typeface="Courier New"/>
                <a:ea typeface="Courier New"/>
                <a:cs typeface="Courier New"/>
                <a:sym typeface="Courier New"/>
              </a:rPr>
              <a:t>02.2</a:t>
            </a:r>
            <a:endParaRPr sz="1650">
              <a:latin typeface="Courier New"/>
              <a:ea typeface="Courier New"/>
              <a:cs typeface="Courier New"/>
              <a:sym typeface="Courier New"/>
            </a:endParaRPr>
          </a:p>
        </p:txBody>
      </p:sp>
      <p:sp>
        <p:nvSpPr>
          <p:cNvPr descr="$PPTXTitle" id="148" name="Google Shape;148;p10"/>
          <p:cNvSpPr txBox="1"/>
          <p:nvPr>
            <p:ph type="title"/>
          </p:nvPr>
        </p:nvSpPr>
        <p:spPr>
          <a:xfrm>
            <a:off x="1206499" y="1224597"/>
            <a:ext cx="9653270" cy="688339"/>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Agentic AI</a:t>
            </a:r>
            <a:endParaRPr/>
          </a:p>
        </p:txBody>
      </p:sp>
      <p:sp>
        <p:nvSpPr>
          <p:cNvPr id="149" name="Google Shape;149;p10"/>
          <p:cNvSpPr/>
          <p:nvPr/>
        </p:nvSpPr>
        <p:spPr>
          <a:xfrm>
            <a:off x="1219199" y="2152650"/>
            <a:ext cx="15849600" cy="19050"/>
          </a:xfrm>
          <a:custGeom>
            <a:rect b="b" l="l" r="r" t="t"/>
            <a:pathLst>
              <a:path extrusionOk="0" h="19050" w="15849600">
                <a:moveTo>
                  <a:pt x="15849600" y="19050"/>
                </a:moveTo>
                <a:lnTo>
                  <a:pt x="0" y="19050"/>
                </a:lnTo>
                <a:lnTo>
                  <a:pt x="0" y="0"/>
                </a:lnTo>
                <a:lnTo>
                  <a:pt x="15849600" y="0"/>
                </a:lnTo>
                <a:lnTo>
                  <a:pt x="15849600" y="19050"/>
                </a:lnTo>
                <a:close/>
              </a:path>
            </a:pathLst>
          </a:custGeom>
          <a:solidFill>
            <a:srgbClr val="D8DEDA"/>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pic>
        <p:nvPicPr>
          <p:cNvPr id="150" name="Google Shape;150;p10"/>
          <p:cNvPicPr preferRelativeResize="0"/>
          <p:nvPr/>
        </p:nvPicPr>
        <p:blipFill rotWithShape="1">
          <a:blip r:embed="rId3">
            <a:alphaModFix/>
          </a:blip>
          <a:srcRect b="0" l="0" r="0" t="0"/>
          <a:stretch/>
        </p:blipFill>
        <p:spPr>
          <a:xfrm>
            <a:off x="1028700" y="4890350"/>
            <a:ext cx="6552600" cy="1928825"/>
          </a:xfrm>
          <a:prstGeom prst="rect">
            <a:avLst/>
          </a:prstGeom>
          <a:noFill/>
          <a:ln>
            <a:noFill/>
          </a:ln>
        </p:spPr>
      </p:pic>
      <p:pic>
        <p:nvPicPr>
          <p:cNvPr id="151" name="Google Shape;151;p10"/>
          <p:cNvPicPr preferRelativeResize="0"/>
          <p:nvPr/>
        </p:nvPicPr>
        <p:blipFill rotWithShape="1">
          <a:blip r:embed="rId4">
            <a:alphaModFix/>
          </a:blip>
          <a:srcRect b="0" l="0" r="0" t="0"/>
          <a:stretch/>
        </p:blipFill>
        <p:spPr>
          <a:xfrm>
            <a:off x="7772975" y="4385363"/>
            <a:ext cx="9295826" cy="1516275"/>
          </a:xfrm>
          <a:prstGeom prst="rect">
            <a:avLst/>
          </a:prstGeom>
          <a:noFill/>
          <a:ln>
            <a:noFill/>
          </a:ln>
        </p:spPr>
      </p:pic>
      <p:pic>
        <p:nvPicPr>
          <p:cNvPr id="152" name="Google Shape;152;p10"/>
          <p:cNvPicPr preferRelativeResize="0"/>
          <p:nvPr/>
        </p:nvPicPr>
        <p:blipFill rotWithShape="1">
          <a:blip r:embed="rId5">
            <a:alphaModFix/>
          </a:blip>
          <a:srcRect b="0" l="0" r="0" t="0"/>
          <a:stretch/>
        </p:blipFill>
        <p:spPr>
          <a:xfrm>
            <a:off x="10516201" y="5860413"/>
            <a:ext cx="6552600" cy="3785875"/>
          </a:xfrm>
          <a:prstGeom prst="rect">
            <a:avLst/>
          </a:prstGeom>
          <a:noFill/>
          <a:ln>
            <a:noFill/>
          </a:ln>
        </p:spPr>
      </p:pic>
      <p:sp>
        <p:nvSpPr>
          <p:cNvPr id="153" name="Google Shape;153;p10"/>
          <p:cNvSpPr txBox="1"/>
          <p:nvPr/>
        </p:nvSpPr>
        <p:spPr>
          <a:xfrm>
            <a:off x="1016000" y="2608573"/>
            <a:ext cx="16943100" cy="2079600"/>
          </a:xfrm>
          <a:prstGeom prst="rect">
            <a:avLst/>
          </a:prstGeom>
          <a:noFill/>
          <a:ln>
            <a:noFill/>
          </a:ln>
        </p:spPr>
        <p:txBody>
          <a:bodyPr anchorCtr="0" anchor="t" bIns="0" lIns="0" spcFirstLastPara="1" rIns="0" wrap="square" tIns="12050">
            <a:spAutoFit/>
          </a:bodyPr>
          <a:lstStyle/>
          <a:p>
            <a:pPr indent="0" lvl="0" marL="12700" marR="5080" rtl="0" algn="just">
              <a:lnSpc>
                <a:spcPct val="115900"/>
              </a:lnSpc>
              <a:spcBef>
                <a:spcPts val="0"/>
              </a:spcBef>
              <a:spcAft>
                <a:spcPts val="0"/>
              </a:spcAft>
              <a:buNone/>
            </a:pPr>
            <a:r>
              <a:rPr lang="en-US" sz="3000">
                <a:latin typeface="Verdana"/>
                <a:ea typeface="Verdana"/>
                <a:cs typeface="Verdana"/>
                <a:sym typeface="Verdana"/>
              </a:rPr>
              <a:t>While the terms "agentic AI" and "AI agents" are often used together, there is a subtle difference. AI agents are the building blocks of agentic AI. Think of AI agents as individual tools in a toolbox, while agentic AI is the coordinated use of those tools to build an entire house.</a:t>
            </a:r>
            <a:endParaRPr sz="3000">
              <a:latin typeface="Verdana"/>
              <a:ea typeface="Verdana"/>
              <a:cs typeface="Verdana"/>
              <a:sym typeface="Verdana"/>
            </a:endParaRPr>
          </a:p>
        </p:txBody>
      </p:sp>
      <p:sp>
        <p:nvSpPr>
          <p:cNvPr id="154" name="Google Shape;154;p10"/>
          <p:cNvSpPr txBox="1"/>
          <p:nvPr/>
        </p:nvSpPr>
        <p:spPr>
          <a:xfrm>
            <a:off x="1206499" y="9614693"/>
            <a:ext cx="1061085" cy="248285"/>
          </a:xfrm>
          <a:prstGeom prst="rect">
            <a:avLst/>
          </a:prstGeom>
          <a:noFill/>
          <a:ln>
            <a:noFill/>
          </a:ln>
        </p:spPr>
        <p:txBody>
          <a:bodyPr anchorCtr="0" anchor="t" bIns="0" lIns="0" spcFirstLastPara="1" rIns="0" wrap="square" tIns="16500">
            <a:spAutoFit/>
          </a:bodyPr>
          <a:lstStyle/>
          <a:p>
            <a:pPr indent="0" lvl="0" marL="12700" rtl="0" algn="l">
              <a:lnSpc>
                <a:spcPct val="100000"/>
              </a:lnSpc>
              <a:spcBef>
                <a:spcPts val="0"/>
              </a:spcBef>
              <a:spcAft>
                <a:spcPts val="0"/>
              </a:spcAft>
              <a:buNone/>
            </a:pPr>
            <a:r>
              <a:rPr b="1" lang="en-US" sz="1350">
                <a:solidFill>
                  <a:srgbClr val="3F8069"/>
                </a:solidFill>
                <a:latin typeface="Courier New"/>
                <a:ea typeface="Courier New"/>
                <a:cs typeface="Courier New"/>
                <a:sym typeface="Courier New"/>
              </a:rPr>
              <a:t>SPRING AI</a:t>
            </a:r>
            <a:endParaRPr sz="1350">
              <a:latin typeface="Courier New"/>
              <a:ea typeface="Courier New"/>
              <a:cs typeface="Courier New"/>
              <a:sym typeface="Courier New"/>
            </a:endParaRPr>
          </a:p>
        </p:txBody>
      </p:sp>
      <p:sp>
        <p:nvSpPr>
          <p:cNvPr id="155" name="Google Shape;155;p10"/>
          <p:cNvSpPr txBox="1"/>
          <p:nvPr/>
        </p:nvSpPr>
        <p:spPr>
          <a:xfrm>
            <a:off x="3002546" y="7159052"/>
            <a:ext cx="2226945" cy="23114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1350">
                <a:latin typeface="Courier New"/>
                <a:ea typeface="Courier New"/>
                <a:cs typeface="Courier New"/>
                <a:sym typeface="Courier New"/>
              </a:rPr>
              <a:t>Single-agent system</a:t>
            </a:r>
            <a:endParaRPr sz="1350">
              <a:latin typeface="Courier New"/>
              <a:ea typeface="Courier New"/>
              <a:cs typeface="Courier New"/>
              <a:sym typeface="Courier New"/>
            </a:endParaRPr>
          </a:p>
        </p:txBody>
      </p:sp>
      <p:sp>
        <p:nvSpPr>
          <p:cNvPr id="156" name="Google Shape;156;p10"/>
          <p:cNvSpPr txBox="1"/>
          <p:nvPr/>
        </p:nvSpPr>
        <p:spPr>
          <a:xfrm>
            <a:off x="11542492" y="9415144"/>
            <a:ext cx="2226945" cy="23114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1350">
                <a:latin typeface="Courier New"/>
                <a:ea typeface="Courier New"/>
                <a:cs typeface="Courier New"/>
                <a:sym typeface="Courier New"/>
              </a:rPr>
              <a:t>Multi-agent systems</a:t>
            </a:r>
            <a:endParaRPr sz="1350">
              <a:latin typeface="Courier New"/>
              <a:ea typeface="Courier New"/>
              <a:cs typeface="Courier New"/>
              <a:sym typeface="Courier New"/>
            </a:endParaRPr>
          </a:p>
        </p:txBody>
      </p:sp>
      <p:pic>
        <p:nvPicPr>
          <p:cNvPr id="157" name="Google Shape;157;p10" title="Logo_Color.png"/>
          <p:cNvPicPr preferRelativeResize="0"/>
          <p:nvPr/>
        </p:nvPicPr>
        <p:blipFill>
          <a:blip r:embed="rId6">
            <a:alphaModFix/>
          </a:blip>
          <a:stretch>
            <a:fillRect/>
          </a:stretch>
        </p:blipFill>
        <p:spPr>
          <a:xfrm>
            <a:off x="16144875" y="0"/>
            <a:ext cx="1928827" cy="1928827"/>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11"/>
          <p:cNvSpPr txBox="1"/>
          <p:nvPr/>
        </p:nvSpPr>
        <p:spPr>
          <a:xfrm>
            <a:off x="1206499" y="633094"/>
            <a:ext cx="579120" cy="27686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1650">
                <a:solidFill>
                  <a:srgbClr val="3F8069"/>
                </a:solidFill>
                <a:latin typeface="Courier New"/>
                <a:ea typeface="Courier New"/>
                <a:cs typeface="Courier New"/>
                <a:sym typeface="Courier New"/>
              </a:rPr>
              <a:t>02.3</a:t>
            </a:r>
            <a:endParaRPr sz="1650">
              <a:latin typeface="Courier New"/>
              <a:ea typeface="Courier New"/>
              <a:cs typeface="Courier New"/>
              <a:sym typeface="Courier New"/>
            </a:endParaRPr>
          </a:p>
        </p:txBody>
      </p:sp>
      <p:sp>
        <p:nvSpPr>
          <p:cNvPr descr="$PPTXTitle" id="163" name="Google Shape;163;p11"/>
          <p:cNvSpPr txBox="1"/>
          <p:nvPr>
            <p:ph type="title"/>
          </p:nvPr>
        </p:nvSpPr>
        <p:spPr>
          <a:xfrm>
            <a:off x="1206499" y="1224597"/>
            <a:ext cx="9653270" cy="688339"/>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Agentic AI</a:t>
            </a:r>
            <a:endParaRPr/>
          </a:p>
        </p:txBody>
      </p:sp>
      <p:sp>
        <p:nvSpPr>
          <p:cNvPr id="164" name="Google Shape;164;p11"/>
          <p:cNvSpPr/>
          <p:nvPr/>
        </p:nvSpPr>
        <p:spPr>
          <a:xfrm>
            <a:off x="1219199" y="2152650"/>
            <a:ext cx="15849600" cy="19050"/>
          </a:xfrm>
          <a:custGeom>
            <a:rect b="b" l="l" r="r" t="t"/>
            <a:pathLst>
              <a:path extrusionOk="0" h="19050" w="15849600">
                <a:moveTo>
                  <a:pt x="15849600" y="19050"/>
                </a:moveTo>
                <a:lnTo>
                  <a:pt x="0" y="19050"/>
                </a:lnTo>
                <a:lnTo>
                  <a:pt x="0" y="0"/>
                </a:lnTo>
                <a:lnTo>
                  <a:pt x="15849600" y="0"/>
                </a:lnTo>
                <a:lnTo>
                  <a:pt x="15849600" y="19050"/>
                </a:lnTo>
                <a:close/>
              </a:path>
            </a:pathLst>
          </a:custGeom>
          <a:solidFill>
            <a:srgbClr val="D8DEDA"/>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pic>
        <p:nvPicPr>
          <p:cNvPr id="165" name="Google Shape;165;p11"/>
          <p:cNvPicPr preferRelativeResize="0"/>
          <p:nvPr/>
        </p:nvPicPr>
        <p:blipFill rotWithShape="1">
          <a:blip r:embed="rId3">
            <a:alphaModFix/>
          </a:blip>
          <a:srcRect b="0" l="0" r="0" t="0"/>
          <a:stretch/>
        </p:blipFill>
        <p:spPr>
          <a:xfrm>
            <a:off x="1028700" y="5345875"/>
            <a:ext cx="7543800" cy="2905150"/>
          </a:xfrm>
          <a:prstGeom prst="rect">
            <a:avLst/>
          </a:prstGeom>
          <a:noFill/>
          <a:ln>
            <a:noFill/>
          </a:ln>
        </p:spPr>
      </p:pic>
      <p:pic>
        <p:nvPicPr>
          <p:cNvPr id="166" name="Google Shape;166;p11"/>
          <p:cNvPicPr preferRelativeResize="0"/>
          <p:nvPr/>
        </p:nvPicPr>
        <p:blipFill rotWithShape="1">
          <a:blip r:embed="rId4">
            <a:alphaModFix/>
          </a:blip>
          <a:srcRect b="0" l="0" r="0" t="0"/>
          <a:stretch/>
        </p:blipFill>
        <p:spPr>
          <a:xfrm>
            <a:off x="8867175" y="5329675"/>
            <a:ext cx="9068400" cy="2905150"/>
          </a:xfrm>
          <a:prstGeom prst="rect">
            <a:avLst/>
          </a:prstGeom>
          <a:noFill/>
          <a:ln>
            <a:noFill/>
          </a:ln>
        </p:spPr>
      </p:pic>
      <p:sp>
        <p:nvSpPr>
          <p:cNvPr id="167" name="Google Shape;167;p11"/>
          <p:cNvSpPr txBox="1"/>
          <p:nvPr/>
        </p:nvSpPr>
        <p:spPr>
          <a:xfrm>
            <a:off x="1016000" y="2608573"/>
            <a:ext cx="16943100" cy="2079600"/>
          </a:xfrm>
          <a:prstGeom prst="rect">
            <a:avLst/>
          </a:prstGeom>
          <a:noFill/>
          <a:ln>
            <a:noFill/>
          </a:ln>
        </p:spPr>
        <p:txBody>
          <a:bodyPr anchorCtr="0" anchor="t" bIns="0" lIns="0" spcFirstLastPara="1" rIns="0" wrap="square" tIns="12050">
            <a:spAutoFit/>
          </a:bodyPr>
          <a:lstStyle/>
          <a:p>
            <a:pPr indent="0" lvl="0" marL="12700" marR="5080" rtl="0" algn="just">
              <a:lnSpc>
                <a:spcPct val="115900"/>
              </a:lnSpc>
              <a:spcBef>
                <a:spcPts val="0"/>
              </a:spcBef>
              <a:spcAft>
                <a:spcPts val="0"/>
              </a:spcAft>
              <a:buNone/>
            </a:pPr>
            <a:r>
              <a:rPr lang="en-US" sz="3000">
                <a:latin typeface="Verdana"/>
                <a:ea typeface="Verdana"/>
                <a:cs typeface="Verdana"/>
                <a:sym typeface="Verdana"/>
              </a:rPr>
              <a:t>While the terms "agentic AI" and "AI agents" are often used together, there is a subtle difference. AI agents are the building blocks of agentic AI. Think of AI agents as individual tools in a toolbox, while agentic AI is the coordinated use of those tools to build an entire house.</a:t>
            </a:r>
            <a:endParaRPr sz="3000">
              <a:latin typeface="Verdana"/>
              <a:ea typeface="Verdana"/>
              <a:cs typeface="Verdana"/>
              <a:sym typeface="Verdana"/>
            </a:endParaRPr>
          </a:p>
        </p:txBody>
      </p:sp>
      <p:sp>
        <p:nvSpPr>
          <p:cNvPr id="168" name="Google Shape;168;p11"/>
          <p:cNvSpPr txBox="1"/>
          <p:nvPr/>
        </p:nvSpPr>
        <p:spPr>
          <a:xfrm>
            <a:off x="1206499" y="9614693"/>
            <a:ext cx="1061085" cy="248285"/>
          </a:xfrm>
          <a:prstGeom prst="rect">
            <a:avLst/>
          </a:prstGeom>
          <a:noFill/>
          <a:ln>
            <a:noFill/>
          </a:ln>
        </p:spPr>
        <p:txBody>
          <a:bodyPr anchorCtr="0" anchor="t" bIns="0" lIns="0" spcFirstLastPara="1" rIns="0" wrap="square" tIns="16500">
            <a:spAutoFit/>
          </a:bodyPr>
          <a:lstStyle/>
          <a:p>
            <a:pPr indent="0" lvl="0" marL="12700" rtl="0" algn="l">
              <a:lnSpc>
                <a:spcPct val="100000"/>
              </a:lnSpc>
              <a:spcBef>
                <a:spcPts val="0"/>
              </a:spcBef>
              <a:spcAft>
                <a:spcPts val="0"/>
              </a:spcAft>
              <a:buNone/>
            </a:pPr>
            <a:r>
              <a:rPr b="1" lang="en-US" sz="1350">
                <a:solidFill>
                  <a:srgbClr val="3F8069"/>
                </a:solidFill>
                <a:latin typeface="Courier New"/>
                <a:ea typeface="Courier New"/>
                <a:cs typeface="Courier New"/>
                <a:sym typeface="Courier New"/>
              </a:rPr>
              <a:t>SPRING AI</a:t>
            </a:r>
            <a:endParaRPr sz="1350">
              <a:latin typeface="Courier New"/>
              <a:ea typeface="Courier New"/>
              <a:cs typeface="Courier New"/>
              <a:sym typeface="Courier New"/>
            </a:endParaRPr>
          </a:p>
        </p:txBody>
      </p:sp>
      <p:pic>
        <p:nvPicPr>
          <p:cNvPr id="169" name="Google Shape;169;p11" title="Logo_Color.png"/>
          <p:cNvPicPr preferRelativeResize="0"/>
          <p:nvPr/>
        </p:nvPicPr>
        <p:blipFill>
          <a:blip r:embed="rId5">
            <a:alphaModFix/>
          </a:blip>
          <a:stretch>
            <a:fillRect/>
          </a:stretch>
        </p:blipFill>
        <p:spPr>
          <a:xfrm>
            <a:off x="16144875" y="0"/>
            <a:ext cx="1928827" cy="1928827"/>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12"/>
          <p:cNvSpPr txBox="1"/>
          <p:nvPr/>
        </p:nvSpPr>
        <p:spPr>
          <a:xfrm>
            <a:off x="1206499" y="633094"/>
            <a:ext cx="579120" cy="27686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1650">
                <a:solidFill>
                  <a:srgbClr val="3F8069"/>
                </a:solidFill>
                <a:latin typeface="Courier New"/>
                <a:ea typeface="Courier New"/>
                <a:cs typeface="Courier New"/>
                <a:sym typeface="Courier New"/>
              </a:rPr>
              <a:t>02.4</a:t>
            </a:r>
            <a:endParaRPr sz="1650">
              <a:latin typeface="Courier New"/>
              <a:ea typeface="Courier New"/>
              <a:cs typeface="Courier New"/>
              <a:sym typeface="Courier New"/>
            </a:endParaRPr>
          </a:p>
        </p:txBody>
      </p:sp>
      <p:sp>
        <p:nvSpPr>
          <p:cNvPr descr="$PPTXTitle" id="175" name="Google Shape;175;p12"/>
          <p:cNvSpPr txBox="1"/>
          <p:nvPr>
            <p:ph type="title"/>
          </p:nvPr>
        </p:nvSpPr>
        <p:spPr>
          <a:xfrm>
            <a:off x="1206499" y="1224597"/>
            <a:ext cx="9653270" cy="688339"/>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Spring AI</a:t>
            </a:r>
            <a:endParaRPr/>
          </a:p>
        </p:txBody>
      </p:sp>
      <p:sp>
        <p:nvSpPr>
          <p:cNvPr id="176" name="Google Shape;176;p12"/>
          <p:cNvSpPr/>
          <p:nvPr/>
        </p:nvSpPr>
        <p:spPr>
          <a:xfrm>
            <a:off x="1219199" y="2152650"/>
            <a:ext cx="15849600" cy="19050"/>
          </a:xfrm>
          <a:custGeom>
            <a:rect b="b" l="l" r="r" t="t"/>
            <a:pathLst>
              <a:path extrusionOk="0" h="19050" w="15849600">
                <a:moveTo>
                  <a:pt x="15849600" y="19050"/>
                </a:moveTo>
                <a:lnTo>
                  <a:pt x="0" y="19050"/>
                </a:lnTo>
                <a:lnTo>
                  <a:pt x="0" y="0"/>
                </a:lnTo>
                <a:lnTo>
                  <a:pt x="15849600" y="0"/>
                </a:lnTo>
                <a:lnTo>
                  <a:pt x="15849600" y="19050"/>
                </a:lnTo>
                <a:close/>
              </a:path>
            </a:pathLst>
          </a:custGeom>
          <a:solidFill>
            <a:srgbClr val="D8DEDA"/>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pic>
        <p:nvPicPr>
          <p:cNvPr id="177" name="Google Shape;177;p12"/>
          <p:cNvPicPr preferRelativeResize="0"/>
          <p:nvPr/>
        </p:nvPicPr>
        <p:blipFill rotWithShape="1">
          <a:blip r:embed="rId3">
            <a:alphaModFix/>
          </a:blip>
          <a:srcRect b="0" l="0" r="0" t="0"/>
          <a:stretch/>
        </p:blipFill>
        <p:spPr>
          <a:xfrm>
            <a:off x="11886990" y="3929281"/>
            <a:ext cx="6019799" cy="3952874"/>
          </a:xfrm>
          <a:prstGeom prst="rect">
            <a:avLst/>
          </a:prstGeom>
          <a:noFill/>
          <a:ln>
            <a:noFill/>
          </a:ln>
        </p:spPr>
      </p:pic>
      <p:pic>
        <p:nvPicPr>
          <p:cNvPr id="178" name="Google Shape;178;p12"/>
          <p:cNvPicPr preferRelativeResize="0"/>
          <p:nvPr/>
        </p:nvPicPr>
        <p:blipFill rotWithShape="1">
          <a:blip r:embed="rId4">
            <a:alphaModFix/>
          </a:blip>
          <a:srcRect b="0" l="0" r="0" t="0"/>
          <a:stretch/>
        </p:blipFill>
        <p:spPr>
          <a:xfrm>
            <a:off x="1200149" y="2550159"/>
            <a:ext cx="104775" cy="104774"/>
          </a:xfrm>
          <a:prstGeom prst="rect">
            <a:avLst/>
          </a:prstGeom>
          <a:noFill/>
          <a:ln>
            <a:noFill/>
          </a:ln>
        </p:spPr>
      </p:pic>
      <p:pic>
        <p:nvPicPr>
          <p:cNvPr id="179" name="Google Shape;179;p12"/>
          <p:cNvPicPr preferRelativeResize="0"/>
          <p:nvPr/>
        </p:nvPicPr>
        <p:blipFill rotWithShape="1">
          <a:blip r:embed="rId4">
            <a:alphaModFix/>
          </a:blip>
          <a:srcRect b="0" l="0" r="0" t="0"/>
          <a:stretch/>
        </p:blipFill>
        <p:spPr>
          <a:xfrm>
            <a:off x="1200149" y="3997959"/>
            <a:ext cx="104775" cy="104774"/>
          </a:xfrm>
          <a:prstGeom prst="rect">
            <a:avLst/>
          </a:prstGeom>
          <a:noFill/>
          <a:ln>
            <a:noFill/>
          </a:ln>
        </p:spPr>
      </p:pic>
      <p:pic>
        <p:nvPicPr>
          <p:cNvPr id="180" name="Google Shape;180;p12"/>
          <p:cNvPicPr preferRelativeResize="0"/>
          <p:nvPr/>
        </p:nvPicPr>
        <p:blipFill rotWithShape="1">
          <a:blip r:embed="rId4">
            <a:alphaModFix/>
          </a:blip>
          <a:srcRect b="0" l="0" r="0" t="0"/>
          <a:stretch/>
        </p:blipFill>
        <p:spPr>
          <a:xfrm>
            <a:off x="1200149" y="5083809"/>
            <a:ext cx="104775" cy="104774"/>
          </a:xfrm>
          <a:prstGeom prst="rect">
            <a:avLst/>
          </a:prstGeom>
          <a:noFill/>
          <a:ln>
            <a:noFill/>
          </a:ln>
        </p:spPr>
      </p:pic>
      <p:pic>
        <p:nvPicPr>
          <p:cNvPr id="181" name="Google Shape;181;p12"/>
          <p:cNvPicPr preferRelativeResize="0"/>
          <p:nvPr/>
        </p:nvPicPr>
        <p:blipFill rotWithShape="1">
          <a:blip r:embed="rId4">
            <a:alphaModFix/>
          </a:blip>
          <a:srcRect b="0" l="0" r="0" t="0"/>
          <a:stretch/>
        </p:blipFill>
        <p:spPr>
          <a:xfrm>
            <a:off x="1200149" y="5445759"/>
            <a:ext cx="104775" cy="104774"/>
          </a:xfrm>
          <a:prstGeom prst="rect">
            <a:avLst/>
          </a:prstGeom>
          <a:noFill/>
          <a:ln>
            <a:noFill/>
          </a:ln>
        </p:spPr>
      </p:pic>
      <p:pic>
        <p:nvPicPr>
          <p:cNvPr id="182" name="Google Shape;182;p12"/>
          <p:cNvPicPr preferRelativeResize="0"/>
          <p:nvPr/>
        </p:nvPicPr>
        <p:blipFill rotWithShape="1">
          <a:blip r:embed="rId4">
            <a:alphaModFix/>
          </a:blip>
          <a:srcRect b="0" l="0" r="0" t="0"/>
          <a:stretch/>
        </p:blipFill>
        <p:spPr>
          <a:xfrm>
            <a:off x="1200149" y="6893559"/>
            <a:ext cx="104775" cy="104774"/>
          </a:xfrm>
          <a:prstGeom prst="rect">
            <a:avLst/>
          </a:prstGeom>
          <a:noFill/>
          <a:ln>
            <a:noFill/>
          </a:ln>
        </p:spPr>
      </p:pic>
      <p:pic>
        <p:nvPicPr>
          <p:cNvPr id="183" name="Google Shape;183;p12"/>
          <p:cNvPicPr preferRelativeResize="0"/>
          <p:nvPr/>
        </p:nvPicPr>
        <p:blipFill rotWithShape="1">
          <a:blip r:embed="rId4">
            <a:alphaModFix/>
          </a:blip>
          <a:srcRect b="0" l="0" r="0" t="0"/>
          <a:stretch/>
        </p:blipFill>
        <p:spPr>
          <a:xfrm>
            <a:off x="1200149" y="7617459"/>
            <a:ext cx="104775" cy="104774"/>
          </a:xfrm>
          <a:prstGeom prst="rect">
            <a:avLst/>
          </a:prstGeom>
          <a:noFill/>
          <a:ln>
            <a:noFill/>
          </a:ln>
        </p:spPr>
      </p:pic>
      <p:pic>
        <p:nvPicPr>
          <p:cNvPr id="184" name="Google Shape;184;p12"/>
          <p:cNvPicPr preferRelativeResize="0"/>
          <p:nvPr/>
        </p:nvPicPr>
        <p:blipFill rotWithShape="1">
          <a:blip r:embed="rId4">
            <a:alphaModFix/>
          </a:blip>
          <a:srcRect b="0" l="0" r="0" t="0"/>
          <a:stretch/>
        </p:blipFill>
        <p:spPr>
          <a:xfrm>
            <a:off x="1200149" y="8703309"/>
            <a:ext cx="104775" cy="104774"/>
          </a:xfrm>
          <a:prstGeom prst="rect">
            <a:avLst/>
          </a:prstGeom>
          <a:noFill/>
          <a:ln>
            <a:noFill/>
          </a:ln>
        </p:spPr>
      </p:pic>
      <p:sp>
        <p:nvSpPr>
          <p:cNvPr id="185" name="Google Shape;185;p12"/>
          <p:cNvSpPr txBox="1"/>
          <p:nvPr>
            <p:ph idx="1" type="body"/>
          </p:nvPr>
        </p:nvSpPr>
        <p:spPr>
          <a:xfrm>
            <a:off x="830450" y="2379975"/>
            <a:ext cx="11056500" cy="7381800"/>
          </a:xfrm>
          <a:prstGeom prst="rect">
            <a:avLst/>
          </a:prstGeom>
          <a:noFill/>
          <a:ln>
            <a:noFill/>
          </a:ln>
        </p:spPr>
        <p:txBody>
          <a:bodyPr anchorCtr="0" anchor="t" bIns="0" lIns="0" spcFirstLastPara="1" rIns="0" wrap="square" tIns="12050">
            <a:spAutoFit/>
          </a:bodyPr>
          <a:lstStyle/>
          <a:p>
            <a:pPr indent="0" lvl="0" marL="12700" marR="365125" rtl="0" algn="l">
              <a:lnSpc>
                <a:spcPct val="115900"/>
              </a:lnSpc>
              <a:spcBef>
                <a:spcPts val="0"/>
              </a:spcBef>
              <a:spcAft>
                <a:spcPts val="0"/>
              </a:spcAft>
              <a:buNone/>
            </a:pPr>
            <a:r>
              <a:rPr lang="en-US" sz="2100"/>
              <a:t>Support for all major AI Model providers such as Anthropic, OpenAI, Microsoft, Amazon, Google, and Ollama. Supported model types include: Chat Completion, Embedding, Text to Image, Audio Transcription, Text to Speech, Moderation</a:t>
            </a:r>
            <a:endParaRPr sz="2100"/>
          </a:p>
          <a:p>
            <a:pPr indent="0" lvl="0" marL="12700" marR="560705" rtl="0" algn="l">
              <a:lnSpc>
                <a:spcPct val="142500"/>
              </a:lnSpc>
              <a:spcBef>
                <a:spcPts val="160"/>
              </a:spcBef>
              <a:spcAft>
                <a:spcPts val="0"/>
              </a:spcAft>
              <a:buNone/>
            </a:pPr>
            <a:r>
              <a:rPr lang="en-US" sz="2100"/>
              <a:t>Portable API support across AI providers for both </a:t>
            </a:r>
            <a:r>
              <a:rPr b="1" lang="en-US" sz="2100">
                <a:latin typeface="Tahoma"/>
                <a:ea typeface="Tahoma"/>
                <a:cs typeface="Tahoma"/>
                <a:sym typeface="Tahoma"/>
              </a:rPr>
              <a:t>synchronous </a:t>
            </a:r>
            <a:r>
              <a:rPr lang="en-US" sz="2100"/>
              <a:t>and </a:t>
            </a:r>
            <a:r>
              <a:rPr b="1" lang="en-US" sz="2100">
                <a:latin typeface="Tahoma"/>
                <a:ea typeface="Tahoma"/>
                <a:cs typeface="Tahoma"/>
                <a:sym typeface="Tahoma"/>
              </a:rPr>
              <a:t>streaming API </a:t>
            </a:r>
            <a:r>
              <a:rPr lang="en-US" sz="2100"/>
              <a:t>options are supported. Access to model-specific features is also available.</a:t>
            </a:r>
            <a:endParaRPr sz="2100"/>
          </a:p>
          <a:p>
            <a:pPr indent="0" lvl="0" marL="12700" marR="462915" rtl="0" algn="l">
              <a:lnSpc>
                <a:spcPct val="142500"/>
              </a:lnSpc>
              <a:spcBef>
                <a:spcPts val="0"/>
              </a:spcBef>
              <a:spcAft>
                <a:spcPts val="0"/>
              </a:spcAft>
              <a:buNone/>
            </a:pPr>
            <a:r>
              <a:rPr b="1" lang="en-US" sz="2100">
                <a:latin typeface="Tahoma"/>
                <a:ea typeface="Tahoma"/>
                <a:cs typeface="Tahoma"/>
                <a:sym typeface="Tahoma"/>
              </a:rPr>
              <a:t>Structured Outputs </a:t>
            </a:r>
            <a:r>
              <a:rPr lang="en-US" sz="2100"/>
              <a:t>- Mapping of AI Model output to POJOs. Support for all major </a:t>
            </a:r>
            <a:r>
              <a:rPr b="1" lang="en-US" sz="2100">
                <a:latin typeface="Tahoma"/>
                <a:ea typeface="Tahoma"/>
                <a:cs typeface="Tahoma"/>
                <a:sym typeface="Tahoma"/>
              </a:rPr>
              <a:t>Vector Database </a:t>
            </a:r>
            <a:r>
              <a:rPr lang="en-US" sz="2100"/>
              <a:t>providers such as Apache Cassandra, Azure Vector Search, Chroma, Milvus, MongoDB Atlas, Neo4j, Oracle, PostgreSQL/PGVector, PineCone, Qdrant, Redis, and Weaviate.</a:t>
            </a:r>
            <a:endParaRPr sz="2100"/>
          </a:p>
          <a:p>
            <a:pPr indent="0" lvl="0" marL="12700" marR="5080" rtl="0" algn="l">
              <a:lnSpc>
                <a:spcPct val="142500"/>
              </a:lnSpc>
              <a:spcBef>
                <a:spcPts val="0"/>
              </a:spcBef>
              <a:spcAft>
                <a:spcPts val="0"/>
              </a:spcAft>
              <a:buNone/>
            </a:pPr>
            <a:r>
              <a:rPr lang="en-US" sz="2100"/>
              <a:t>Portable API across Vector Store providers, including a novel SQL-like metadata filter API.</a:t>
            </a:r>
            <a:endParaRPr sz="2100"/>
          </a:p>
          <a:p>
            <a:pPr indent="0" lvl="0" marL="12700" marR="24130" rtl="0" algn="l">
              <a:lnSpc>
                <a:spcPct val="142500"/>
              </a:lnSpc>
              <a:spcBef>
                <a:spcPts val="0"/>
              </a:spcBef>
              <a:spcAft>
                <a:spcPts val="0"/>
              </a:spcAft>
              <a:buNone/>
            </a:pPr>
            <a:r>
              <a:rPr b="1" lang="en-US" sz="2100">
                <a:latin typeface="Tahoma"/>
                <a:ea typeface="Tahoma"/>
                <a:cs typeface="Tahoma"/>
                <a:sym typeface="Tahoma"/>
              </a:rPr>
              <a:t>Tools/Function Calling </a:t>
            </a:r>
            <a:r>
              <a:rPr lang="en-US" sz="2100"/>
              <a:t>- permits the model to request the execution of client-side tools and functions, thereby accessing necessary real-time information as required.</a:t>
            </a:r>
            <a:endParaRPr sz="2100"/>
          </a:p>
          <a:p>
            <a:pPr indent="0" lvl="0" marL="12700" marR="720725" rtl="0" algn="l">
              <a:lnSpc>
                <a:spcPct val="142500"/>
              </a:lnSpc>
              <a:spcBef>
                <a:spcPts val="0"/>
              </a:spcBef>
              <a:spcAft>
                <a:spcPts val="0"/>
              </a:spcAft>
              <a:buNone/>
            </a:pPr>
            <a:r>
              <a:rPr lang="en-US" sz="2100"/>
              <a:t>Support for Chat Conversation Memory and Retrieval Augmented Generation (RAG).</a:t>
            </a:r>
            <a:endParaRPr sz="2100"/>
          </a:p>
        </p:txBody>
      </p:sp>
      <p:sp>
        <p:nvSpPr>
          <p:cNvPr id="186" name="Google Shape;186;p12"/>
          <p:cNvSpPr txBox="1"/>
          <p:nvPr/>
        </p:nvSpPr>
        <p:spPr>
          <a:xfrm>
            <a:off x="1206499" y="9614693"/>
            <a:ext cx="1061085" cy="248285"/>
          </a:xfrm>
          <a:prstGeom prst="rect">
            <a:avLst/>
          </a:prstGeom>
          <a:noFill/>
          <a:ln>
            <a:noFill/>
          </a:ln>
        </p:spPr>
        <p:txBody>
          <a:bodyPr anchorCtr="0" anchor="t" bIns="0" lIns="0" spcFirstLastPara="1" rIns="0" wrap="square" tIns="16500">
            <a:spAutoFit/>
          </a:bodyPr>
          <a:lstStyle/>
          <a:p>
            <a:pPr indent="0" lvl="0" marL="12700" rtl="0" algn="l">
              <a:lnSpc>
                <a:spcPct val="100000"/>
              </a:lnSpc>
              <a:spcBef>
                <a:spcPts val="0"/>
              </a:spcBef>
              <a:spcAft>
                <a:spcPts val="0"/>
              </a:spcAft>
              <a:buNone/>
            </a:pPr>
            <a:r>
              <a:rPr b="1" lang="en-US" sz="1350">
                <a:solidFill>
                  <a:srgbClr val="3F8069"/>
                </a:solidFill>
                <a:latin typeface="Courier New"/>
                <a:ea typeface="Courier New"/>
                <a:cs typeface="Courier New"/>
                <a:sym typeface="Courier New"/>
              </a:rPr>
              <a:t>SPRING AI</a:t>
            </a:r>
            <a:endParaRPr sz="1350">
              <a:latin typeface="Courier New"/>
              <a:ea typeface="Courier New"/>
              <a:cs typeface="Courier New"/>
              <a:sym typeface="Courier New"/>
            </a:endParaRPr>
          </a:p>
        </p:txBody>
      </p:sp>
      <p:pic>
        <p:nvPicPr>
          <p:cNvPr id="187" name="Google Shape;187;p12" title="Logo_Color.png"/>
          <p:cNvPicPr preferRelativeResize="0"/>
          <p:nvPr/>
        </p:nvPicPr>
        <p:blipFill>
          <a:blip r:embed="rId5">
            <a:alphaModFix/>
          </a:blip>
          <a:stretch>
            <a:fillRect/>
          </a:stretch>
        </p:blipFill>
        <p:spPr>
          <a:xfrm>
            <a:off x="16144875" y="0"/>
            <a:ext cx="1928827" cy="1928827"/>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13"/>
          <p:cNvSpPr txBox="1"/>
          <p:nvPr/>
        </p:nvSpPr>
        <p:spPr>
          <a:xfrm>
            <a:off x="1206499" y="633094"/>
            <a:ext cx="579120" cy="27686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1650">
                <a:solidFill>
                  <a:srgbClr val="3F8069"/>
                </a:solidFill>
                <a:latin typeface="Courier New"/>
                <a:ea typeface="Courier New"/>
                <a:cs typeface="Courier New"/>
                <a:sym typeface="Courier New"/>
              </a:rPr>
              <a:t>02.5</a:t>
            </a:r>
            <a:endParaRPr sz="1650">
              <a:latin typeface="Courier New"/>
              <a:ea typeface="Courier New"/>
              <a:cs typeface="Courier New"/>
              <a:sym typeface="Courier New"/>
            </a:endParaRPr>
          </a:p>
        </p:txBody>
      </p:sp>
      <p:sp>
        <p:nvSpPr>
          <p:cNvPr descr="$PPTXTitle" id="193" name="Google Shape;193;p13"/>
          <p:cNvSpPr txBox="1"/>
          <p:nvPr>
            <p:ph type="title"/>
          </p:nvPr>
        </p:nvSpPr>
        <p:spPr>
          <a:xfrm>
            <a:off x="1206500" y="1224600"/>
            <a:ext cx="13848900" cy="6825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Spring AI Core Concept - ChatClient</a:t>
            </a:r>
            <a:endParaRPr/>
          </a:p>
        </p:txBody>
      </p:sp>
      <p:sp>
        <p:nvSpPr>
          <p:cNvPr id="194" name="Google Shape;194;p13"/>
          <p:cNvSpPr/>
          <p:nvPr/>
        </p:nvSpPr>
        <p:spPr>
          <a:xfrm>
            <a:off x="1219199" y="2152650"/>
            <a:ext cx="15849600" cy="19050"/>
          </a:xfrm>
          <a:custGeom>
            <a:rect b="b" l="l" r="r" t="t"/>
            <a:pathLst>
              <a:path extrusionOk="0" h="19050" w="15849600">
                <a:moveTo>
                  <a:pt x="15849600" y="19050"/>
                </a:moveTo>
                <a:lnTo>
                  <a:pt x="0" y="19050"/>
                </a:lnTo>
                <a:lnTo>
                  <a:pt x="0" y="0"/>
                </a:lnTo>
                <a:lnTo>
                  <a:pt x="15849600" y="0"/>
                </a:lnTo>
                <a:lnTo>
                  <a:pt x="15849600" y="19050"/>
                </a:lnTo>
                <a:close/>
              </a:path>
            </a:pathLst>
          </a:custGeom>
          <a:solidFill>
            <a:srgbClr val="D8DEDA"/>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pic>
        <p:nvPicPr>
          <p:cNvPr id="195" name="Google Shape;195;p13"/>
          <p:cNvPicPr preferRelativeResize="0"/>
          <p:nvPr/>
        </p:nvPicPr>
        <p:blipFill rotWithShape="1">
          <a:blip r:embed="rId3">
            <a:alphaModFix/>
          </a:blip>
          <a:srcRect b="0" l="0" r="0" t="0"/>
          <a:stretch/>
        </p:blipFill>
        <p:spPr>
          <a:xfrm>
            <a:off x="9765055" y="2845570"/>
            <a:ext cx="8248649" cy="6476999"/>
          </a:xfrm>
          <a:prstGeom prst="rect">
            <a:avLst/>
          </a:prstGeom>
          <a:noFill/>
          <a:ln>
            <a:noFill/>
          </a:ln>
        </p:spPr>
      </p:pic>
      <p:pic>
        <p:nvPicPr>
          <p:cNvPr id="196" name="Google Shape;196;p13"/>
          <p:cNvPicPr preferRelativeResize="0"/>
          <p:nvPr/>
        </p:nvPicPr>
        <p:blipFill rotWithShape="1">
          <a:blip r:embed="rId4">
            <a:alphaModFix/>
          </a:blip>
          <a:srcRect b="0" l="0" r="0" t="0"/>
          <a:stretch/>
        </p:blipFill>
        <p:spPr>
          <a:xfrm>
            <a:off x="358287" y="2755432"/>
            <a:ext cx="9077324" cy="6657974"/>
          </a:xfrm>
          <a:prstGeom prst="rect">
            <a:avLst/>
          </a:prstGeom>
          <a:noFill/>
          <a:ln>
            <a:noFill/>
          </a:ln>
        </p:spPr>
      </p:pic>
      <p:sp>
        <p:nvSpPr>
          <p:cNvPr id="197" name="Google Shape;197;p13"/>
          <p:cNvSpPr txBox="1"/>
          <p:nvPr/>
        </p:nvSpPr>
        <p:spPr>
          <a:xfrm>
            <a:off x="1206499" y="9614693"/>
            <a:ext cx="1061085" cy="248285"/>
          </a:xfrm>
          <a:prstGeom prst="rect">
            <a:avLst/>
          </a:prstGeom>
          <a:noFill/>
          <a:ln>
            <a:noFill/>
          </a:ln>
        </p:spPr>
        <p:txBody>
          <a:bodyPr anchorCtr="0" anchor="t" bIns="0" lIns="0" spcFirstLastPara="1" rIns="0" wrap="square" tIns="16500">
            <a:spAutoFit/>
          </a:bodyPr>
          <a:lstStyle/>
          <a:p>
            <a:pPr indent="0" lvl="0" marL="12700" rtl="0" algn="l">
              <a:lnSpc>
                <a:spcPct val="100000"/>
              </a:lnSpc>
              <a:spcBef>
                <a:spcPts val="0"/>
              </a:spcBef>
              <a:spcAft>
                <a:spcPts val="0"/>
              </a:spcAft>
              <a:buNone/>
            </a:pPr>
            <a:r>
              <a:rPr b="1" lang="en-US" sz="1350">
                <a:solidFill>
                  <a:srgbClr val="3F8069"/>
                </a:solidFill>
                <a:latin typeface="Courier New"/>
                <a:ea typeface="Courier New"/>
                <a:cs typeface="Courier New"/>
                <a:sym typeface="Courier New"/>
              </a:rPr>
              <a:t>SPRING AI</a:t>
            </a:r>
            <a:endParaRPr sz="1350">
              <a:latin typeface="Courier New"/>
              <a:ea typeface="Courier New"/>
              <a:cs typeface="Courier New"/>
              <a:sym typeface="Courier New"/>
            </a:endParaRPr>
          </a:p>
        </p:txBody>
      </p:sp>
      <p:pic>
        <p:nvPicPr>
          <p:cNvPr id="198" name="Google Shape;198;p13" title="Logo_Color.png"/>
          <p:cNvPicPr preferRelativeResize="0"/>
          <p:nvPr/>
        </p:nvPicPr>
        <p:blipFill>
          <a:blip r:embed="rId5">
            <a:alphaModFix/>
          </a:blip>
          <a:stretch>
            <a:fillRect/>
          </a:stretch>
        </p:blipFill>
        <p:spPr>
          <a:xfrm>
            <a:off x="16144875" y="0"/>
            <a:ext cx="1928827" cy="1928827"/>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14"/>
          <p:cNvSpPr txBox="1"/>
          <p:nvPr/>
        </p:nvSpPr>
        <p:spPr>
          <a:xfrm>
            <a:off x="1206499" y="633094"/>
            <a:ext cx="579120" cy="27686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1650">
                <a:solidFill>
                  <a:srgbClr val="3F8069"/>
                </a:solidFill>
                <a:latin typeface="Courier New"/>
                <a:ea typeface="Courier New"/>
                <a:cs typeface="Courier New"/>
                <a:sym typeface="Courier New"/>
              </a:rPr>
              <a:t>02.6</a:t>
            </a:r>
            <a:endParaRPr sz="1650">
              <a:latin typeface="Courier New"/>
              <a:ea typeface="Courier New"/>
              <a:cs typeface="Courier New"/>
              <a:sym typeface="Courier New"/>
            </a:endParaRPr>
          </a:p>
        </p:txBody>
      </p:sp>
      <p:sp>
        <p:nvSpPr>
          <p:cNvPr descr="$PPTXTitle" id="204" name="Google Shape;204;p14"/>
          <p:cNvSpPr txBox="1"/>
          <p:nvPr>
            <p:ph type="ctrTitle"/>
          </p:nvPr>
        </p:nvSpPr>
        <p:spPr>
          <a:xfrm>
            <a:off x="1206499" y="1224597"/>
            <a:ext cx="9505315" cy="688339"/>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Practice 2: Spring AI</a:t>
            </a:r>
            <a:endParaRPr/>
          </a:p>
        </p:txBody>
      </p:sp>
      <p:sp>
        <p:nvSpPr>
          <p:cNvPr id="205" name="Google Shape;205;p14"/>
          <p:cNvSpPr/>
          <p:nvPr/>
        </p:nvSpPr>
        <p:spPr>
          <a:xfrm>
            <a:off x="1219199" y="2152650"/>
            <a:ext cx="15849600" cy="19050"/>
          </a:xfrm>
          <a:custGeom>
            <a:rect b="b" l="l" r="r" t="t"/>
            <a:pathLst>
              <a:path extrusionOk="0" h="19050" w="15849600">
                <a:moveTo>
                  <a:pt x="15849600" y="19050"/>
                </a:moveTo>
                <a:lnTo>
                  <a:pt x="0" y="19050"/>
                </a:lnTo>
                <a:lnTo>
                  <a:pt x="0" y="0"/>
                </a:lnTo>
                <a:lnTo>
                  <a:pt x="15849600" y="0"/>
                </a:lnTo>
                <a:lnTo>
                  <a:pt x="15849600" y="19050"/>
                </a:lnTo>
                <a:close/>
              </a:path>
            </a:pathLst>
          </a:custGeom>
          <a:solidFill>
            <a:srgbClr val="D8DEDA"/>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206" name="Google Shape;206;p14"/>
          <p:cNvSpPr txBox="1"/>
          <p:nvPr/>
        </p:nvSpPr>
        <p:spPr>
          <a:xfrm>
            <a:off x="1206499" y="2389552"/>
            <a:ext cx="9398635" cy="41402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2550">
                <a:latin typeface="Verdana"/>
                <a:ea typeface="Verdana"/>
                <a:cs typeface="Verdana"/>
                <a:sym typeface="Verdana"/>
              </a:rPr>
              <a:t>https://github.com/r ichard-truong/spring-ai-demo</a:t>
            </a:r>
            <a:endParaRPr sz="2550">
              <a:latin typeface="Verdana"/>
              <a:ea typeface="Verdana"/>
              <a:cs typeface="Verdana"/>
              <a:sym typeface="Verdana"/>
            </a:endParaRPr>
          </a:p>
        </p:txBody>
      </p:sp>
      <p:sp>
        <p:nvSpPr>
          <p:cNvPr id="207" name="Google Shape;207;p14"/>
          <p:cNvSpPr txBox="1"/>
          <p:nvPr/>
        </p:nvSpPr>
        <p:spPr>
          <a:xfrm>
            <a:off x="1206499" y="9614693"/>
            <a:ext cx="1061085" cy="248285"/>
          </a:xfrm>
          <a:prstGeom prst="rect">
            <a:avLst/>
          </a:prstGeom>
          <a:noFill/>
          <a:ln>
            <a:noFill/>
          </a:ln>
        </p:spPr>
        <p:txBody>
          <a:bodyPr anchorCtr="0" anchor="t" bIns="0" lIns="0" spcFirstLastPara="1" rIns="0" wrap="square" tIns="16500">
            <a:spAutoFit/>
          </a:bodyPr>
          <a:lstStyle/>
          <a:p>
            <a:pPr indent="0" lvl="0" marL="12700" rtl="0" algn="l">
              <a:lnSpc>
                <a:spcPct val="100000"/>
              </a:lnSpc>
              <a:spcBef>
                <a:spcPts val="0"/>
              </a:spcBef>
              <a:spcAft>
                <a:spcPts val="0"/>
              </a:spcAft>
              <a:buNone/>
            </a:pPr>
            <a:r>
              <a:rPr b="1" lang="en-US" sz="1350">
                <a:solidFill>
                  <a:srgbClr val="3F8069"/>
                </a:solidFill>
                <a:latin typeface="Courier New"/>
                <a:ea typeface="Courier New"/>
                <a:cs typeface="Courier New"/>
                <a:sym typeface="Courier New"/>
              </a:rPr>
              <a:t>SPRING AI</a:t>
            </a:r>
            <a:endParaRPr sz="1350">
              <a:latin typeface="Courier New"/>
              <a:ea typeface="Courier New"/>
              <a:cs typeface="Courier New"/>
              <a:sym typeface="Courier New"/>
            </a:endParaRPr>
          </a:p>
        </p:txBody>
      </p:sp>
      <p:pic>
        <p:nvPicPr>
          <p:cNvPr id="208" name="Google Shape;208;p14" title="Logo_Color.png"/>
          <p:cNvPicPr preferRelativeResize="0"/>
          <p:nvPr/>
        </p:nvPicPr>
        <p:blipFill>
          <a:blip r:embed="rId3">
            <a:alphaModFix/>
          </a:blip>
          <a:stretch>
            <a:fillRect/>
          </a:stretch>
        </p:blipFill>
        <p:spPr>
          <a:xfrm>
            <a:off x="16144875" y="0"/>
            <a:ext cx="1928827" cy="1928827"/>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12" name="Shape 212"/>
        <p:cNvGrpSpPr/>
        <p:nvPr/>
      </p:nvGrpSpPr>
      <p:grpSpPr>
        <a:xfrm>
          <a:off x="0" y="0"/>
          <a:ext cx="0" cy="0"/>
          <a:chOff x="0" y="0"/>
          <a:chExt cx="0" cy="0"/>
        </a:xfrm>
      </p:grpSpPr>
      <p:sp>
        <p:nvSpPr>
          <p:cNvPr id="213" name="Google Shape;213;p15"/>
          <p:cNvSpPr/>
          <p:nvPr/>
        </p:nvSpPr>
        <p:spPr>
          <a:xfrm>
            <a:off x="0" y="0"/>
            <a:ext cx="18288000" cy="10287000"/>
          </a:xfrm>
          <a:custGeom>
            <a:rect b="b" l="l" r="r" t="t"/>
            <a:pathLst>
              <a:path extrusionOk="0" h="10287000" w="18288000">
                <a:moveTo>
                  <a:pt x="18287998" y="10286999"/>
                </a:moveTo>
                <a:lnTo>
                  <a:pt x="0" y="10286999"/>
                </a:lnTo>
                <a:lnTo>
                  <a:pt x="0" y="0"/>
                </a:lnTo>
                <a:lnTo>
                  <a:pt x="18287998" y="0"/>
                </a:lnTo>
                <a:lnTo>
                  <a:pt x="18287998" y="10286999"/>
                </a:lnTo>
                <a:close/>
              </a:path>
            </a:pathLst>
          </a:custGeom>
          <a:solidFill>
            <a:srgbClr val="17324D"/>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descr="$PPTXTitle" id="214" name="Google Shape;214;p15"/>
          <p:cNvSpPr txBox="1"/>
          <p:nvPr>
            <p:ph type="title"/>
          </p:nvPr>
        </p:nvSpPr>
        <p:spPr>
          <a:xfrm>
            <a:off x="1206500" y="2024225"/>
            <a:ext cx="3531900" cy="9132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5850">
                <a:solidFill>
                  <a:srgbClr val="FFFFFF"/>
                </a:solidFill>
              </a:rPr>
              <a:t>Sumary</a:t>
            </a:r>
            <a:endParaRPr sz="5850"/>
          </a:p>
        </p:txBody>
      </p:sp>
      <p:sp>
        <p:nvSpPr>
          <p:cNvPr id="215" name="Google Shape;215;p15"/>
          <p:cNvSpPr/>
          <p:nvPr/>
        </p:nvSpPr>
        <p:spPr>
          <a:xfrm>
            <a:off x="1219199" y="4524375"/>
            <a:ext cx="1524000" cy="47625"/>
          </a:xfrm>
          <a:custGeom>
            <a:rect b="b" l="l" r="r" t="t"/>
            <a:pathLst>
              <a:path extrusionOk="0" h="47625" w="1524000">
                <a:moveTo>
                  <a:pt x="1523999" y="47624"/>
                </a:moveTo>
                <a:lnTo>
                  <a:pt x="0" y="47624"/>
                </a:lnTo>
                <a:lnTo>
                  <a:pt x="0" y="0"/>
                </a:lnTo>
                <a:lnTo>
                  <a:pt x="1523999" y="0"/>
                </a:lnTo>
                <a:lnTo>
                  <a:pt x="1523999" y="47624"/>
                </a:lnTo>
                <a:close/>
              </a:path>
            </a:pathLst>
          </a:custGeom>
          <a:solidFill>
            <a:srgbClr val="3F8069"/>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216" name="Google Shape;216;p15"/>
          <p:cNvSpPr txBox="1"/>
          <p:nvPr/>
        </p:nvSpPr>
        <p:spPr>
          <a:xfrm>
            <a:off x="1206499" y="5006975"/>
            <a:ext cx="7664450" cy="1130300"/>
          </a:xfrm>
          <a:prstGeom prst="rect">
            <a:avLst/>
          </a:prstGeom>
          <a:noFill/>
          <a:ln>
            <a:noFill/>
          </a:ln>
        </p:spPr>
        <p:txBody>
          <a:bodyPr anchorCtr="0" anchor="t" bIns="0" lIns="0" spcFirstLastPara="1" rIns="0" wrap="square" tIns="12700">
            <a:spAutoFit/>
          </a:bodyPr>
          <a:lstStyle/>
          <a:p>
            <a:pPr indent="-444500" lvl="0" marL="457200" rtl="0" algn="l">
              <a:lnSpc>
                <a:spcPct val="100000"/>
              </a:lnSpc>
              <a:spcBef>
                <a:spcPts val="0"/>
              </a:spcBef>
              <a:spcAft>
                <a:spcPts val="0"/>
              </a:spcAft>
              <a:buClr>
                <a:srgbClr val="FFFFFF"/>
              </a:buClr>
              <a:buSzPts val="2250"/>
              <a:buFont typeface="Verdana"/>
              <a:buAutoNum type="arabicPeriod"/>
            </a:pPr>
            <a:r>
              <a:rPr lang="en-US" sz="2250">
                <a:solidFill>
                  <a:srgbClr val="FFFFFF"/>
                </a:solidFill>
                <a:latin typeface="Verdana"/>
                <a:ea typeface="Verdana"/>
                <a:cs typeface="Verdana"/>
                <a:sym typeface="Verdana"/>
              </a:rPr>
              <a:t>Hiểu về kiến trúc Clean/Hexagonal Architect</a:t>
            </a:r>
            <a:endParaRPr sz="2250">
              <a:latin typeface="Verdana"/>
              <a:ea typeface="Verdana"/>
              <a:cs typeface="Verdana"/>
              <a:sym typeface="Verdana"/>
            </a:endParaRPr>
          </a:p>
          <a:p>
            <a:pPr indent="0" lvl="0" marL="0" rtl="0" algn="l">
              <a:lnSpc>
                <a:spcPct val="100000"/>
              </a:lnSpc>
              <a:spcBef>
                <a:spcPts val="565"/>
              </a:spcBef>
              <a:spcAft>
                <a:spcPts val="0"/>
              </a:spcAft>
              <a:buClr>
                <a:srgbClr val="FFFFFF"/>
              </a:buClr>
              <a:buSzPts val="2250"/>
              <a:buFont typeface="Verdana"/>
              <a:buNone/>
            </a:pPr>
            <a:r>
              <a:t/>
            </a:r>
            <a:endParaRPr sz="2250">
              <a:latin typeface="Verdana"/>
              <a:ea typeface="Verdana"/>
              <a:cs typeface="Verdana"/>
              <a:sym typeface="Verdana"/>
            </a:endParaRPr>
          </a:p>
          <a:p>
            <a:pPr indent="-471170" lvl="0" marL="483870" rtl="0" algn="l">
              <a:lnSpc>
                <a:spcPct val="100000"/>
              </a:lnSpc>
              <a:spcBef>
                <a:spcPts val="0"/>
              </a:spcBef>
              <a:spcAft>
                <a:spcPts val="0"/>
              </a:spcAft>
              <a:buClr>
                <a:srgbClr val="FFFFFF"/>
              </a:buClr>
              <a:buSzPts val="2250"/>
              <a:buFont typeface="Verdana"/>
              <a:buAutoNum type="arabicPeriod"/>
            </a:pPr>
            <a:r>
              <a:rPr lang="en-US" sz="2250">
                <a:solidFill>
                  <a:srgbClr val="FFFFFF"/>
                </a:solidFill>
                <a:latin typeface="Verdana"/>
                <a:ea typeface="Verdana"/>
                <a:cs typeface="Verdana"/>
                <a:sym typeface="Verdana"/>
              </a:rPr>
              <a:t>Tìm hiểu về Spring AI và phát triển ứng dụng đầu tiên</a:t>
            </a:r>
            <a:endParaRPr sz="2250">
              <a:latin typeface="Verdana"/>
              <a:ea typeface="Verdana"/>
              <a:cs typeface="Verdana"/>
              <a:sym typeface="Verdana"/>
            </a:endParaRPr>
          </a:p>
        </p:txBody>
      </p:sp>
      <p:pic>
        <p:nvPicPr>
          <p:cNvPr id="217" name="Google Shape;217;p15" title="Logo_white.png"/>
          <p:cNvPicPr preferRelativeResize="0"/>
          <p:nvPr/>
        </p:nvPicPr>
        <p:blipFill>
          <a:blip r:embed="rId3">
            <a:alphaModFix/>
          </a:blip>
          <a:stretch>
            <a:fillRect/>
          </a:stretch>
        </p:blipFill>
        <p:spPr>
          <a:xfrm>
            <a:off x="15939500" y="167000"/>
            <a:ext cx="2051400" cy="168145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2026-08-24T04:47:41Z</dcterms:created>
  <dc:creator>Bình Trương</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verter">
    <vt:lpwstr>SolidFramework v10.0.19910.1</vt:lpwstr>
  </property>
  <property fmtid="{D5CDD505-2E9C-101B-9397-08002B2CF9AE}" pid="3" name="Created">
    <vt:filetime>2026-08-20T00:00:00Z</vt:filetime>
  </property>
  <property fmtid="{D5CDD505-2E9C-101B-9397-08002B2CF9AE}" pid="4" name="Creator">
    <vt:lpwstr>Canva</vt:lpwstr>
  </property>
  <property fmtid="{D5CDD505-2E9C-101B-9397-08002B2CF9AE}" pid="5" name="LastSaved">
    <vt:filetime>2026-08-24T00:00:00Z</vt:filetime>
  </property>
  <property fmtid="{D5CDD505-2E9C-101B-9397-08002B2CF9AE}" pid="6" name="Producer">
    <vt:lpwstr>Canva</vt:lpwstr>
  </property>
</Properties>
</file>