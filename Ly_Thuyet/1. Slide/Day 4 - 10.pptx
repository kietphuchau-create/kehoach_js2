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IBM Plex Mono"/>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i4hZf927+fthk6Msunna1h3QAx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Mono-bold.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IBMPlex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9.png"/><Relationship Id="rId7"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vmlDrawing" Target="../drawings/vmlDrawing2.vml"/><Relationship Id="rId4" Type="http://schemas.openxmlformats.org/officeDocument/2006/relationships/image" Target="../media/image20.png"/><Relationship Id="rId5" Type="http://schemas.openxmlformats.org/officeDocument/2006/relationships/oleObject" Target="../embeddings/oleObject2.bin"/><Relationship Id="rId6" Type="http://schemas.openxmlformats.org/officeDocument/2006/relationships/oleObject" Target="../embeddings/oleObject2.bin"/><Relationship Id="rId7" Type="http://schemas.openxmlformats.org/officeDocument/2006/relationships/image" Target="../media/image16.png"/><Relationship Id="rId8"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21.png"/><Relationship Id="rId7"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83" name="Shape 83"/>
        <p:cNvGrpSpPr/>
        <p:nvPr/>
      </p:nvGrpSpPr>
      <p:grpSpPr>
        <a:xfrm>
          <a:off x="0" y="0"/>
          <a:ext cx="0" cy="0"/>
          <a:chOff x="0" y="0"/>
          <a:chExt cx="0" cy="0"/>
        </a:xfrm>
      </p:grpSpPr>
      <p:grpSp>
        <p:nvGrpSpPr>
          <p:cNvPr id="84" name="Google Shape;84;p1"/>
          <p:cNvGrpSpPr/>
          <p:nvPr/>
        </p:nvGrpSpPr>
        <p:grpSpPr>
          <a:xfrm>
            <a:off x="0" y="-28575"/>
            <a:ext cx="209550" cy="10315575"/>
            <a:chOff x="0" y="-38100"/>
            <a:chExt cx="279400" cy="13754100"/>
          </a:xfrm>
        </p:grpSpPr>
        <p:sp>
          <p:nvSpPr>
            <p:cNvPr id="85" name="Google Shape;85;p1"/>
            <p:cNvSpPr/>
            <p:nvPr/>
          </p:nvSpPr>
          <p:spPr>
            <a:xfrm>
              <a:off x="0" y="0"/>
              <a:ext cx="279400" cy="13716000"/>
            </a:xfrm>
            <a:custGeom>
              <a:rect b="b" l="l" r="r" t="t"/>
              <a:pathLst>
                <a:path extrusionOk="0" h="13716000" w="279400">
                  <a:moveTo>
                    <a:pt x="0" y="0"/>
                  </a:moveTo>
                  <a:lnTo>
                    <a:pt x="279400" y="0"/>
                  </a:lnTo>
                  <a:lnTo>
                    <a:pt x="279400" y="13716000"/>
                  </a:lnTo>
                  <a:lnTo>
                    <a:pt x="0" y="13716000"/>
                  </a:lnTo>
                  <a:close/>
                </a:path>
              </a:pathLst>
            </a:custGeom>
            <a:solidFill>
              <a:srgbClr val="3F8069"/>
            </a:solidFill>
            <a:ln>
              <a:noFill/>
            </a:ln>
          </p:spPr>
        </p:sp>
        <p:sp>
          <p:nvSpPr>
            <p:cNvPr id="86" name="Google Shape;86;p1"/>
            <p:cNvSpPr txBox="1"/>
            <p:nvPr/>
          </p:nvSpPr>
          <p:spPr>
            <a:xfrm>
              <a:off x="0" y="-38100"/>
              <a:ext cx="2794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txBox="1"/>
          <p:nvPr/>
        </p:nvSpPr>
        <p:spPr>
          <a:xfrm>
            <a:off x="1219200" y="1219200"/>
            <a:ext cx="5715000"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3F8069"/>
                </a:solidFill>
                <a:latin typeface="IBM Plex Mono"/>
                <a:ea typeface="IBM Plex Mono"/>
                <a:cs typeface="IBM Plex Mono"/>
                <a:sym typeface="IBM Plex Mono"/>
              </a:rPr>
              <a:t>SPRING BOOT  ×  AI</a:t>
            </a:r>
            <a:endParaRPr/>
          </a:p>
        </p:txBody>
      </p:sp>
      <p:sp>
        <p:nvSpPr>
          <p:cNvPr id="88" name="Google Shape;88;p1"/>
          <p:cNvSpPr txBox="1"/>
          <p:nvPr/>
        </p:nvSpPr>
        <p:spPr>
          <a:xfrm>
            <a:off x="1219200" y="3189075"/>
            <a:ext cx="15068700" cy="21879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6900" u="none" cap="none" strike="noStrike">
                <a:solidFill>
                  <a:srgbClr val="17324D"/>
                </a:solidFill>
              </a:rPr>
              <a:t>Developing Smart Web Apps</a:t>
            </a:r>
            <a:r>
              <a:rPr lang="en-US"/>
              <a:t> </a:t>
            </a:r>
            <a:r>
              <a:rPr b="1" i="0" lang="en-US" sz="6900" u="none" cap="none" strike="noStrike">
                <a:solidFill>
                  <a:srgbClr val="17324D"/>
                </a:solidFill>
              </a:rPr>
              <a:t>with Spring Boot &amp; AI</a:t>
            </a:r>
            <a:endParaRPr/>
          </a:p>
        </p:txBody>
      </p:sp>
      <p:grpSp>
        <p:nvGrpSpPr>
          <p:cNvPr id="89" name="Google Shape;89;p1"/>
          <p:cNvGrpSpPr/>
          <p:nvPr/>
        </p:nvGrpSpPr>
        <p:grpSpPr>
          <a:xfrm>
            <a:off x="1219200" y="7477125"/>
            <a:ext cx="2095500" cy="57150"/>
            <a:chOff x="0" y="-38100"/>
            <a:chExt cx="2794000" cy="76200"/>
          </a:xfrm>
        </p:grpSpPr>
        <p:sp>
          <p:nvSpPr>
            <p:cNvPr id="90" name="Google Shape;90;p1"/>
            <p:cNvSpPr/>
            <p:nvPr/>
          </p:nvSpPr>
          <p:spPr>
            <a:xfrm>
              <a:off x="0" y="0"/>
              <a:ext cx="2794000" cy="38100"/>
            </a:xfrm>
            <a:custGeom>
              <a:rect b="b" l="l" r="r" t="t"/>
              <a:pathLst>
                <a:path extrusionOk="0" h="38100" w="2794000">
                  <a:moveTo>
                    <a:pt x="0" y="0"/>
                  </a:moveTo>
                  <a:lnTo>
                    <a:pt x="2794000" y="0"/>
                  </a:lnTo>
                  <a:lnTo>
                    <a:pt x="2794000" y="38100"/>
                  </a:lnTo>
                  <a:lnTo>
                    <a:pt x="0" y="38100"/>
                  </a:lnTo>
                  <a:close/>
                </a:path>
              </a:pathLst>
            </a:custGeom>
            <a:solidFill>
              <a:srgbClr val="3F8069"/>
            </a:solidFill>
            <a:ln>
              <a:noFill/>
            </a:ln>
          </p:spPr>
        </p:sp>
        <p:sp>
          <p:nvSpPr>
            <p:cNvPr id="91" name="Google Shape;91;p1"/>
            <p:cNvSpPr txBox="1"/>
            <p:nvPr/>
          </p:nvSpPr>
          <p:spPr>
            <a:xfrm>
              <a:off x="0" y="-38100"/>
              <a:ext cx="2794000" cy="762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 name="Google Shape;92;p1"/>
          <p:cNvSpPr txBox="1"/>
          <p:nvPr/>
        </p:nvSpPr>
        <p:spPr>
          <a:xfrm>
            <a:off x="1219200" y="6369250"/>
            <a:ext cx="13442100" cy="461700"/>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None/>
            </a:pPr>
            <a:r>
              <a:rPr b="1" i="0" lang="en-US" sz="3000" u="none" cap="none" strike="noStrike">
                <a:solidFill>
                  <a:srgbClr val="203040"/>
                </a:solidFill>
              </a:rPr>
              <a:t>Session 3: Build a AI chatbot with Langchain4J</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24D"/>
        </a:solidFill>
      </p:bgPr>
    </p:bg>
    <p:spTree>
      <p:nvGrpSpPr>
        <p:cNvPr id="96" name="Shape 96"/>
        <p:cNvGrpSpPr/>
        <p:nvPr/>
      </p:nvGrpSpPr>
      <p:grpSpPr>
        <a:xfrm>
          <a:off x="0" y="0"/>
          <a:ext cx="0" cy="0"/>
          <a:chOff x="0" y="0"/>
          <a:chExt cx="0" cy="0"/>
        </a:xfrm>
      </p:grpSpPr>
      <p:grpSp>
        <p:nvGrpSpPr>
          <p:cNvPr id="97" name="Google Shape;97;p2"/>
          <p:cNvGrpSpPr/>
          <p:nvPr/>
        </p:nvGrpSpPr>
        <p:grpSpPr>
          <a:xfrm>
            <a:off x="1219200" y="3114675"/>
            <a:ext cx="876300" cy="104775"/>
            <a:chOff x="0" y="-38100"/>
            <a:chExt cx="1168400" cy="139700"/>
          </a:xfrm>
        </p:grpSpPr>
        <p:sp>
          <p:nvSpPr>
            <p:cNvPr id="98" name="Google Shape;98;p2"/>
            <p:cNvSpPr/>
            <p:nvPr/>
          </p:nvSpPr>
          <p:spPr>
            <a:xfrm>
              <a:off x="0" y="0"/>
              <a:ext cx="1168400" cy="101600"/>
            </a:xfrm>
            <a:custGeom>
              <a:rect b="b" l="l" r="r" t="t"/>
              <a:pathLst>
                <a:path extrusionOk="0" h="101600" w="1168400">
                  <a:moveTo>
                    <a:pt x="0" y="0"/>
                  </a:moveTo>
                  <a:lnTo>
                    <a:pt x="1168400" y="0"/>
                  </a:lnTo>
                  <a:lnTo>
                    <a:pt x="1168400" y="101600"/>
                  </a:lnTo>
                  <a:lnTo>
                    <a:pt x="0" y="101600"/>
                  </a:lnTo>
                  <a:close/>
                </a:path>
              </a:pathLst>
            </a:custGeom>
            <a:solidFill>
              <a:srgbClr val="3F8069"/>
            </a:solidFill>
            <a:ln>
              <a:noFill/>
            </a:ln>
          </p:spPr>
        </p:sp>
        <p:sp>
          <p:nvSpPr>
            <p:cNvPr id="99" name="Google Shape;99;p2"/>
            <p:cNvSpPr txBox="1"/>
            <p:nvPr/>
          </p:nvSpPr>
          <p:spPr>
            <a:xfrm>
              <a:off x="0" y="-38100"/>
              <a:ext cx="11684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2"/>
          <p:cNvSpPr txBox="1"/>
          <p:nvPr/>
        </p:nvSpPr>
        <p:spPr>
          <a:xfrm>
            <a:off x="1219200" y="1009650"/>
            <a:ext cx="1714500" cy="281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86C7AD"/>
                </a:solidFill>
                <a:latin typeface="IBM Plex Mono"/>
                <a:ea typeface="IBM Plex Mono"/>
                <a:cs typeface="IBM Plex Mono"/>
                <a:sym typeface="IBM Plex Mono"/>
              </a:rPr>
              <a:t>01</a:t>
            </a:r>
            <a:endParaRPr/>
          </a:p>
        </p:txBody>
      </p:sp>
      <p:sp>
        <p:nvSpPr>
          <p:cNvPr id="101" name="Google Shape;101;p2"/>
          <p:cNvSpPr txBox="1"/>
          <p:nvPr/>
        </p:nvSpPr>
        <p:spPr>
          <a:xfrm>
            <a:off x="1219200" y="3686175"/>
            <a:ext cx="14287500" cy="1269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8250" u="none" cap="none" strike="noStrike">
                <a:solidFill>
                  <a:srgbClr val="FFFFFF"/>
                </a:solidFill>
              </a:rPr>
              <a:t>Langchain4J</a:t>
            </a:r>
            <a:endParaRPr b="1" sz="8250"/>
          </a:p>
        </p:txBody>
      </p:sp>
      <p:pic>
        <p:nvPicPr>
          <p:cNvPr id="102" name="Google Shape;102;p2" title="Logo_white.png"/>
          <p:cNvPicPr preferRelativeResize="0"/>
          <p:nvPr/>
        </p:nvPicPr>
        <p:blipFill rotWithShape="1">
          <a:blip r:embed="rId3">
            <a:alphaModFix/>
          </a:blip>
          <a:srcRect b="0" l="0" r="0" t="0"/>
          <a:stretch/>
        </p:blipFill>
        <p:spPr>
          <a:xfrm>
            <a:off x="15939500" y="167000"/>
            <a:ext cx="2051400" cy="168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06" name="Shape 106"/>
        <p:cNvGrpSpPr/>
        <p:nvPr/>
      </p:nvGrpSpPr>
      <p:grpSpPr>
        <a:xfrm>
          <a:off x="0" y="0"/>
          <a:ext cx="0" cy="0"/>
          <a:chOff x="0" y="0"/>
          <a:chExt cx="0" cy="0"/>
        </a:xfrm>
      </p:grpSpPr>
      <p:grpSp>
        <p:nvGrpSpPr>
          <p:cNvPr id="107" name="Google Shape;107;p3"/>
          <p:cNvGrpSpPr/>
          <p:nvPr/>
        </p:nvGrpSpPr>
        <p:grpSpPr>
          <a:xfrm>
            <a:off x="1219200" y="638175"/>
            <a:ext cx="15849600" cy="1533525"/>
            <a:chOff x="0" y="-38100"/>
            <a:chExt cx="21132800" cy="2044700"/>
          </a:xfrm>
        </p:grpSpPr>
        <p:sp>
          <p:nvSpPr>
            <p:cNvPr id="108" name="Google Shape;108;p3"/>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01.1</a:t>
              </a:r>
              <a:endParaRPr/>
            </a:p>
          </p:txBody>
        </p:sp>
        <p:sp>
          <p:nvSpPr>
            <p:cNvPr id="109" name="Google Shape;109;p3"/>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Langchain4J</a:t>
              </a:r>
              <a:endParaRPr sz="4950"/>
            </a:p>
          </p:txBody>
        </p:sp>
        <p:grpSp>
          <p:nvGrpSpPr>
            <p:cNvPr id="110" name="Google Shape;110;p3"/>
            <p:cNvGrpSpPr/>
            <p:nvPr/>
          </p:nvGrpSpPr>
          <p:grpSpPr>
            <a:xfrm>
              <a:off x="0" y="1943100"/>
              <a:ext cx="21132800" cy="63500"/>
              <a:chOff x="0" y="-38100"/>
              <a:chExt cx="21132800" cy="63500"/>
            </a:xfrm>
          </p:grpSpPr>
          <p:sp>
            <p:nvSpPr>
              <p:cNvPr id="111" name="Google Shape;111;p3"/>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12" name="Google Shape;112;p3"/>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13" name="Google Shape;113;p3"/>
          <p:cNvSpPr/>
          <p:nvPr/>
        </p:nvSpPr>
        <p:spPr>
          <a:xfrm>
            <a:off x="8796473" y="4113064"/>
            <a:ext cx="8926356" cy="5422761"/>
          </a:xfrm>
          <a:custGeom>
            <a:rect b="b" l="l" r="r" t="t"/>
            <a:pathLst>
              <a:path extrusionOk="0" h="5422761" w="8926356">
                <a:moveTo>
                  <a:pt x="0" y="0"/>
                </a:moveTo>
                <a:lnTo>
                  <a:pt x="8926356" y="0"/>
                </a:lnTo>
                <a:lnTo>
                  <a:pt x="8926356" y="5422761"/>
                </a:lnTo>
                <a:lnTo>
                  <a:pt x="0" y="5422761"/>
                </a:lnTo>
                <a:lnTo>
                  <a:pt x="0" y="0"/>
                </a:lnTo>
                <a:close/>
              </a:path>
            </a:pathLst>
          </a:custGeom>
          <a:blipFill rotWithShape="1">
            <a:blip r:embed="rId3">
              <a:alphaModFix/>
            </a:blip>
            <a:stretch>
              <a:fillRect b="0" l="0" r="0" t="0"/>
            </a:stretch>
          </a:blipFill>
          <a:ln>
            <a:noFill/>
          </a:ln>
        </p:spPr>
      </p:sp>
      <p:sp>
        <p:nvSpPr>
          <p:cNvPr id="114" name="Google Shape;114;p3"/>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sp>
        <p:nvSpPr>
          <p:cNvPr id="115" name="Google Shape;115;p3"/>
          <p:cNvSpPr txBox="1"/>
          <p:nvPr/>
        </p:nvSpPr>
        <p:spPr>
          <a:xfrm>
            <a:off x="1028700" y="2317284"/>
            <a:ext cx="16503600" cy="1880400"/>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2349" u="none" cap="none" strike="noStrike">
                <a:solidFill>
                  <a:srgbClr val="000000"/>
                </a:solidFill>
                <a:latin typeface="Arial"/>
                <a:ea typeface="Arial"/>
                <a:cs typeface="Arial"/>
                <a:sym typeface="Arial"/>
              </a:rPr>
              <a:t>Document chính thức: https://docs.langchain4j.dev/</a:t>
            </a:r>
            <a:endParaRPr sz="1700"/>
          </a:p>
          <a:p>
            <a:pPr indent="0" lvl="0" marL="0" marR="0" rtl="0" algn="just">
              <a:lnSpc>
                <a:spcPct val="140019"/>
              </a:lnSpc>
              <a:spcBef>
                <a:spcPts val="0"/>
              </a:spcBef>
              <a:spcAft>
                <a:spcPts val="0"/>
              </a:spcAft>
              <a:buNone/>
            </a:pPr>
            <a:r>
              <a:rPr b="0" i="0" lang="en-US" sz="2349" u="none" cap="none" strike="noStrike">
                <a:solidFill>
                  <a:srgbClr val="000000"/>
                </a:solidFill>
                <a:latin typeface="Arial"/>
                <a:ea typeface="Arial"/>
                <a:cs typeface="Arial"/>
                <a:sym typeface="Arial"/>
              </a:rPr>
              <a:t>Tham khảo: https://github.com/microsoft/langchain4j-for-beginners</a:t>
            </a:r>
            <a:endParaRPr sz="1700"/>
          </a:p>
          <a:p>
            <a:pPr indent="0" lvl="0" marL="0" marR="0" rtl="0" algn="just">
              <a:lnSpc>
                <a:spcPct val="140019"/>
              </a:lnSpc>
              <a:spcBef>
                <a:spcPts val="0"/>
              </a:spcBef>
              <a:spcAft>
                <a:spcPts val="0"/>
              </a:spcAft>
              <a:buNone/>
            </a:pPr>
            <a:r>
              <a:rPr b="0" i="0" lang="en-US" sz="2349" u="none" cap="none" strike="noStrike">
                <a:solidFill>
                  <a:srgbClr val="000000"/>
                </a:solidFill>
                <a:latin typeface="Arial"/>
                <a:ea typeface="Arial"/>
                <a:cs typeface="Arial"/>
                <a:sym typeface="Arial"/>
              </a:rPr>
              <a:t>Langchain4J-Spring: https://github.com/langchain4j/langchain4j-spring</a:t>
            </a:r>
            <a:endParaRPr b="0" i="0" sz="2349" u="none" cap="none" strike="noStrike">
              <a:solidFill>
                <a:srgbClr val="000000"/>
              </a:solidFill>
              <a:latin typeface="Arial"/>
              <a:ea typeface="Arial"/>
              <a:cs typeface="Arial"/>
              <a:sym typeface="Arial"/>
            </a:endParaRPr>
          </a:p>
          <a:p>
            <a:pPr indent="0" lvl="0" marL="0" marR="0" rtl="0" algn="just">
              <a:lnSpc>
                <a:spcPct val="140019"/>
              </a:lnSpc>
              <a:spcBef>
                <a:spcPts val="0"/>
              </a:spcBef>
              <a:spcAft>
                <a:spcPts val="0"/>
              </a:spcAft>
              <a:buNone/>
            </a:pPr>
            <a:r>
              <a:t/>
            </a:r>
            <a:endParaRPr b="0" i="0" sz="2349" u="none" cap="none" strike="noStrike">
              <a:solidFill>
                <a:srgbClr val="000000"/>
              </a:solidFill>
              <a:latin typeface="Arial"/>
              <a:ea typeface="Arial"/>
              <a:cs typeface="Arial"/>
              <a:sym typeface="Arial"/>
            </a:endParaRPr>
          </a:p>
        </p:txBody>
      </p:sp>
      <p:sp>
        <p:nvSpPr>
          <p:cNvPr id="116" name="Google Shape;116;p3"/>
          <p:cNvSpPr txBox="1"/>
          <p:nvPr/>
        </p:nvSpPr>
        <p:spPr>
          <a:xfrm>
            <a:off x="1028700" y="4255939"/>
            <a:ext cx="7331400" cy="49179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2349" u="none" cap="none" strike="noStrike">
                <a:solidFill>
                  <a:srgbClr val="000000"/>
                </a:solidFill>
              </a:rPr>
              <a:t>ChatModel</a:t>
            </a:r>
            <a:r>
              <a:rPr i="0" lang="en-US" sz="2349" u="none" cap="none" strike="noStrike">
                <a:solidFill>
                  <a:srgbClr val="000000"/>
                </a:solidFill>
              </a:rPr>
              <a:t> / </a:t>
            </a:r>
            <a:r>
              <a:rPr b="1" i="0" lang="en-US" sz="2349" u="none" cap="none" strike="noStrike">
                <a:solidFill>
                  <a:srgbClr val="000000"/>
                </a:solidFill>
              </a:rPr>
              <a:t>ChatLanguageModel</a:t>
            </a:r>
            <a:r>
              <a:rPr i="0" lang="en-US" sz="2349" u="none" cap="none" strike="noStrike">
                <a:solidFill>
                  <a:srgbClr val="000000"/>
                </a:solidFill>
              </a:rPr>
              <a:t> (</a:t>
            </a:r>
            <a:r>
              <a:rPr b="1" i="0" lang="en-US" sz="2349" u="none" cap="none" strike="noStrike">
                <a:solidFill>
                  <a:srgbClr val="000000"/>
                </a:solidFill>
              </a:rPr>
              <a:t>deprecated</a:t>
            </a:r>
            <a:r>
              <a:rPr i="0" lang="en-US" sz="2349" u="none" cap="none" strike="noStrike">
                <a:solidFill>
                  <a:srgbClr val="000000"/>
                </a:solidFill>
              </a:rPr>
              <a:t>) = lớp thấp để nói chuyện trực tiếp với LLM.</a:t>
            </a:r>
            <a:endParaRPr sz="1700"/>
          </a:p>
          <a:p>
            <a:pPr indent="0" lvl="0" marL="0" marR="0" rtl="0" algn="l">
              <a:lnSpc>
                <a:spcPct val="140019"/>
              </a:lnSpc>
              <a:spcBef>
                <a:spcPts val="0"/>
              </a:spcBef>
              <a:spcAft>
                <a:spcPts val="0"/>
              </a:spcAft>
              <a:buNone/>
            </a:pPr>
            <a:r>
              <a:rPr b="1" i="0" lang="en-US" sz="2349" u="none" cap="none" strike="noStrike">
                <a:solidFill>
                  <a:srgbClr val="000000"/>
                </a:solidFill>
              </a:rPr>
              <a:t>AiServices</a:t>
            </a:r>
            <a:r>
              <a:rPr i="0" lang="en-US" sz="2349" u="none" cap="none" strike="noStrike">
                <a:solidFill>
                  <a:srgbClr val="000000"/>
                </a:solidFill>
              </a:rPr>
              <a:t> = lớp cao, biến LLM thành một Java service/interface giống Spring Data JPA.</a:t>
            </a:r>
            <a:endParaRPr i="0" sz="2349" u="none" cap="none" strike="noStrike">
              <a:solidFill>
                <a:srgbClr val="000000"/>
              </a:solidFill>
            </a:endParaRPr>
          </a:p>
          <a:p>
            <a:pPr indent="0" lvl="0" marL="0" marR="0" rtl="0" algn="l">
              <a:lnSpc>
                <a:spcPct val="140019"/>
              </a:lnSpc>
              <a:spcBef>
                <a:spcPts val="0"/>
              </a:spcBef>
              <a:spcAft>
                <a:spcPts val="0"/>
              </a:spcAft>
              <a:buNone/>
            </a:pPr>
            <a:r>
              <a:rPr i="0" lang="en-US" sz="2349" u="none" cap="none" strike="noStrike">
                <a:solidFill>
                  <a:srgbClr val="000000"/>
                </a:solidFill>
              </a:rPr>
              <a:t>Một số loại </a:t>
            </a:r>
            <a:r>
              <a:rPr b="1" i="0" lang="en-US" sz="2349" u="none" cap="none" strike="noStrike">
                <a:solidFill>
                  <a:srgbClr val="000000"/>
                </a:solidFill>
              </a:rPr>
              <a:t>Message</a:t>
            </a:r>
            <a:r>
              <a:rPr i="0" lang="en-US" sz="2349" u="none" cap="none" strike="noStrike">
                <a:solidFill>
                  <a:srgbClr val="000000"/>
                </a:solidFill>
              </a:rPr>
              <a:t>:</a:t>
            </a:r>
            <a:endParaRPr i="0" sz="2349" u="none" cap="none" strike="noStrike">
              <a:solidFill>
                <a:srgbClr val="000000"/>
              </a:solidFill>
            </a:endParaRPr>
          </a:p>
          <a:p>
            <a:pPr indent="-377761" lvl="0" marL="457200" marR="0" rtl="0" algn="l">
              <a:lnSpc>
                <a:spcPct val="140019"/>
              </a:lnSpc>
              <a:spcBef>
                <a:spcPts val="0"/>
              </a:spcBef>
              <a:spcAft>
                <a:spcPts val="0"/>
              </a:spcAft>
              <a:buClr>
                <a:srgbClr val="000000"/>
              </a:buClr>
              <a:buSzPts val="2349"/>
              <a:buChar char="●"/>
            </a:pPr>
            <a:r>
              <a:rPr b="1" i="0" lang="en-US" sz="2349" u="none" cap="none" strike="noStrike">
                <a:solidFill>
                  <a:srgbClr val="000000"/>
                </a:solidFill>
              </a:rPr>
              <a:t>SystemMessage: </a:t>
            </a:r>
            <a:r>
              <a:rPr i="0" lang="en-US" sz="2349" u="none" cap="none" strike="noStrike">
                <a:solidFill>
                  <a:srgbClr val="000000"/>
                </a:solidFill>
              </a:rPr>
              <a:t>instruction</a:t>
            </a:r>
            <a:endParaRPr sz="1700"/>
          </a:p>
          <a:p>
            <a:pPr indent="-377761" lvl="0" marL="457200" marR="0" rtl="0" algn="l">
              <a:lnSpc>
                <a:spcPct val="140019"/>
              </a:lnSpc>
              <a:spcBef>
                <a:spcPts val="0"/>
              </a:spcBef>
              <a:spcAft>
                <a:spcPts val="0"/>
              </a:spcAft>
              <a:buClr>
                <a:srgbClr val="000000"/>
              </a:buClr>
              <a:buSzPts val="2349"/>
              <a:buChar char="●"/>
            </a:pPr>
            <a:r>
              <a:rPr b="1" i="0" lang="en-US" sz="2349" u="none" cap="none" strike="noStrike">
                <a:solidFill>
                  <a:srgbClr val="000000"/>
                </a:solidFill>
              </a:rPr>
              <a:t>UserMessage: </a:t>
            </a:r>
            <a:r>
              <a:rPr i="0" lang="en-US" sz="2349" u="none" cap="none" strike="noStrike">
                <a:solidFill>
                  <a:srgbClr val="000000"/>
                </a:solidFill>
              </a:rPr>
              <a:t>user input</a:t>
            </a:r>
            <a:endParaRPr sz="1700"/>
          </a:p>
          <a:p>
            <a:pPr indent="-377761" lvl="0" marL="457200" marR="0" rtl="0" algn="l">
              <a:lnSpc>
                <a:spcPct val="140019"/>
              </a:lnSpc>
              <a:spcBef>
                <a:spcPts val="0"/>
              </a:spcBef>
              <a:spcAft>
                <a:spcPts val="0"/>
              </a:spcAft>
              <a:buClr>
                <a:srgbClr val="000000"/>
              </a:buClr>
              <a:buSzPts val="2349"/>
              <a:buChar char="●"/>
            </a:pPr>
            <a:r>
              <a:rPr b="1" i="0" lang="en-US" sz="2349" u="none" cap="none" strike="noStrike">
                <a:solidFill>
                  <a:srgbClr val="000000"/>
                </a:solidFill>
              </a:rPr>
              <a:t>AiMessage: </a:t>
            </a:r>
            <a:r>
              <a:rPr i="0" lang="en-US" sz="2349" u="none" cap="none" strike="noStrike">
                <a:solidFill>
                  <a:srgbClr val="000000"/>
                </a:solidFill>
              </a:rPr>
              <a:t>Message để tương tác model </a:t>
            </a:r>
            <a:endParaRPr sz="1700"/>
          </a:p>
          <a:p>
            <a:pPr indent="-377761" lvl="0" marL="457200" marR="0" rtl="0" algn="l">
              <a:lnSpc>
                <a:spcPct val="140019"/>
              </a:lnSpc>
              <a:spcBef>
                <a:spcPts val="0"/>
              </a:spcBef>
              <a:spcAft>
                <a:spcPts val="0"/>
              </a:spcAft>
              <a:buClr>
                <a:srgbClr val="000000"/>
              </a:buClr>
              <a:buSzPts val="2349"/>
              <a:buChar char="●"/>
            </a:pPr>
            <a:r>
              <a:rPr b="1" i="0" lang="en-US" sz="2349" u="none" cap="none" strike="noStrike">
                <a:solidFill>
                  <a:srgbClr val="000000"/>
                </a:solidFill>
              </a:rPr>
              <a:t>ToolExecutionResultMessage: </a:t>
            </a:r>
            <a:r>
              <a:rPr i="0" lang="en-US" sz="2349" u="none" cap="none" strike="noStrike">
                <a:solidFill>
                  <a:srgbClr val="000000"/>
                </a:solidFill>
              </a:rPr>
              <a:t>Message nhận kết quả từ tool</a:t>
            </a:r>
            <a:endParaRPr i="0" sz="2349" u="none" cap="none" strike="noStrike">
              <a:solidFill>
                <a:srgbClr val="000000"/>
              </a:solidFill>
            </a:endParaRPr>
          </a:p>
        </p:txBody>
      </p:sp>
      <p:pic>
        <p:nvPicPr>
          <p:cNvPr id="117" name="Google Shape;117;p3"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21" name="Shape 121"/>
        <p:cNvGrpSpPr/>
        <p:nvPr/>
      </p:nvGrpSpPr>
      <p:grpSpPr>
        <a:xfrm>
          <a:off x="0" y="0"/>
          <a:ext cx="0" cy="0"/>
          <a:chOff x="0" y="0"/>
          <a:chExt cx="0" cy="0"/>
        </a:xfrm>
      </p:grpSpPr>
      <p:grpSp>
        <p:nvGrpSpPr>
          <p:cNvPr id="122" name="Google Shape;122;p4"/>
          <p:cNvGrpSpPr/>
          <p:nvPr/>
        </p:nvGrpSpPr>
        <p:grpSpPr>
          <a:xfrm>
            <a:off x="1219200" y="638175"/>
            <a:ext cx="15849600" cy="1533525"/>
            <a:chOff x="0" y="-38100"/>
            <a:chExt cx="21132800" cy="2044700"/>
          </a:xfrm>
        </p:grpSpPr>
        <p:sp>
          <p:nvSpPr>
            <p:cNvPr id="123" name="Google Shape;123;p4"/>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01.2</a:t>
              </a:r>
              <a:endParaRPr/>
            </a:p>
          </p:txBody>
        </p:sp>
        <p:sp>
          <p:nvSpPr>
            <p:cNvPr id="124" name="Google Shape;124;p4"/>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Langchain4J</a:t>
              </a:r>
              <a:endParaRPr sz="4950"/>
            </a:p>
          </p:txBody>
        </p:sp>
        <p:grpSp>
          <p:nvGrpSpPr>
            <p:cNvPr id="125" name="Google Shape;125;p4"/>
            <p:cNvGrpSpPr/>
            <p:nvPr/>
          </p:nvGrpSpPr>
          <p:grpSpPr>
            <a:xfrm>
              <a:off x="0" y="1943100"/>
              <a:ext cx="21132800" cy="63500"/>
              <a:chOff x="0" y="-38100"/>
              <a:chExt cx="21132800" cy="63500"/>
            </a:xfrm>
          </p:grpSpPr>
          <p:sp>
            <p:nvSpPr>
              <p:cNvPr id="126" name="Google Shape;126;p4"/>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27" name="Google Shape;127;p4"/>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28" name="Google Shape;128;p4"/>
          <p:cNvSpPr/>
          <p:nvPr/>
        </p:nvSpPr>
        <p:spPr>
          <a:xfrm>
            <a:off x="4101708" y="2570769"/>
            <a:ext cx="10084584" cy="6687531"/>
          </a:xfrm>
          <a:custGeom>
            <a:rect b="b" l="l" r="r" t="t"/>
            <a:pathLst>
              <a:path extrusionOk="0" h="6687531" w="10084584">
                <a:moveTo>
                  <a:pt x="0" y="0"/>
                </a:moveTo>
                <a:lnTo>
                  <a:pt x="10084584" y="0"/>
                </a:lnTo>
                <a:lnTo>
                  <a:pt x="10084584" y="6687531"/>
                </a:lnTo>
                <a:lnTo>
                  <a:pt x="0" y="6687531"/>
                </a:lnTo>
                <a:lnTo>
                  <a:pt x="0" y="0"/>
                </a:lnTo>
                <a:close/>
              </a:path>
            </a:pathLst>
          </a:custGeom>
          <a:blipFill rotWithShape="1">
            <a:blip r:embed="rId3">
              <a:alphaModFix/>
            </a:blip>
            <a:stretch>
              <a:fillRect b="0" l="0" r="0" t="0"/>
            </a:stretch>
          </a:blipFill>
          <a:ln>
            <a:noFill/>
          </a:ln>
        </p:spPr>
      </p:sp>
      <p:sp>
        <p:nvSpPr>
          <p:cNvPr id="129" name="Google Shape;129;p4"/>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pic>
        <p:nvPicPr>
          <p:cNvPr id="130" name="Google Shape;130;p4"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34" name="Shape 134"/>
        <p:cNvGrpSpPr/>
        <p:nvPr/>
      </p:nvGrpSpPr>
      <p:grpSpPr>
        <a:xfrm>
          <a:off x="0" y="0"/>
          <a:ext cx="0" cy="0"/>
          <a:chOff x="0" y="0"/>
          <a:chExt cx="0" cy="0"/>
        </a:xfrm>
      </p:grpSpPr>
      <p:grpSp>
        <p:nvGrpSpPr>
          <p:cNvPr id="135" name="Google Shape;135;p5"/>
          <p:cNvGrpSpPr/>
          <p:nvPr/>
        </p:nvGrpSpPr>
        <p:grpSpPr>
          <a:xfrm>
            <a:off x="1219200" y="638175"/>
            <a:ext cx="15849600" cy="1533525"/>
            <a:chOff x="0" y="-38100"/>
            <a:chExt cx="21132800" cy="2044700"/>
          </a:xfrm>
        </p:grpSpPr>
        <p:sp>
          <p:nvSpPr>
            <p:cNvPr id="136" name="Google Shape;136;p5"/>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01.3</a:t>
              </a:r>
              <a:endParaRPr/>
            </a:p>
          </p:txBody>
        </p:sp>
        <p:sp>
          <p:nvSpPr>
            <p:cNvPr id="137" name="Google Shape;137;p5"/>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DB Memory</a:t>
              </a:r>
              <a:endParaRPr sz="4950"/>
            </a:p>
          </p:txBody>
        </p:sp>
        <p:grpSp>
          <p:nvGrpSpPr>
            <p:cNvPr id="138" name="Google Shape;138;p5"/>
            <p:cNvGrpSpPr/>
            <p:nvPr/>
          </p:nvGrpSpPr>
          <p:grpSpPr>
            <a:xfrm>
              <a:off x="0" y="1943100"/>
              <a:ext cx="21132800" cy="63500"/>
              <a:chOff x="0" y="-38100"/>
              <a:chExt cx="21132800" cy="63500"/>
            </a:xfrm>
          </p:grpSpPr>
          <p:sp>
            <p:nvSpPr>
              <p:cNvPr id="139" name="Google Shape;139;p5"/>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40" name="Google Shape;140;p5"/>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41" name="Google Shape;141;p5"/>
          <p:cNvSpPr/>
          <p:nvPr/>
        </p:nvSpPr>
        <p:spPr>
          <a:xfrm>
            <a:off x="3714089" y="2606659"/>
            <a:ext cx="10859823" cy="6651641"/>
          </a:xfrm>
          <a:custGeom>
            <a:rect b="b" l="l" r="r" t="t"/>
            <a:pathLst>
              <a:path extrusionOk="0" h="6651641" w="10859823">
                <a:moveTo>
                  <a:pt x="0" y="0"/>
                </a:moveTo>
                <a:lnTo>
                  <a:pt x="10859822" y="0"/>
                </a:lnTo>
                <a:lnTo>
                  <a:pt x="10859822" y="6651641"/>
                </a:lnTo>
                <a:lnTo>
                  <a:pt x="0" y="6651641"/>
                </a:lnTo>
                <a:lnTo>
                  <a:pt x="0" y="0"/>
                </a:lnTo>
                <a:close/>
              </a:path>
            </a:pathLst>
          </a:custGeom>
          <a:blipFill rotWithShape="1">
            <a:blip r:embed="rId3">
              <a:alphaModFix/>
            </a:blip>
            <a:stretch>
              <a:fillRect b="0" l="0" r="0" t="0"/>
            </a:stretch>
          </a:blipFill>
          <a:ln>
            <a:noFill/>
          </a:ln>
        </p:spPr>
      </p:sp>
      <p:sp>
        <p:nvSpPr>
          <p:cNvPr id="142" name="Google Shape;142;p5"/>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pic>
        <p:nvPicPr>
          <p:cNvPr id="143" name="Google Shape;143;p5"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47" name="Shape 147"/>
        <p:cNvGrpSpPr/>
        <p:nvPr/>
      </p:nvGrpSpPr>
      <p:grpSpPr>
        <a:xfrm>
          <a:off x="0" y="0"/>
          <a:ext cx="0" cy="0"/>
          <a:chOff x="0" y="0"/>
          <a:chExt cx="0" cy="0"/>
        </a:xfrm>
      </p:grpSpPr>
      <p:grpSp>
        <p:nvGrpSpPr>
          <p:cNvPr id="148" name="Google Shape;148;p6"/>
          <p:cNvGrpSpPr/>
          <p:nvPr/>
        </p:nvGrpSpPr>
        <p:grpSpPr>
          <a:xfrm>
            <a:off x="1219200" y="638175"/>
            <a:ext cx="15849600" cy="1533525"/>
            <a:chOff x="0" y="-38100"/>
            <a:chExt cx="21132800" cy="2044700"/>
          </a:xfrm>
        </p:grpSpPr>
        <p:sp>
          <p:nvSpPr>
            <p:cNvPr id="149" name="Google Shape;149;p6"/>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01.4</a:t>
              </a:r>
              <a:endParaRPr/>
            </a:p>
          </p:txBody>
        </p:sp>
        <p:sp>
          <p:nvSpPr>
            <p:cNvPr id="150" name="Google Shape;150;p6"/>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RAG</a:t>
              </a:r>
              <a:endParaRPr sz="4950"/>
            </a:p>
          </p:txBody>
        </p:sp>
        <p:grpSp>
          <p:nvGrpSpPr>
            <p:cNvPr id="151" name="Google Shape;151;p6"/>
            <p:cNvGrpSpPr/>
            <p:nvPr/>
          </p:nvGrpSpPr>
          <p:grpSpPr>
            <a:xfrm>
              <a:off x="0" y="1943100"/>
              <a:ext cx="21132800" cy="63500"/>
              <a:chOff x="0" y="-38100"/>
              <a:chExt cx="21132800" cy="63500"/>
            </a:xfrm>
          </p:grpSpPr>
          <p:sp>
            <p:nvSpPr>
              <p:cNvPr id="152" name="Google Shape;152;p6"/>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53" name="Google Shape;153;p6"/>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54" name="Google Shape;154;p6"/>
          <p:cNvSpPr/>
          <p:nvPr/>
        </p:nvSpPr>
        <p:spPr>
          <a:xfrm>
            <a:off x="9506832" y="3668189"/>
            <a:ext cx="8073212" cy="6174946"/>
          </a:xfrm>
          <a:custGeom>
            <a:rect b="b" l="l" r="r" t="t"/>
            <a:pathLst>
              <a:path extrusionOk="0" h="6174946" w="8073212">
                <a:moveTo>
                  <a:pt x="0" y="0"/>
                </a:moveTo>
                <a:lnTo>
                  <a:pt x="8073212" y="0"/>
                </a:lnTo>
                <a:lnTo>
                  <a:pt x="8073212" y="6174946"/>
                </a:lnTo>
                <a:lnTo>
                  <a:pt x="0" y="6174946"/>
                </a:lnTo>
                <a:lnTo>
                  <a:pt x="0" y="0"/>
                </a:lnTo>
                <a:close/>
              </a:path>
            </a:pathLst>
          </a:custGeom>
          <a:blipFill rotWithShape="1">
            <a:blip r:embed="rId3">
              <a:alphaModFix/>
            </a:blip>
            <a:stretch>
              <a:fillRect b="0" l="0" r="0" t="0"/>
            </a:stretch>
          </a:blipFill>
          <a:ln>
            <a:noFill/>
          </a:ln>
        </p:spPr>
      </p:sp>
      <p:sp>
        <p:nvSpPr>
          <p:cNvPr id="155" name="Google Shape;155;p6"/>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sp>
        <p:nvSpPr>
          <p:cNvPr id="156" name="Google Shape;156;p6"/>
          <p:cNvSpPr txBox="1"/>
          <p:nvPr/>
        </p:nvSpPr>
        <p:spPr>
          <a:xfrm>
            <a:off x="1028700" y="2603205"/>
            <a:ext cx="16230600" cy="1286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200" u="none" cap="none" strike="noStrike">
                <a:solidFill>
                  <a:srgbClr val="000000"/>
                </a:solidFill>
              </a:rPr>
              <a:t>Retrieval augmented generation</a:t>
            </a:r>
            <a:r>
              <a:rPr i="0" lang="en-US" sz="2200" u="none" cap="none" strike="noStrike">
                <a:solidFill>
                  <a:srgbClr val="000000"/>
                </a:solidFill>
              </a:rPr>
              <a:t>, or </a:t>
            </a:r>
            <a:r>
              <a:rPr b="1" i="0" lang="en-US" sz="2200" u="none" cap="none" strike="noStrike">
                <a:solidFill>
                  <a:srgbClr val="000000"/>
                </a:solidFill>
              </a:rPr>
              <a:t>RAG</a:t>
            </a:r>
            <a:r>
              <a:rPr i="0" lang="en-US" sz="2200" u="none" cap="none" strike="noStrike">
                <a:solidFill>
                  <a:srgbClr val="000000"/>
                </a:solidFill>
              </a:rPr>
              <a:t>, is an architecture for optimizing the performance of an artificial intelligence (AI) model by connecting it with external knowledge bases. RAG helps large language models (LLMs) deliver more relevant responses at a higher quality.</a:t>
            </a:r>
            <a:endParaRPr i="0" sz="2200" u="none" cap="none" strike="noStrike">
              <a:solidFill>
                <a:srgbClr val="000000"/>
              </a:solidFill>
            </a:endParaRPr>
          </a:p>
        </p:txBody>
      </p:sp>
      <p:sp>
        <p:nvSpPr>
          <p:cNvPr id="157" name="Google Shape;157;p6"/>
          <p:cNvSpPr txBox="1"/>
          <p:nvPr/>
        </p:nvSpPr>
        <p:spPr>
          <a:xfrm>
            <a:off x="1028700" y="3889900"/>
            <a:ext cx="8478000" cy="484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i="0" lang="en-US" sz="2100" u="none" cap="none" strike="noStrike">
                <a:solidFill>
                  <a:srgbClr val="000000"/>
                </a:solidFill>
              </a:rPr>
              <a:t>Trong một hệ thống RAG có thể hiểu đơn giản gồm 3 thành phần chính:</a:t>
            </a:r>
            <a:endParaRPr sz="1500"/>
          </a:p>
          <a:p>
            <a:pPr indent="0" lvl="0" marL="0" marR="0" rtl="0" algn="l">
              <a:lnSpc>
                <a:spcPct val="140000"/>
              </a:lnSpc>
              <a:spcBef>
                <a:spcPts val="0"/>
              </a:spcBef>
              <a:spcAft>
                <a:spcPts val="0"/>
              </a:spcAft>
              <a:buNone/>
            </a:pPr>
            <a:r>
              <a:rPr b="1" i="0" lang="en-US" sz="2100" u="none" cap="none" strike="noStrike">
                <a:solidFill>
                  <a:srgbClr val="000000"/>
                </a:solidFill>
              </a:rPr>
              <a:t>Retriever – Bộ truy xuất: </a:t>
            </a:r>
            <a:r>
              <a:rPr i="0" lang="en-US" sz="2100" u="none" cap="none" strike="noStrike">
                <a:solidFill>
                  <a:srgbClr val="000000"/>
                </a:solidFill>
              </a:rPr>
              <a:t>nhận câu hỏi của người dùng, tìm các đoạn tài liệu liên quan nhất từ knowledge base. Thường dùng embedding + vector database như FAISS, Pinecone, Milvus, Weaviate.</a:t>
            </a:r>
            <a:endParaRPr sz="1500"/>
          </a:p>
          <a:p>
            <a:pPr indent="0" lvl="0" marL="0" marR="0" rtl="0" algn="l">
              <a:lnSpc>
                <a:spcPct val="140000"/>
              </a:lnSpc>
              <a:spcBef>
                <a:spcPts val="0"/>
              </a:spcBef>
              <a:spcAft>
                <a:spcPts val="0"/>
              </a:spcAft>
              <a:buNone/>
            </a:pPr>
            <a:r>
              <a:rPr b="1" i="0" lang="en-US" sz="2100" u="none" cap="none" strike="noStrike">
                <a:solidFill>
                  <a:srgbClr val="000000"/>
                </a:solidFill>
              </a:rPr>
              <a:t>Context / Knowledge Base – Nguồn dữ liệu:</a:t>
            </a:r>
            <a:r>
              <a:rPr i="0" lang="en-US" sz="2100" u="none" cap="none" strike="noStrike">
                <a:solidFill>
                  <a:srgbClr val="000000"/>
                </a:solidFill>
              </a:rPr>
              <a:t> nơi chứa tài liệu đã được xử lý, chia nhỏ thành các chunks và thường được chuyển thành vector embedding. Ví dụ: PDF, wiki nội bộ, database, tài liệu sản phẩm.</a:t>
            </a:r>
            <a:endParaRPr sz="1500"/>
          </a:p>
          <a:p>
            <a:pPr indent="0" lvl="0" marL="0" marR="0" rtl="0" algn="l">
              <a:lnSpc>
                <a:spcPct val="140000"/>
              </a:lnSpc>
              <a:spcBef>
                <a:spcPts val="0"/>
              </a:spcBef>
              <a:spcAft>
                <a:spcPts val="0"/>
              </a:spcAft>
              <a:buNone/>
            </a:pPr>
            <a:r>
              <a:rPr b="1" i="0" lang="en-US" sz="2100" u="none" cap="none" strike="noStrike">
                <a:solidFill>
                  <a:srgbClr val="000000"/>
                </a:solidFill>
              </a:rPr>
              <a:t>Generator – Mô hình sinh câu trả lời:</a:t>
            </a:r>
            <a:r>
              <a:rPr i="0" lang="en-US" sz="2100" u="none" cap="none" strike="noStrike">
                <a:solidFill>
                  <a:srgbClr val="000000"/>
                </a:solidFill>
              </a:rPr>
              <a:t> thường là một LLM. LLM nhận câu hỏi + các đoạn tài liệu Retriever tìm được, sau đó tổng hợp thành câu trả lời.</a:t>
            </a:r>
            <a:endParaRPr sz="1500"/>
          </a:p>
        </p:txBody>
      </p:sp>
      <p:pic>
        <p:nvPicPr>
          <p:cNvPr id="158" name="Google Shape;158;p6"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62" name="Shape 162"/>
        <p:cNvGrpSpPr/>
        <p:nvPr/>
      </p:nvGrpSpPr>
      <p:grpSpPr>
        <a:xfrm>
          <a:off x="0" y="0"/>
          <a:ext cx="0" cy="0"/>
          <a:chOff x="0" y="0"/>
          <a:chExt cx="0" cy="0"/>
        </a:xfrm>
      </p:grpSpPr>
      <p:grpSp>
        <p:nvGrpSpPr>
          <p:cNvPr id="163" name="Google Shape;163;p7"/>
          <p:cNvGrpSpPr/>
          <p:nvPr/>
        </p:nvGrpSpPr>
        <p:grpSpPr>
          <a:xfrm>
            <a:off x="1219200" y="638175"/>
            <a:ext cx="15849600" cy="1533525"/>
            <a:chOff x="0" y="-38100"/>
            <a:chExt cx="21132800" cy="2044700"/>
          </a:xfrm>
        </p:grpSpPr>
        <p:sp>
          <p:nvSpPr>
            <p:cNvPr id="164" name="Google Shape;164;p7"/>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01.5</a:t>
              </a:r>
              <a:endParaRPr/>
            </a:p>
          </p:txBody>
        </p:sp>
        <p:sp>
          <p:nvSpPr>
            <p:cNvPr id="165" name="Google Shape;165;p7"/>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INDEXING</a:t>
              </a:r>
              <a:endParaRPr sz="4950"/>
            </a:p>
          </p:txBody>
        </p:sp>
        <p:grpSp>
          <p:nvGrpSpPr>
            <p:cNvPr id="166" name="Google Shape;166;p7"/>
            <p:cNvGrpSpPr/>
            <p:nvPr/>
          </p:nvGrpSpPr>
          <p:grpSpPr>
            <a:xfrm>
              <a:off x="0" y="1943100"/>
              <a:ext cx="21132800" cy="63500"/>
              <a:chOff x="0" y="-38100"/>
              <a:chExt cx="21132800" cy="63500"/>
            </a:xfrm>
          </p:grpSpPr>
          <p:sp>
            <p:nvSpPr>
              <p:cNvPr id="167" name="Google Shape;167;p7"/>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68" name="Google Shape;168;p7"/>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69" name="Google Shape;169;p7"/>
          <p:cNvSpPr/>
          <p:nvPr/>
        </p:nvSpPr>
        <p:spPr>
          <a:xfrm>
            <a:off x="9733328" y="4079082"/>
            <a:ext cx="7828405" cy="4755756"/>
          </a:xfrm>
          <a:custGeom>
            <a:rect b="b" l="l" r="r" t="t"/>
            <a:pathLst>
              <a:path extrusionOk="0" h="4755756" w="7828405">
                <a:moveTo>
                  <a:pt x="0" y="0"/>
                </a:moveTo>
                <a:lnTo>
                  <a:pt x="7828405" y="0"/>
                </a:lnTo>
                <a:lnTo>
                  <a:pt x="7828405" y="4755756"/>
                </a:lnTo>
                <a:lnTo>
                  <a:pt x="0" y="4755756"/>
                </a:lnTo>
                <a:lnTo>
                  <a:pt x="0" y="0"/>
                </a:lnTo>
                <a:close/>
              </a:path>
            </a:pathLst>
          </a:custGeom>
          <a:blipFill rotWithShape="1">
            <a:blip r:embed="rId3">
              <a:alphaModFix/>
            </a:blip>
            <a:stretch>
              <a:fillRect b="0" l="0" r="0" t="0"/>
            </a:stretch>
          </a:blipFill>
          <a:ln>
            <a:noFill/>
          </a:ln>
        </p:spPr>
      </p:sp>
      <p:sp>
        <p:nvSpPr>
          <p:cNvPr id="170" name="Google Shape;170;p7"/>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sp>
        <p:nvSpPr>
          <p:cNvPr id="171" name="Google Shape;171;p7"/>
          <p:cNvSpPr txBox="1"/>
          <p:nvPr/>
        </p:nvSpPr>
        <p:spPr>
          <a:xfrm>
            <a:off x="852686" y="2141938"/>
            <a:ext cx="8704500" cy="7449900"/>
          </a:xfrm>
          <a:prstGeom prst="rect">
            <a:avLst/>
          </a:prstGeom>
          <a:noFill/>
          <a:ln>
            <a:noFill/>
          </a:ln>
        </p:spPr>
        <p:txBody>
          <a:bodyPr anchorCtr="0" anchor="t" bIns="0" lIns="0" spcFirstLastPara="1" rIns="0" wrap="square" tIns="0">
            <a:spAutoFit/>
          </a:bodyPr>
          <a:lstStyle/>
          <a:p>
            <a:pPr indent="-228600" lvl="1" marL="431801" marR="0" rtl="0" algn="l">
              <a:lnSpc>
                <a:spcPct val="140000"/>
              </a:lnSpc>
              <a:spcBef>
                <a:spcPts val="0"/>
              </a:spcBef>
              <a:spcAft>
                <a:spcPts val="0"/>
              </a:spcAft>
              <a:buClr>
                <a:srgbClr val="000000"/>
              </a:buClr>
              <a:buSzPts val="2200"/>
              <a:buFont typeface="Arial"/>
              <a:buChar char="•"/>
            </a:pPr>
            <a:r>
              <a:rPr i="0" lang="en-US" sz="2200" u="none" cap="none" strike="noStrike">
                <a:solidFill>
                  <a:srgbClr val="000000"/>
                </a:solidFill>
              </a:rPr>
              <a:t>Bắt đầu với một </a:t>
            </a:r>
            <a:r>
              <a:rPr b="1" i="0" lang="en-US" sz="2200" u="none" cap="none" strike="noStrike">
                <a:solidFill>
                  <a:srgbClr val="000000"/>
                </a:solidFill>
              </a:rPr>
              <a:t>Loader</a:t>
            </a:r>
            <a:r>
              <a:rPr i="0" lang="en-US" sz="2200" u="none" cap="none" strike="noStrike">
                <a:solidFill>
                  <a:srgbClr val="000000"/>
                </a:solidFill>
              </a:rPr>
              <a:t> (bộ nạp dữ liệu), có nhiệm vụ thu thập các Document (tài liệu) chứa dữ liệu. Các tài liệu này có thể đến từ nhiều nguồn khác nhau như bài viết, sách, trang web hoặc bài đăng trên mạng xã hội.</a:t>
            </a:r>
            <a:endParaRPr sz="1600"/>
          </a:p>
          <a:p>
            <a:pPr indent="-228600" lvl="1" marL="431801" marR="0" rtl="0" algn="l">
              <a:lnSpc>
                <a:spcPct val="140000"/>
              </a:lnSpc>
              <a:spcBef>
                <a:spcPts val="0"/>
              </a:spcBef>
              <a:spcAft>
                <a:spcPts val="0"/>
              </a:spcAft>
              <a:buClr>
                <a:srgbClr val="000000"/>
              </a:buClr>
              <a:buSzPts val="2200"/>
              <a:buFont typeface="Arial"/>
              <a:buChar char="•"/>
            </a:pPr>
            <a:r>
              <a:rPr i="0" lang="en-US" sz="2200" u="none" cap="none" strike="noStrike">
                <a:solidFill>
                  <a:srgbClr val="000000"/>
                </a:solidFill>
              </a:rPr>
              <a:t>Tiếp theo, </a:t>
            </a:r>
            <a:r>
              <a:rPr b="1" i="0" lang="en-US" sz="2200" u="none" cap="none" strike="noStrike">
                <a:solidFill>
                  <a:srgbClr val="000000"/>
                </a:solidFill>
              </a:rPr>
              <a:t>Splitter</a:t>
            </a:r>
            <a:r>
              <a:rPr i="0" lang="en-US" sz="2200" u="none" cap="none" strike="noStrike">
                <a:solidFill>
                  <a:srgbClr val="000000"/>
                </a:solidFill>
              </a:rPr>
              <a:t> (bộ chia) sẽ chia các tài liệu thành những đoạn nhỏ hơn (chunks), thường là các câu hoặc đoạn văn. Việc chia nhỏ này là cần thiết vì các mô hình RAG hoạt động hiệu quả hơn khi xử lý những phần văn bản nhỏ. Trong sơ đồ, các phần này được gọi là Document Snippets (các đoạn trích tài liệu).</a:t>
            </a:r>
            <a:endParaRPr sz="1600"/>
          </a:p>
          <a:p>
            <a:pPr indent="-228600" lvl="1" marL="431801" marR="0" rtl="0" algn="l">
              <a:lnSpc>
                <a:spcPct val="140000"/>
              </a:lnSpc>
              <a:spcBef>
                <a:spcPts val="0"/>
              </a:spcBef>
              <a:spcAft>
                <a:spcPts val="0"/>
              </a:spcAft>
              <a:buClr>
                <a:srgbClr val="000000"/>
              </a:buClr>
              <a:buSzPts val="2200"/>
              <a:buChar char="•"/>
            </a:pPr>
            <a:r>
              <a:rPr i="0" lang="en-US" sz="2200" u="none" cap="none" strike="noStrike">
                <a:solidFill>
                  <a:srgbClr val="000000"/>
                </a:solidFill>
              </a:rPr>
              <a:t>Sau đó, mỗi chunk văn bản được đưa vào một Embedding Model. Model này sử dụng các thuật toán để chuyển đổi nội dung văn bản thành Vector Embeddings (các vector biểu diễn ngữ nghĩa).</a:t>
            </a:r>
            <a:endParaRPr sz="1600"/>
          </a:p>
          <a:p>
            <a:pPr indent="-228600" lvl="1" marL="431801" marR="0" rtl="0" algn="l">
              <a:lnSpc>
                <a:spcPct val="140000"/>
              </a:lnSpc>
              <a:spcBef>
                <a:spcPts val="0"/>
              </a:spcBef>
              <a:spcAft>
                <a:spcPts val="0"/>
              </a:spcAft>
              <a:buClr>
                <a:srgbClr val="000000"/>
              </a:buClr>
              <a:buSzPts val="2200"/>
              <a:buChar char="•"/>
            </a:pPr>
            <a:r>
              <a:rPr i="0" lang="en-US" sz="2200" u="none" cap="none" strike="noStrike">
                <a:solidFill>
                  <a:srgbClr val="000000"/>
                </a:solidFill>
              </a:rPr>
              <a:t>Cuối cùng, tất cả các Vector Embeddings được tạo ra sẽ được lưu trữ và đánh chỉ mục (indexed) trong Knowledge Base. Điều này giúp hệ thống có thể truy xuất nhanh và hiệu quả những thông tin có nội dung hoặc ý nghĩa tương tự</a:t>
            </a:r>
            <a:endParaRPr sz="1600"/>
          </a:p>
        </p:txBody>
      </p:sp>
      <p:pic>
        <p:nvPicPr>
          <p:cNvPr id="172" name="Google Shape;172;p7"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76" name="Shape 176"/>
        <p:cNvGrpSpPr/>
        <p:nvPr/>
      </p:nvGrpSpPr>
      <p:grpSpPr>
        <a:xfrm>
          <a:off x="0" y="0"/>
          <a:ext cx="0" cy="0"/>
          <a:chOff x="0" y="0"/>
          <a:chExt cx="0" cy="0"/>
        </a:xfrm>
      </p:grpSpPr>
      <p:grpSp>
        <p:nvGrpSpPr>
          <p:cNvPr id="177" name="Google Shape;177;p8"/>
          <p:cNvGrpSpPr/>
          <p:nvPr/>
        </p:nvGrpSpPr>
        <p:grpSpPr>
          <a:xfrm>
            <a:off x="1219200" y="638175"/>
            <a:ext cx="15849600" cy="1533525"/>
            <a:chOff x="0" y="-38100"/>
            <a:chExt cx="21132800" cy="2044700"/>
          </a:xfrm>
        </p:grpSpPr>
        <p:sp>
          <p:nvSpPr>
            <p:cNvPr id="178" name="Google Shape;178;p8"/>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01.6</a:t>
              </a:r>
              <a:endParaRPr/>
            </a:p>
          </p:txBody>
        </p:sp>
        <p:sp>
          <p:nvSpPr>
            <p:cNvPr id="179" name="Google Shape;179;p8"/>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CHUNKING</a:t>
              </a:r>
              <a:endParaRPr sz="4950"/>
            </a:p>
          </p:txBody>
        </p:sp>
        <p:grpSp>
          <p:nvGrpSpPr>
            <p:cNvPr id="180" name="Google Shape;180;p8"/>
            <p:cNvGrpSpPr/>
            <p:nvPr/>
          </p:nvGrpSpPr>
          <p:grpSpPr>
            <a:xfrm>
              <a:off x="0" y="1943100"/>
              <a:ext cx="21132800" cy="63500"/>
              <a:chOff x="0" y="-38100"/>
              <a:chExt cx="21132800" cy="63500"/>
            </a:xfrm>
          </p:grpSpPr>
          <p:sp>
            <p:nvSpPr>
              <p:cNvPr id="181" name="Google Shape;181;p8"/>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82" name="Google Shape;182;p8"/>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83" name="Google Shape;183;p8"/>
          <p:cNvSpPr/>
          <p:nvPr/>
        </p:nvSpPr>
        <p:spPr>
          <a:xfrm>
            <a:off x="10576853" y="2321671"/>
            <a:ext cx="5581096" cy="7167657"/>
          </a:xfrm>
          <a:custGeom>
            <a:rect b="b" l="l" r="r" t="t"/>
            <a:pathLst>
              <a:path extrusionOk="0" h="7167657" w="5581096">
                <a:moveTo>
                  <a:pt x="0" y="0"/>
                </a:moveTo>
                <a:lnTo>
                  <a:pt x="5581096" y="0"/>
                </a:lnTo>
                <a:lnTo>
                  <a:pt x="5581096" y="7167658"/>
                </a:lnTo>
                <a:lnTo>
                  <a:pt x="0" y="7167658"/>
                </a:lnTo>
                <a:lnTo>
                  <a:pt x="0" y="0"/>
                </a:lnTo>
                <a:close/>
              </a:path>
            </a:pathLst>
          </a:custGeom>
          <a:blipFill rotWithShape="1">
            <a:blip r:embed="rId3">
              <a:alphaModFix/>
            </a:blip>
            <a:stretch>
              <a:fillRect b="0" l="0" r="0" t="0"/>
            </a:stretch>
          </a:blipFill>
          <a:ln>
            <a:noFill/>
          </a:ln>
        </p:spPr>
      </p:sp>
      <p:sp>
        <p:nvSpPr>
          <p:cNvPr id="184" name="Google Shape;184;p8"/>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sp>
        <p:nvSpPr>
          <p:cNvPr id="185" name="Google Shape;185;p8"/>
          <p:cNvSpPr txBox="1"/>
          <p:nvPr/>
        </p:nvSpPr>
        <p:spPr>
          <a:xfrm>
            <a:off x="8950033" y="9683115"/>
            <a:ext cx="8834735" cy="2819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650" u="none" cap="none" strike="noStrike">
                <a:solidFill>
                  <a:srgbClr val="000000"/>
                </a:solidFill>
                <a:latin typeface="IBM Plex Mono"/>
                <a:ea typeface="IBM Plex Mono"/>
                <a:cs typeface="IBM Plex Mono"/>
                <a:sym typeface="IBM Plex Mono"/>
              </a:rPr>
              <a:t>https://www.dailydoseofds.com/p/5-chunking-strategies-for-rag/</a:t>
            </a:r>
            <a:endParaRPr/>
          </a:p>
        </p:txBody>
      </p:sp>
      <p:sp>
        <p:nvSpPr>
          <p:cNvPr id="186" name="Google Shape;186;p8"/>
          <p:cNvSpPr txBox="1"/>
          <p:nvPr/>
        </p:nvSpPr>
        <p:spPr>
          <a:xfrm>
            <a:off x="1219200" y="2485862"/>
            <a:ext cx="8997000" cy="5233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00" u="none" cap="none" strike="noStrike">
                <a:solidFill>
                  <a:srgbClr val="000000"/>
                </a:solidFill>
              </a:rPr>
              <a:t>Fixed-size Chunking</a:t>
            </a:r>
            <a:r>
              <a:rPr i="0" lang="en-US" sz="2500" u="none" cap="none" strike="noStrike">
                <a:solidFill>
                  <a:srgbClr val="000000"/>
                </a:solidFill>
              </a:rPr>
              <a:t>: Chia văn bản theo kích thước cố định (số ký tự, từ hoặc token).</a:t>
            </a:r>
            <a:endParaRPr sz="1900"/>
          </a:p>
          <a:p>
            <a:pPr indent="0" lvl="0" marL="0" marR="0" rtl="0" algn="l">
              <a:lnSpc>
                <a:spcPct val="140000"/>
              </a:lnSpc>
              <a:spcBef>
                <a:spcPts val="0"/>
              </a:spcBef>
              <a:spcAft>
                <a:spcPts val="0"/>
              </a:spcAft>
              <a:buNone/>
            </a:pPr>
            <a:r>
              <a:rPr b="1" i="0" lang="en-US" sz="2500" u="none" cap="none" strike="noStrike">
                <a:solidFill>
                  <a:srgbClr val="000000"/>
                </a:solidFill>
              </a:rPr>
              <a:t>Semantic Chunking</a:t>
            </a:r>
            <a:r>
              <a:rPr i="0" lang="en-US" sz="2500" u="none" cap="none" strike="noStrike">
                <a:solidFill>
                  <a:srgbClr val="000000"/>
                </a:solidFill>
              </a:rPr>
              <a:t>: Chia dựa trên ngữ nghĩa, nhóm các nội dung có ý nghĩa liên quan vào cùng một chunk.</a:t>
            </a:r>
            <a:endParaRPr sz="1900"/>
          </a:p>
          <a:p>
            <a:pPr indent="0" lvl="0" marL="0" marR="0" rtl="0" algn="l">
              <a:lnSpc>
                <a:spcPct val="140000"/>
              </a:lnSpc>
              <a:spcBef>
                <a:spcPts val="0"/>
              </a:spcBef>
              <a:spcAft>
                <a:spcPts val="0"/>
              </a:spcAft>
              <a:buNone/>
            </a:pPr>
            <a:r>
              <a:rPr b="1" i="0" lang="en-US" sz="2500" u="none" cap="none" strike="noStrike">
                <a:solidFill>
                  <a:srgbClr val="000000"/>
                </a:solidFill>
              </a:rPr>
              <a:t>Recursive Chunking:</a:t>
            </a:r>
            <a:r>
              <a:rPr i="0" lang="en-US" sz="2500" u="none" cap="none" strike="noStrike">
                <a:solidFill>
                  <a:srgbClr val="000000"/>
                </a:solidFill>
              </a:rPr>
              <a:t> Chia theo nhiều cấp; nếu chunk còn quá lớn thì tiếp tục chia nhỏ.</a:t>
            </a:r>
            <a:endParaRPr sz="1900"/>
          </a:p>
          <a:p>
            <a:pPr indent="0" lvl="0" marL="0" marR="0" rtl="0" algn="l">
              <a:lnSpc>
                <a:spcPct val="140000"/>
              </a:lnSpc>
              <a:spcBef>
                <a:spcPts val="0"/>
              </a:spcBef>
              <a:spcAft>
                <a:spcPts val="0"/>
              </a:spcAft>
              <a:buNone/>
            </a:pPr>
            <a:r>
              <a:rPr b="1" i="0" lang="en-US" sz="2500" u="none" cap="none" strike="noStrike">
                <a:solidFill>
                  <a:srgbClr val="000000"/>
                </a:solidFill>
              </a:rPr>
              <a:t>Document Structure-based Chunking:</a:t>
            </a:r>
            <a:r>
              <a:rPr i="0" lang="en-US" sz="2500" u="none" cap="none" strike="noStrike">
                <a:solidFill>
                  <a:srgbClr val="000000"/>
                </a:solidFill>
              </a:rPr>
              <a:t> Chia theo cấu trúc tài liệu như heading, section, paragraph.</a:t>
            </a:r>
            <a:endParaRPr sz="1900"/>
          </a:p>
          <a:p>
            <a:pPr indent="0" lvl="0" marL="0" marR="0" rtl="0" algn="l">
              <a:lnSpc>
                <a:spcPct val="140000"/>
              </a:lnSpc>
              <a:spcBef>
                <a:spcPts val="0"/>
              </a:spcBef>
              <a:spcAft>
                <a:spcPts val="0"/>
              </a:spcAft>
              <a:buNone/>
            </a:pPr>
            <a:r>
              <a:rPr b="1" i="0" lang="en-US" sz="2500" u="none" cap="none" strike="noStrike">
                <a:solidFill>
                  <a:srgbClr val="000000"/>
                </a:solidFill>
              </a:rPr>
              <a:t>LLM-based Chunking:</a:t>
            </a:r>
            <a:r>
              <a:rPr i="0" lang="en-US" sz="2500" u="none" cap="none" strike="noStrike">
                <a:solidFill>
                  <a:srgbClr val="000000"/>
                </a:solidFill>
              </a:rPr>
              <a:t> Sử dụng LLM để hiểu nội dung và quyết định vị trí chia phù hợp.</a:t>
            </a:r>
            <a:endParaRPr sz="1900"/>
          </a:p>
        </p:txBody>
      </p:sp>
      <p:pic>
        <p:nvPicPr>
          <p:cNvPr id="187" name="Google Shape;187;p8"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91" name="Shape 191"/>
        <p:cNvGrpSpPr/>
        <p:nvPr/>
      </p:nvGrpSpPr>
      <p:grpSpPr>
        <a:xfrm>
          <a:off x="0" y="0"/>
          <a:ext cx="0" cy="0"/>
          <a:chOff x="0" y="0"/>
          <a:chExt cx="0" cy="0"/>
        </a:xfrm>
      </p:grpSpPr>
      <p:grpSp>
        <p:nvGrpSpPr>
          <p:cNvPr id="192" name="Google Shape;192;p9"/>
          <p:cNvGrpSpPr/>
          <p:nvPr/>
        </p:nvGrpSpPr>
        <p:grpSpPr>
          <a:xfrm>
            <a:off x="1219200" y="638175"/>
            <a:ext cx="15849600" cy="1533525"/>
            <a:chOff x="0" y="-38100"/>
            <a:chExt cx="21132800" cy="2044700"/>
          </a:xfrm>
        </p:grpSpPr>
        <p:sp>
          <p:nvSpPr>
            <p:cNvPr id="193" name="Google Shape;193;p9"/>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01.7</a:t>
              </a:r>
              <a:endParaRPr/>
            </a:p>
          </p:txBody>
        </p:sp>
        <p:sp>
          <p:nvSpPr>
            <p:cNvPr id="194" name="Google Shape;194;p9"/>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QUERY STRATEGIES</a:t>
              </a:r>
              <a:endParaRPr sz="4950"/>
            </a:p>
          </p:txBody>
        </p:sp>
        <p:grpSp>
          <p:nvGrpSpPr>
            <p:cNvPr id="195" name="Google Shape;195;p9"/>
            <p:cNvGrpSpPr/>
            <p:nvPr/>
          </p:nvGrpSpPr>
          <p:grpSpPr>
            <a:xfrm>
              <a:off x="0" y="1943100"/>
              <a:ext cx="21132800" cy="63500"/>
              <a:chOff x="0" y="-38100"/>
              <a:chExt cx="21132800" cy="63500"/>
            </a:xfrm>
          </p:grpSpPr>
          <p:sp>
            <p:nvSpPr>
              <p:cNvPr id="196" name="Google Shape;196;p9"/>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97" name="Google Shape;197;p9"/>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98" name="Google Shape;198;p9"/>
          <p:cNvSpPr/>
          <p:nvPr/>
        </p:nvSpPr>
        <p:spPr>
          <a:xfrm>
            <a:off x="4097564" y="2547264"/>
            <a:ext cx="10092871" cy="6711036"/>
          </a:xfrm>
          <a:custGeom>
            <a:rect b="b" l="l" r="r" t="t"/>
            <a:pathLst>
              <a:path extrusionOk="0" h="6711036" w="10092871">
                <a:moveTo>
                  <a:pt x="0" y="0"/>
                </a:moveTo>
                <a:lnTo>
                  <a:pt x="10092872" y="0"/>
                </a:lnTo>
                <a:lnTo>
                  <a:pt x="10092872" y="6711036"/>
                </a:lnTo>
                <a:lnTo>
                  <a:pt x="0" y="6711036"/>
                </a:lnTo>
                <a:lnTo>
                  <a:pt x="0" y="0"/>
                </a:lnTo>
                <a:close/>
              </a:path>
            </a:pathLst>
          </a:custGeom>
          <a:blipFill rotWithShape="1">
            <a:blip r:embed="rId3">
              <a:alphaModFix/>
            </a:blip>
            <a:stretch>
              <a:fillRect b="0" l="0" r="0" t="0"/>
            </a:stretch>
          </a:blipFill>
          <a:ln>
            <a:noFill/>
          </a:ln>
        </p:spPr>
      </p:sp>
      <p:sp>
        <p:nvSpPr>
          <p:cNvPr id="199" name="Google Shape;199;p9"/>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pic>
        <p:nvPicPr>
          <p:cNvPr id="200" name="Google Shape;200;p9"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04" name="Shape 204"/>
        <p:cNvGrpSpPr/>
        <p:nvPr/>
      </p:nvGrpSpPr>
      <p:grpSpPr>
        <a:xfrm>
          <a:off x="0" y="0"/>
          <a:ext cx="0" cy="0"/>
          <a:chOff x="0" y="0"/>
          <a:chExt cx="0" cy="0"/>
        </a:xfrm>
      </p:grpSpPr>
      <p:grpSp>
        <p:nvGrpSpPr>
          <p:cNvPr id="205" name="Google Shape;205;p10"/>
          <p:cNvGrpSpPr/>
          <p:nvPr/>
        </p:nvGrpSpPr>
        <p:grpSpPr>
          <a:xfrm>
            <a:off x="1219200" y="638175"/>
            <a:ext cx="15849600" cy="1533525"/>
            <a:chOff x="0" y="-38100"/>
            <a:chExt cx="21132800" cy="2044700"/>
          </a:xfrm>
        </p:grpSpPr>
        <p:sp>
          <p:nvSpPr>
            <p:cNvPr id="206" name="Google Shape;206;p10"/>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01.8</a:t>
              </a:r>
              <a:endParaRPr/>
            </a:p>
          </p:txBody>
        </p:sp>
        <p:sp>
          <p:nvSpPr>
            <p:cNvPr id="207" name="Google Shape;207;p10"/>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TOOL CALLING</a:t>
              </a:r>
              <a:endParaRPr sz="4950"/>
            </a:p>
          </p:txBody>
        </p:sp>
        <p:grpSp>
          <p:nvGrpSpPr>
            <p:cNvPr id="208" name="Google Shape;208;p10"/>
            <p:cNvGrpSpPr/>
            <p:nvPr/>
          </p:nvGrpSpPr>
          <p:grpSpPr>
            <a:xfrm>
              <a:off x="0" y="1943100"/>
              <a:ext cx="21132800" cy="63500"/>
              <a:chOff x="0" y="-38100"/>
              <a:chExt cx="21132800" cy="63500"/>
            </a:xfrm>
          </p:grpSpPr>
          <p:sp>
            <p:nvSpPr>
              <p:cNvPr id="209" name="Google Shape;209;p10"/>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10" name="Google Shape;210;p10"/>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11" name="Google Shape;211;p10"/>
          <p:cNvSpPr/>
          <p:nvPr/>
        </p:nvSpPr>
        <p:spPr>
          <a:xfrm>
            <a:off x="11273798" y="2368807"/>
            <a:ext cx="5193669" cy="7073386"/>
          </a:xfrm>
          <a:custGeom>
            <a:rect b="b" l="l" r="r" t="t"/>
            <a:pathLst>
              <a:path extrusionOk="0" h="7073386" w="5193669">
                <a:moveTo>
                  <a:pt x="0" y="0"/>
                </a:moveTo>
                <a:lnTo>
                  <a:pt x="5193669" y="0"/>
                </a:lnTo>
                <a:lnTo>
                  <a:pt x="5193669" y="7073386"/>
                </a:lnTo>
                <a:lnTo>
                  <a:pt x="0" y="7073386"/>
                </a:lnTo>
                <a:lnTo>
                  <a:pt x="0" y="0"/>
                </a:lnTo>
                <a:close/>
              </a:path>
            </a:pathLst>
          </a:custGeom>
          <a:blipFill rotWithShape="1">
            <a:blip r:embed="rId3">
              <a:alphaModFix/>
            </a:blip>
            <a:stretch>
              <a:fillRect b="0" l="0" r="0" t="0"/>
            </a:stretch>
          </a:blipFill>
          <a:ln>
            <a:noFill/>
          </a:ln>
        </p:spPr>
      </p:sp>
      <p:sp>
        <p:nvSpPr>
          <p:cNvPr id="212" name="Google Shape;212;p10"/>
          <p:cNvSpPr/>
          <p:nvPr/>
        </p:nvSpPr>
        <p:spPr>
          <a:xfrm>
            <a:off x="588919" y="4178459"/>
            <a:ext cx="5990205" cy="5263734"/>
          </a:xfrm>
          <a:custGeom>
            <a:rect b="b" l="l" r="r" t="t"/>
            <a:pathLst>
              <a:path extrusionOk="0" h="5263734" w="5990205">
                <a:moveTo>
                  <a:pt x="0" y="0"/>
                </a:moveTo>
                <a:lnTo>
                  <a:pt x="5990206" y="0"/>
                </a:lnTo>
                <a:lnTo>
                  <a:pt x="5990206" y="5263734"/>
                </a:lnTo>
                <a:lnTo>
                  <a:pt x="0" y="5263734"/>
                </a:lnTo>
                <a:lnTo>
                  <a:pt x="0" y="0"/>
                </a:lnTo>
                <a:close/>
              </a:path>
            </a:pathLst>
          </a:custGeom>
          <a:blipFill rotWithShape="1">
            <a:blip r:embed="rId4">
              <a:alphaModFix/>
            </a:blip>
            <a:stretch>
              <a:fillRect b="0" l="0" r="0" t="0"/>
            </a:stretch>
          </a:blipFill>
          <a:ln cap="sq" cmpd="sng" w="38100">
            <a:solidFill>
              <a:srgbClr val="000000"/>
            </a:solidFill>
            <a:prstDash val="solid"/>
            <a:miter lim="8000"/>
            <a:headEnd len="sm" w="sm" type="none"/>
            <a:tailEnd len="sm" w="sm" type="none"/>
          </a:ln>
        </p:spPr>
      </p:sp>
      <p:sp>
        <p:nvSpPr>
          <p:cNvPr id="213" name="Google Shape;213;p10"/>
          <p:cNvSpPr/>
          <p:nvPr/>
        </p:nvSpPr>
        <p:spPr>
          <a:xfrm>
            <a:off x="6826289" y="5943150"/>
            <a:ext cx="4317687" cy="1734352"/>
          </a:xfrm>
          <a:custGeom>
            <a:rect b="b" l="l" r="r" t="t"/>
            <a:pathLst>
              <a:path extrusionOk="0" h="1734352" w="4317687">
                <a:moveTo>
                  <a:pt x="0" y="0"/>
                </a:moveTo>
                <a:lnTo>
                  <a:pt x="4317687" y="0"/>
                </a:lnTo>
                <a:lnTo>
                  <a:pt x="4317687" y="1734352"/>
                </a:lnTo>
                <a:lnTo>
                  <a:pt x="0" y="1734352"/>
                </a:lnTo>
                <a:lnTo>
                  <a:pt x="0" y="0"/>
                </a:lnTo>
                <a:close/>
              </a:path>
            </a:pathLst>
          </a:custGeom>
          <a:blipFill rotWithShape="1">
            <a:blip r:embed="rId5">
              <a:alphaModFix/>
            </a:blip>
            <a:stretch>
              <a:fillRect b="0" l="0" r="0" t="0"/>
            </a:stretch>
          </a:blipFill>
          <a:ln cap="sq" cmpd="sng" w="38100">
            <a:solidFill>
              <a:srgbClr val="000000"/>
            </a:solidFill>
            <a:prstDash val="solid"/>
            <a:miter lim="8000"/>
            <a:headEnd len="sm" w="sm" type="none"/>
            <a:tailEnd len="sm" w="sm" type="none"/>
          </a:ln>
        </p:spPr>
      </p:sp>
      <p:sp>
        <p:nvSpPr>
          <p:cNvPr id="214" name="Google Shape;214;p10"/>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sp>
        <p:nvSpPr>
          <p:cNvPr id="215" name="Google Shape;215;p10"/>
          <p:cNvSpPr txBox="1"/>
          <p:nvPr/>
        </p:nvSpPr>
        <p:spPr>
          <a:xfrm>
            <a:off x="588919" y="2321182"/>
            <a:ext cx="10684800" cy="3040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200" u="none" cap="none" strike="noStrike">
                <a:solidFill>
                  <a:srgbClr val="000000"/>
                </a:solidFill>
              </a:rPr>
              <a:t>Tool calling</a:t>
            </a:r>
            <a:r>
              <a:rPr i="0" lang="en-US" sz="2200" u="none" cap="none" strike="noStrike">
                <a:solidFill>
                  <a:srgbClr val="000000"/>
                </a:solidFill>
              </a:rPr>
              <a:t> refers to the ability of artificial intelligence (AI) models to interact with external tools, application programming interfaces (APIs) or systems to enhance their functions.</a:t>
            </a:r>
            <a:endParaRPr sz="1600"/>
          </a:p>
          <a:p>
            <a:pPr indent="0" lvl="0" marL="0" marR="0" rtl="0" algn="l">
              <a:lnSpc>
                <a:spcPct val="140000"/>
              </a:lnSpc>
              <a:spcBef>
                <a:spcPts val="0"/>
              </a:spcBef>
              <a:spcAft>
                <a:spcPts val="0"/>
              </a:spcAft>
              <a:buNone/>
            </a:pPr>
            <a:r>
              <a:rPr i="0" lang="en-US" sz="2200" u="none" cap="none" strike="noStrike">
                <a:solidFill>
                  <a:srgbClr val="000000"/>
                </a:solidFill>
              </a:rPr>
              <a:t>Tool Calling sẽ giúp chúng ta tương tác với các dữ liệu cụ thể trong thực tế.</a:t>
            </a:r>
            <a:endParaRPr sz="1600"/>
          </a:p>
          <a:p>
            <a:pPr indent="0" lvl="0" marL="0" marR="0" rtl="0" algn="l">
              <a:lnSpc>
                <a:spcPct val="98000"/>
              </a:lnSpc>
              <a:spcBef>
                <a:spcPts val="0"/>
              </a:spcBef>
              <a:spcAft>
                <a:spcPts val="0"/>
              </a:spcAft>
              <a:buNone/>
            </a:pPr>
            <a:r>
              <a:t/>
            </a:r>
            <a:endParaRPr i="0" sz="2200" u="none" cap="none" strike="noStrike">
              <a:solidFill>
                <a:srgbClr val="000000"/>
              </a:solidFill>
            </a:endParaRPr>
          </a:p>
          <a:p>
            <a:pPr indent="0" lvl="0" marL="0" marR="0" rtl="0" algn="l">
              <a:lnSpc>
                <a:spcPct val="140000"/>
              </a:lnSpc>
              <a:spcBef>
                <a:spcPts val="0"/>
              </a:spcBef>
              <a:spcAft>
                <a:spcPts val="0"/>
              </a:spcAft>
              <a:buNone/>
            </a:pPr>
            <a:r>
              <a:t/>
            </a:r>
            <a:endParaRPr i="0" sz="2200" u="none" cap="none" strike="noStrike">
              <a:solidFill>
                <a:srgbClr val="000000"/>
              </a:solidFill>
            </a:endParaRPr>
          </a:p>
          <a:p>
            <a:pPr indent="0" lvl="0" marL="0" marR="0" rtl="0" algn="l">
              <a:lnSpc>
                <a:spcPct val="140000"/>
              </a:lnSpc>
              <a:spcBef>
                <a:spcPts val="0"/>
              </a:spcBef>
              <a:spcAft>
                <a:spcPts val="0"/>
              </a:spcAft>
              <a:buNone/>
            </a:pPr>
            <a:r>
              <a:t/>
            </a:r>
            <a:endParaRPr i="0" sz="2200" u="none" cap="none" strike="noStrike">
              <a:solidFill>
                <a:srgbClr val="000000"/>
              </a:solidFill>
            </a:endParaRPr>
          </a:p>
        </p:txBody>
      </p:sp>
      <p:sp>
        <p:nvSpPr>
          <p:cNvPr id="216" name="Google Shape;216;p10"/>
          <p:cNvSpPr txBox="1"/>
          <p:nvPr/>
        </p:nvSpPr>
        <p:spPr>
          <a:xfrm>
            <a:off x="9453265" y="9703118"/>
            <a:ext cx="8834735" cy="2819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650" u="none" cap="none" strike="noStrike">
                <a:solidFill>
                  <a:srgbClr val="000000"/>
                </a:solidFill>
                <a:latin typeface="IBM Plex Mono"/>
                <a:ea typeface="IBM Plex Mono"/>
                <a:cs typeface="IBM Plex Mono"/>
                <a:sym typeface="IBM Plex Mono"/>
              </a:rPr>
              <a:t>https://developers.openai.com/api/docs/guides/function-calling</a:t>
            </a:r>
            <a:endParaRPr/>
          </a:p>
        </p:txBody>
      </p:sp>
      <p:pic>
        <p:nvPicPr>
          <p:cNvPr id="217" name="Google Shape;217;p10" title="Logo_Color.png"/>
          <p:cNvPicPr preferRelativeResize="0"/>
          <p:nvPr/>
        </p:nvPicPr>
        <p:blipFill rotWithShape="1">
          <a:blip r:embed="rId6">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21" name="Shape 221"/>
        <p:cNvGrpSpPr/>
        <p:nvPr/>
      </p:nvGrpSpPr>
      <p:grpSpPr>
        <a:xfrm>
          <a:off x="0" y="0"/>
          <a:ext cx="0" cy="0"/>
          <a:chOff x="0" y="0"/>
          <a:chExt cx="0" cy="0"/>
        </a:xfrm>
      </p:grpSpPr>
      <p:grpSp>
        <p:nvGrpSpPr>
          <p:cNvPr id="222" name="Google Shape;222;p11"/>
          <p:cNvGrpSpPr/>
          <p:nvPr/>
        </p:nvGrpSpPr>
        <p:grpSpPr>
          <a:xfrm>
            <a:off x="1219200" y="638175"/>
            <a:ext cx="15849600" cy="1533525"/>
            <a:chOff x="0" y="-38100"/>
            <a:chExt cx="21132800" cy="2044700"/>
          </a:xfrm>
        </p:grpSpPr>
        <p:sp>
          <p:nvSpPr>
            <p:cNvPr id="223" name="Google Shape;223;p11"/>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01.9</a:t>
              </a:r>
              <a:endParaRPr/>
            </a:p>
          </p:txBody>
        </p:sp>
        <p:sp>
          <p:nvSpPr>
            <p:cNvPr id="224" name="Google Shape;224;p11"/>
            <p:cNvSpPr txBox="1"/>
            <p:nvPr/>
          </p:nvSpPr>
          <p:spPr>
            <a:xfrm>
              <a:off x="0" y="784225"/>
              <a:ext cx="19050000" cy="913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450" u="none" cap="none" strike="noStrike">
                  <a:solidFill>
                    <a:srgbClr val="17324D"/>
                  </a:solidFill>
                </a:rPr>
                <a:t>MCP (MODEL CONTEXT PROTOCOL)</a:t>
              </a:r>
              <a:endParaRPr sz="1500"/>
            </a:p>
          </p:txBody>
        </p:sp>
        <p:grpSp>
          <p:nvGrpSpPr>
            <p:cNvPr id="225" name="Google Shape;225;p11"/>
            <p:cNvGrpSpPr/>
            <p:nvPr/>
          </p:nvGrpSpPr>
          <p:grpSpPr>
            <a:xfrm>
              <a:off x="0" y="1943100"/>
              <a:ext cx="21132800" cy="63500"/>
              <a:chOff x="0" y="-38100"/>
              <a:chExt cx="21132800" cy="63500"/>
            </a:xfrm>
          </p:grpSpPr>
          <p:sp>
            <p:nvSpPr>
              <p:cNvPr id="226" name="Google Shape;226;p11"/>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27" name="Google Shape;227;p11"/>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28" name="Google Shape;228;p11"/>
          <p:cNvSpPr/>
          <p:nvPr/>
        </p:nvSpPr>
        <p:spPr>
          <a:xfrm>
            <a:off x="9874021" y="2264876"/>
            <a:ext cx="5234001" cy="7281249"/>
          </a:xfrm>
          <a:custGeom>
            <a:rect b="b" l="l" r="r" t="t"/>
            <a:pathLst>
              <a:path extrusionOk="0" h="7281249" w="5234001">
                <a:moveTo>
                  <a:pt x="0" y="0"/>
                </a:moveTo>
                <a:lnTo>
                  <a:pt x="5234001" y="0"/>
                </a:lnTo>
                <a:lnTo>
                  <a:pt x="5234001" y="7281248"/>
                </a:lnTo>
                <a:lnTo>
                  <a:pt x="0" y="7281248"/>
                </a:lnTo>
                <a:lnTo>
                  <a:pt x="0" y="0"/>
                </a:lnTo>
                <a:close/>
              </a:path>
            </a:pathLst>
          </a:custGeom>
          <a:blipFill rotWithShape="1">
            <a:blip r:embed="rId3">
              <a:alphaModFix/>
            </a:blip>
            <a:stretch>
              <a:fillRect b="0" l="0" r="0" t="0"/>
            </a:stretch>
          </a:blipFill>
          <a:ln>
            <a:noFill/>
          </a:ln>
        </p:spPr>
      </p:sp>
      <p:sp>
        <p:nvSpPr>
          <p:cNvPr id="229" name="Google Shape;229;p11"/>
          <p:cNvSpPr/>
          <p:nvPr/>
        </p:nvSpPr>
        <p:spPr>
          <a:xfrm>
            <a:off x="3128882" y="2439603"/>
            <a:ext cx="6015118" cy="7106521"/>
          </a:xfrm>
          <a:custGeom>
            <a:rect b="b" l="l" r="r" t="t"/>
            <a:pathLst>
              <a:path extrusionOk="0" h="7106521" w="6015118">
                <a:moveTo>
                  <a:pt x="0" y="0"/>
                </a:moveTo>
                <a:lnTo>
                  <a:pt x="6015118" y="0"/>
                </a:lnTo>
                <a:lnTo>
                  <a:pt x="6015118" y="7106521"/>
                </a:lnTo>
                <a:lnTo>
                  <a:pt x="0" y="7106521"/>
                </a:lnTo>
                <a:lnTo>
                  <a:pt x="0" y="0"/>
                </a:lnTo>
                <a:close/>
              </a:path>
            </a:pathLst>
          </a:custGeom>
          <a:blipFill rotWithShape="1">
            <a:blip r:embed="rId4">
              <a:alphaModFix/>
            </a:blip>
            <a:stretch>
              <a:fillRect b="0" l="0" r="0" t="0"/>
            </a:stretch>
          </a:blipFill>
          <a:ln>
            <a:noFill/>
          </a:ln>
        </p:spPr>
      </p:sp>
      <p:sp>
        <p:nvSpPr>
          <p:cNvPr id="230" name="Google Shape;230;p11"/>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LangChain4J</a:t>
            </a:r>
            <a:endParaRPr/>
          </a:p>
        </p:txBody>
      </p:sp>
      <p:sp>
        <p:nvSpPr>
          <p:cNvPr id="231" name="Google Shape;231;p11"/>
          <p:cNvSpPr txBox="1"/>
          <p:nvPr/>
        </p:nvSpPr>
        <p:spPr>
          <a:xfrm>
            <a:off x="3721143" y="9774724"/>
            <a:ext cx="10845715" cy="2819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650" u="none" cap="none" strike="noStrike">
                <a:solidFill>
                  <a:srgbClr val="000000"/>
                </a:solidFill>
                <a:latin typeface="IBM Plex Mono"/>
                <a:ea typeface="IBM Plex Mono"/>
                <a:cs typeface="IBM Plex Mono"/>
                <a:sym typeface="IBM Plex Mono"/>
              </a:rPr>
              <a:t>https://www.dailydoseofds.com/p/visual-guide-to-model-context-protocol-mcp/</a:t>
            </a:r>
            <a:endParaRPr/>
          </a:p>
        </p:txBody>
      </p:sp>
      <p:pic>
        <p:nvPicPr>
          <p:cNvPr id="232" name="Google Shape;232;p11" title="Logo_Color.png"/>
          <p:cNvPicPr preferRelativeResize="0"/>
          <p:nvPr/>
        </p:nvPicPr>
        <p:blipFill rotWithShape="1">
          <a:blip r:embed="rId5">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24D"/>
        </a:solidFill>
      </p:bgPr>
    </p:bg>
    <p:spTree>
      <p:nvGrpSpPr>
        <p:cNvPr id="236" name="Shape 236"/>
        <p:cNvGrpSpPr/>
        <p:nvPr/>
      </p:nvGrpSpPr>
      <p:grpSpPr>
        <a:xfrm>
          <a:off x="0" y="0"/>
          <a:ext cx="0" cy="0"/>
          <a:chOff x="0" y="0"/>
          <a:chExt cx="0" cy="0"/>
        </a:xfrm>
      </p:grpSpPr>
      <p:grpSp>
        <p:nvGrpSpPr>
          <p:cNvPr id="237" name="Google Shape;237;p12"/>
          <p:cNvGrpSpPr/>
          <p:nvPr/>
        </p:nvGrpSpPr>
        <p:grpSpPr>
          <a:xfrm>
            <a:off x="1219200" y="3114675"/>
            <a:ext cx="876300" cy="104775"/>
            <a:chOff x="0" y="-38100"/>
            <a:chExt cx="1168400" cy="139700"/>
          </a:xfrm>
        </p:grpSpPr>
        <p:sp>
          <p:nvSpPr>
            <p:cNvPr id="238" name="Google Shape;238;p12"/>
            <p:cNvSpPr/>
            <p:nvPr/>
          </p:nvSpPr>
          <p:spPr>
            <a:xfrm>
              <a:off x="0" y="0"/>
              <a:ext cx="1168400" cy="101600"/>
            </a:xfrm>
            <a:custGeom>
              <a:rect b="b" l="l" r="r" t="t"/>
              <a:pathLst>
                <a:path extrusionOk="0" h="101600" w="1168400">
                  <a:moveTo>
                    <a:pt x="0" y="0"/>
                  </a:moveTo>
                  <a:lnTo>
                    <a:pt x="1168400" y="0"/>
                  </a:lnTo>
                  <a:lnTo>
                    <a:pt x="1168400" y="101600"/>
                  </a:lnTo>
                  <a:lnTo>
                    <a:pt x="0" y="101600"/>
                  </a:lnTo>
                  <a:close/>
                </a:path>
              </a:pathLst>
            </a:custGeom>
            <a:solidFill>
              <a:srgbClr val="3F8069"/>
            </a:solidFill>
            <a:ln>
              <a:noFill/>
            </a:ln>
          </p:spPr>
        </p:sp>
        <p:sp>
          <p:nvSpPr>
            <p:cNvPr id="239" name="Google Shape;239;p12"/>
            <p:cNvSpPr txBox="1"/>
            <p:nvPr/>
          </p:nvSpPr>
          <p:spPr>
            <a:xfrm>
              <a:off x="0" y="-38100"/>
              <a:ext cx="11684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0" name="Google Shape;240;p12"/>
          <p:cNvSpPr txBox="1"/>
          <p:nvPr/>
        </p:nvSpPr>
        <p:spPr>
          <a:xfrm>
            <a:off x="1219200" y="1009650"/>
            <a:ext cx="1714500" cy="281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86C7AD"/>
                </a:solidFill>
                <a:latin typeface="IBM Plex Mono"/>
                <a:ea typeface="IBM Plex Mono"/>
                <a:cs typeface="IBM Plex Mono"/>
                <a:sym typeface="IBM Plex Mono"/>
              </a:rPr>
              <a:t>02</a:t>
            </a:r>
            <a:endParaRPr/>
          </a:p>
        </p:txBody>
      </p:sp>
      <p:sp>
        <p:nvSpPr>
          <p:cNvPr id="241" name="Google Shape;241;p12"/>
          <p:cNvSpPr txBox="1"/>
          <p:nvPr/>
        </p:nvSpPr>
        <p:spPr>
          <a:xfrm>
            <a:off x="1219200" y="3686175"/>
            <a:ext cx="14287500" cy="1269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8250" u="none" cap="none" strike="noStrike">
                <a:solidFill>
                  <a:srgbClr val="FFFFFF"/>
                </a:solidFill>
              </a:rPr>
              <a:t>Enhance Concept</a:t>
            </a:r>
            <a:endParaRPr sz="8250"/>
          </a:p>
        </p:txBody>
      </p:sp>
      <p:pic>
        <p:nvPicPr>
          <p:cNvPr id="242" name="Google Shape;242;p12" title="Logo_white.png"/>
          <p:cNvPicPr preferRelativeResize="0"/>
          <p:nvPr/>
        </p:nvPicPr>
        <p:blipFill rotWithShape="1">
          <a:blip r:embed="rId3">
            <a:alphaModFix/>
          </a:blip>
          <a:srcRect b="0" l="0" r="0" t="0"/>
          <a:stretch/>
        </p:blipFill>
        <p:spPr>
          <a:xfrm>
            <a:off x="15939500" y="167000"/>
            <a:ext cx="2051400" cy="1681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46" name="Shape 246"/>
        <p:cNvGrpSpPr/>
        <p:nvPr/>
      </p:nvGrpSpPr>
      <p:grpSpPr>
        <a:xfrm>
          <a:off x="0" y="0"/>
          <a:ext cx="0" cy="0"/>
          <a:chOff x="0" y="0"/>
          <a:chExt cx="0" cy="0"/>
        </a:xfrm>
      </p:grpSpPr>
      <p:graphicFrame>
        <p:nvGraphicFramePr>
          <p:cNvPr id="247" name="Google Shape;247;p13"/>
          <p:cNvGraphicFramePr/>
          <p:nvPr/>
        </p:nvGraphicFramePr>
        <p:xfrm>
          <a:off x="5538962" y="3247500"/>
          <a:ext cx="7210075" cy="5029201"/>
        </p:xfrm>
        <a:graphic>
          <a:graphicData uri="http://schemas.openxmlformats.org/presentationml/2006/ole">
            <mc:AlternateContent>
              <mc:Choice Requires="v">
                <p:oleObj r:id="rId4" imgH="5029201" imgW="7210075" progId="Excel.Sheet.12" spid="_x0000_s1">
                  <p:embed/>
                </p:oleObj>
              </mc:Choice>
              <mc:Fallback>
                <p:oleObj r:id="rId5" imgH="5029201" imgW="7210075" progId="Excel.Sheet.12">
                  <p:embed/>
                  <p:pic>
                    <p:nvPicPr>
                      <p:cNvPr id="247" name="Google Shape;247;p13"/>
                      <p:cNvPicPr preferRelativeResize="0"/>
                      <p:nvPr/>
                    </p:nvPicPr>
                    <p:blipFill rotWithShape="1">
                      <a:blip r:embed="rId6">
                        <a:alphaModFix/>
                      </a:blip>
                      <a:srcRect b="0" l="0" r="0" t="0"/>
                      <a:stretch/>
                    </p:blipFill>
                    <p:spPr>
                      <a:xfrm>
                        <a:off x="5538962" y="3247500"/>
                        <a:ext cx="7210075" cy="5029201"/>
                      </a:xfrm>
                      <a:prstGeom prst="rect">
                        <a:avLst/>
                      </a:prstGeom>
                      <a:noFill/>
                      <a:ln>
                        <a:noFill/>
                      </a:ln>
                    </p:spPr>
                  </p:pic>
                </p:oleObj>
              </mc:Fallback>
            </mc:AlternateContent>
          </a:graphicData>
        </a:graphic>
      </p:graphicFrame>
      <p:sp>
        <p:nvSpPr>
          <p:cNvPr id="248" name="Google Shape;248;p13"/>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ENHANCE CONCEPT</a:t>
            </a:r>
            <a:endParaRPr/>
          </a:p>
        </p:txBody>
      </p:sp>
      <p:grpSp>
        <p:nvGrpSpPr>
          <p:cNvPr id="249" name="Google Shape;249;p13"/>
          <p:cNvGrpSpPr/>
          <p:nvPr/>
        </p:nvGrpSpPr>
        <p:grpSpPr>
          <a:xfrm>
            <a:off x="1219200" y="638175"/>
            <a:ext cx="17318412" cy="2216725"/>
            <a:chOff x="0" y="-38100"/>
            <a:chExt cx="21132900" cy="2955633"/>
          </a:xfrm>
        </p:grpSpPr>
        <p:sp>
          <p:nvSpPr>
            <p:cNvPr id="250" name="Google Shape;250;p13"/>
            <p:cNvSpPr txBox="1"/>
            <p:nvPr/>
          </p:nvSpPr>
          <p:spPr>
            <a:xfrm>
              <a:off x="0" y="-38100"/>
              <a:ext cx="1524000" cy="338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02.1</a:t>
              </a:r>
              <a:endParaRPr/>
            </a:p>
          </p:txBody>
        </p:sp>
        <p:sp>
          <p:nvSpPr>
            <p:cNvPr id="251" name="Google Shape;251;p13"/>
            <p:cNvSpPr txBox="1"/>
            <p:nvPr/>
          </p:nvSpPr>
          <p:spPr>
            <a:xfrm>
              <a:off x="0" y="784233"/>
              <a:ext cx="17406900" cy="2133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SSE vs HTTP - Sử dụng SE để làm streaming </a:t>
              </a:r>
              <a:endParaRPr b="1" i="0" sz="4950" u="none" cap="none" strike="noStrike">
                <a:solidFill>
                  <a:srgbClr val="17324D"/>
                </a:solidFill>
              </a:endParaRPr>
            </a:p>
            <a:p>
              <a:pPr indent="0" lvl="0" marL="0" marR="0" rtl="0" algn="l">
                <a:lnSpc>
                  <a:spcPct val="110000"/>
                </a:lnSpc>
                <a:spcBef>
                  <a:spcPts val="0"/>
                </a:spcBef>
                <a:spcAft>
                  <a:spcPts val="0"/>
                </a:spcAft>
                <a:buNone/>
              </a:pPr>
              <a:r>
                <a:rPr b="1" i="0" lang="en-US" sz="4950" u="none" cap="none" strike="noStrike">
                  <a:solidFill>
                    <a:srgbClr val="17324D"/>
                  </a:solidFill>
                </a:rPr>
                <a:t>AI response</a:t>
              </a:r>
              <a:endParaRPr sz="4950"/>
            </a:p>
          </p:txBody>
        </p:sp>
        <p:grpSp>
          <p:nvGrpSpPr>
            <p:cNvPr id="252" name="Google Shape;252;p13"/>
            <p:cNvGrpSpPr/>
            <p:nvPr/>
          </p:nvGrpSpPr>
          <p:grpSpPr>
            <a:xfrm>
              <a:off x="0" y="2743200"/>
              <a:ext cx="21132900" cy="63600"/>
              <a:chOff x="0" y="-38100"/>
              <a:chExt cx="21132900" cy="63600"/>
            </a:xfrm>
          </p:grpSpPr>
          <p:sp>
            <p:nvSpPr>
              <p:cNvPr id="253" name="Google Shape;253;p13"/>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54" name="Google Shape;254;p13"/>
              <p:cNvSpPr txBox="1"/>
              <p:nvPr/>
            </p:nvSpPr>
            <p:spPr>
              <a:xfrm>
                <a:off x="0" y="-38100"/>
                <a:ext cx="21132900" cy="636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pic>
        <p:nvPicPr>
          <p:cNvPr id="255" name="Google Shape;255;p13" title="Logo_Color.png"/>
          <p:cNvPicPr preferRelativeResize="0"/>
          <p:nvPr/>
        </p:nvPicPr>
        <p:blipFill rotWithShape="1">
          <a:blip r:embed="rId7">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59" name="Shape 259"/>
        <p:cNvGrpSpPr/>
        <p:nvPr/>
      </p:nvGrpSpPr>
      <p:grpSpPr>
        <a:xfrm>
          <a:off x="0" y="0"/>
          <a:ext cx="0" cy="0"/>
          <a:chOff x="0" y="0"/>
          <a:chExt cx="0" cy="0"/>
        </a:xfrm>
      </p:grpSpPr>
      <p:grpSp>
        <p:nvGrpSpPr>
          <p:cNvPr id="260" name="Google Shape;260;p14"/>
          <p:cNvGrpSpPr/>
          <p:nvPr/>
        </p:nvGrpSpPr>
        <p:grpSpPr>
          <a:xfrm>
            <a:off x="1219200" y="638175"/>
            <a:ext cx="15849600" cy="1533525"/>
            <a:chOff x="0" y="-38100"/>
            <a:chExt cx="21132800" cy="2044700"/>
          </a:xfrm>
        </p:grpSpPr>
        <p:sp>
          <p:nvSpPr>
            <p:cNvPr id="261" name="Google Shape;261;p14"/>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02.2</a:t>
              </a:r>
              <a:endParaRPr/>
            </a:p>
          </p:txBody>
        </p:sp>
        <p:sp>
          <p:nvSpPr>
            <p:cNvPr id="262" name="Google Shape;262;p14"/>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Caching </a:t>
              </a:r>
              <a:endParaRPr sz="4950"/>
            </a:p>
          </p:txBody>
        </p:sp>
        <p:grpSp>
          <p:nvGrpSpPr>
            <p:cNvPr id="263" name="Google Shape;263;p14"/>
            <p:cNvGrpSpPr/>
            <p:nvPr/>
          </p:nvGrpSpPr>
          <p:grpSpPr>
            <a:xfrm>
              <a:off x="0" y="1943100"/>
              <a:ext cx="21132800" cy="63500"/>
              <a:chOff x="0" y="-38100"/>
              <a:chExt cx="21132800" cy="63500"/>
            </a:xfrm>
          </p:grpSpPr>
          <p:sp>
            <p:nvSpPr>
              <p:cNvPr id="264" name="Google Shape;264;p14"/>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65" name="Google Shape;265;p14"/>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66" name="Google Shape;266;p14"/>
          <p:cNvSpPr/>
          <p:nvPr/>
        </p:nvSpPr>
        <p:spPr>
          <a:xfrm>
            <a:off x="10092871" y="2171700"/>
            <a:ext cx="6237999" cy="7263023"/>
          </a:xfrm>
          <a:custGeom>
            <a:rect b="b" l="l" r="r" t="t"/>
            <a:pathLst>
              <a:path extrusionOk="0" h="7263023" w="6237999">
                <a:moveTo>
                  <a:pt x="0" y="0"/>
                </a:moveTo>
                <a:lnTo>
                  <a:pt x="6237999" y="0"/>
                </a:lnTo>
                <a:lnTo>
                  <a:pt x="6237999" y="7263023"/>
                </a:lnTo>
                <a:lnTo>
                  <a:pt x="0" y="7263023"/>
                </a:lnTo>
                <a:lnTo>
                  <a:pt x="0" y="0"/>
                </a:lnTo>
                <a:close/>
              </a:path>
            </a:pathLst>
          </a:custGeom>
          <a:blipFill rotWithShape="1">
            <a:blip r:embed="rId3">
              <a:alphaModFix/>
            </a:blip>
            <a:stretch>
              <a:fillRect b="0" l="0" r="0" t="0"/>
            </a:stretch>
          </a:blipFill>
          <a:ln>
            <a:noFill/>
          </a:ln>
        </p:spPr>
      </p:sp>
      <p:sp>
        <p:nvSpPr>
          <p:cNvPr id="267" name="Google Shape;267;p14"/>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SPRING AI</a:t>
            </a:r>
            <a:endParaRPr/>
          </a:p>
        </p:txBody>
      </p:sp>
      <p:sp>
        <p:nvSpPr>
          <p:cNvPr id="268" name="Google Shape;268;p14"/>
          <p:cNvSpPr txBox="1"/>
          <p:nvPr/>
        </p:nvSpPr>
        <p:spPr>
          <a:xfrm>
            <a:off x="9293226" y="9683115"/>
            <a:ext cx="7837289" cy="2819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650" u="none" cap="none" strike="noStrike">
                <a:solidFill>
                  <a:srgbClr val="000000"/>
                </a:solidFill>
                <a:latin typeface="IBM Plex Mono"/>
                <a:ea typeface="IBM Plex Mono"/>
                <a:cs typeface="IBM Plex Mono"/>
                <a:sym typeface="IBM Plex Mono"/>
              </a:rPr>
              <a:t>https://bytebytego.com/guides/top-5-caching-strategies/</a:t>
            </a:r>
            <a:endParaRPr/>
          </a:p>
        </p:txBody>
      </p:sp>
      <p:sp>
        <p:nvSpPr>
          <p:cNvPr id="269" name="Google Shape;269;p14"/>
          <p:cNvSpPr txBox="1"/>
          <p:nvPr/>
        </p:nvSpPr>
        <p:spPr>
          <a:xfrm>
            <a:off x="588919" y="2404513"/>
            <a:ext cx="9022500" cy="6797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300" u="none" cap="none" strike="noStrike">
                <a:solidFill>
                  <a:srgbClr val="000000"/>
                </a:solidFill>
              </a:rPr>
              <a:t>Caching là gì?</a:t>
            </a:r>
            <a:endParaRPr sz="1700"/>
          </a:p>
          <a:p>
            <a:pPr indent="0" lvl="0" marL="0" marR="0" rtl="0" algn="l">
              <a:lnSpc>
                <a:spcPct val="140000"/>
              </a:lnSpc>
              <a:spcBef>
                <a:spcPts val="0"/>
              </a:spcBef>
              <a:spcAft>
                <a:spcPts val="0"/>
              </a:spcAft>
              <a:buNone/>
            </a:pPr>
            <a:r>
              <a:rPr i="0" lang="en-US" sz="2300" u="none" cap="none" strike="noStrike">
                <a:solidFill>
                  <a:srgbClr val="000000"/>
                </a:solidFill>
              </a:rPr>
              <a:t>Caching là việc lưu tạm dữ liệu đã lấy hoặc tính toán trước đó để lần sau có thể lấy nhanh hơn, thay vì phải xử lý lại từ đầu.</a:t>
            </a:r>
            <a:endParaRPr sz="1700"/>
          </a:p>
          <a:p>
            <a:pPr indent="0" lvl="0" marL="0" marR="0" rtl="0" algn="l">
              <a:lnSpc>
                <a:spcPct val="140000"/>
              </a:lnSpc>
              <a:spcBef>
                <a:spcPts val="0"/>
              </a:spcBef>
              <a:spcAft>
                <a:spcPts val="0"/>
              </a:spcAft>
              <a:buNone/>
            </a:pPr>
            <a:r>
              <a:rPr b="1" i="0" lang="en-US" sz="2300" u="none" cap="none" strike="noStrike">
                <a:solidFill>
                  <a:srgbClr val="000000"/>
                </a:solidFill>
              </a:rPr>
              <a:t>Ví dụ</a:t>
            </a:r>
            <a:endParaRPr sz="1700"/>
          </a:p>
          <a:p>
            <a:pPr indent="0" lvl="0" marL="0" marR="0" rtl="0" algn="l">
              <a:lnSpc>
                <a:spcPct val="140000"/>
              </a:lnSpc>
              <a:spcBef>
                <a:spcPts val="0"/>
              </a:spcBef>
              <a:spcAft>
                <a:spcPts val="0"/>
              </a:spcAft>
              <a:buNone/>
            </a:pPr>
            <a:r>
              <a:rPr i="0" lang="en-US" sz="2300" u="none" cap="none" strike="noStrike">
                <a:solidFill>
                  <a:srgbClr val="000000"/>
                </a:solidFill>
              </a:rPr>
              <a:t>Không có cache:</a:t>
            </a:r>
            <a:endParaRPr sz="1700"/>
          </a:p>
          <a:p>
            <a:pPr indent="0" lvl="0" marL="0" marR="0" rtl="0" algn="l">
              <a:lnSpc>
                <a:spcPct val="140000"/>
              </a:lnSpc>
              <a:spcBef>
                <a:spcPts val="0"/>
              </a:spcBef>
              <a:spcAft>
                <a:spcPts val="0"/>
              </a:spcAft>
              <a:buNone/>
            </a:pPr>
            <a:r>
              <a:rPr i="0" lang="en-US" sz="2300" u="none" cap="none" strike="noStrike">
                <a:solidFill>
                  <a:srgbClr val="000000"/>
                </a:solidFill>
              </a:rPr>
              <a:t>Client → Server → Database → Server → Client</a:t>
            </a:r>
            <a:endParaRPr sz="1700"/>
          </a:p>
          <a:p>
            <a:pPr indent="0" lvl="0" marL="0" marR="0" rtl="0" algn="l">
              <a:lnSpc>
                <a:spcPct val="140000"/>
              </a:lnSpc>
              <a:spcBef>
                <a:spcPts val="0"/>
              </a:spcBef>
              <a:spcAft>
                <a:spcPts val="0"/>
              </a:spcAft>
              <a:buNone/>
            </a:pPr>
            <a:r>
              <a:rPr i="0" lang="en-US" sz="2300" u="none" cap="none" strike="noStrike">
                <a:solidFill>
                  <a:srgbClr val="000000"/>
                </a:solidFill>
              </a:rPr>
              <a:t>Mỗi request đều phải query Database.</a:t>
            </a:r>
            <a:endParaRPr sz="1700"/>
          </a:p>
          <a:p>
            <a:pPr indent="0" lvl="0" marL="0" marR="0" rtl="0" algn="l">
              <a:lnSpc>
                <a:spcPct val="140000"/>
              </a:lnSpc>
              <a:spcBef>
                <a:spcPts val="0"/>
              </a:spcBef>
              <a:spcAft>
                <a:spcPts val="0"/>
              </a:spcAft>
              <a:buNone/>
            </a:pPr>
            <a:r>
              <a:rPr b="1" i="0" lang="en-US" sz="2300" u="none" cap="none" strike="noStrike">
                <a:solidFill>
                  <a:srgbClr val="000000"/>
                </a:solidFill>
              </a:rPr>
              <a:t>Có cache:</a:t>
            </a:r>
            <a:endParaRPr sz="1700"/>
          </a:p>
          <a:p>
            <a:pPr indent="0" lvl="0" marL="0" marR="0" rtl="0" algn="l">
              <a:lnSpc>
                <a:spcPct val="140000"/>
              </a:lnSpc>
              <a:spcBef>
                <a:spcPts val="0"/>
              </a:spcBef>
              <a:spcAft>
                <a:spcPts val="0"/>
              </a:spcAft>
              <a:buNone/>
            </a:pPr>
            <a:r>
              <a:rPr i="0" lang="en-US" sz="2300" u="none" cap="none" strike="noStrike">
                <a:solidFill>
                  <a:srgbClr val="000000"/>
                </a:solidFill>
              </a:rPr>
              <a:t>Request đầu tiên:</a:t>
            </a:r>
            <a:endParaRPr sz="1700"/>
          </a:p>
          <a:p>
            <a:pPr indent="0" lvl="0" marL="0" marR="0" rtl="0" algn="l">
              <a:lnSpc>
                <a:spcPct val="140000"/>
              </a:lnSpc>
              <a:spcBef>
                <a:spcPts val="0"/>
              </a:spcBef>
              <a:spcAft>
                <a:spcPts val="0"/>
              </a:spcAft>
              <a:buNone/>
            </a:pPr>
            <a:r>
              <a:rPr i="0" lang="en-US" sz="2300" u="none" cap="none" strike="noStrike">
                <a:solidFill>
                  <a:srgbClr val="000000"/>
                </a:solidFill>
              </a:rPr>
              <a:t>Client → Server → Cache MISS → Database → lưu vào Cache → Client</a:t>
            </a:r>
            <a:endParaRPr sz="1700"/>
          </a:p>
          <a:p>
            <a:pPr indent="0" lvl="0" marL="0" marR="0" rtl="0" algn="l">
              <a:lnSpc>
                <a:spcPct val="140000"/>
              </a:lnSpc>
              <a:spcBef>
                <a:spcPts val="0"/>
              </a:spcBef>
              <a:spcAft>
                <a:spcPts val="0"/>
              </a:spcAft>
              <a:buNone/>
            </a:pPr>
            <a:r>
              <a:rPr i="0" lang="en-US" sz="2300" u="none" cap="none" strike="noStrike">
                <a:solidFill>
                  <a:srgbClr val="000000"/>
                </a:solidFill>
              </a:rPr>
              <a:t>Request tiếp theo:</a:t>
            </a:r>
            <a:endParaRPr sz="1700"/>
          </a:p>
          <a:p>
            <a:pPr indent="0" lvl="0" marL="0" marR="0" rtl="0" algn="l">
              <a:lnSpc>
                <a:spcPct val="140000"/>
              </a:lnSpc>
              <a:spcBef>
                <a:spcPts val="0"/>
              </a:spcBef>
              <a:spcAft>
                <a:spcPts val="0"/>
              </a:spcAft>
              <a:buNone/>
            </a:pPr>
            <a:r>
              <a:rPr i="0" lang="en-US" sz="2300" u="none" cap="none" strike="noStrike">
                <a:solidFill>
                  <a:srgbClr val="000000"/>
                </a:solidFill>
              </a:rPr>
              <a:t>Client → Server → Cache HIT → Client</a:t>
            </a:r>
            <a:endParaRPr i="0" sz="2300" u="none" cap="none" strike="noStrike">
              <a:solidFill>
                <a:srgbClr val="000000"/>
              </a:solidFill>
            </a:endParaRPr>
          </a:p>
          <a:p>
            <a:pPr indent="0" lvl="0" marL="0" marR="0" rtl="0" algn="l">
              <a:lnSpc>
                <a:spcPct val="140000"/>
              </a:lnSpc>
              <a:spcBef>
                <a:spcPts val="0"/>
              </a:spcBef>
              <a:spcAft>
                <a:spcPts val="0"/>
              </a:spcAft>
              <a:buNone/>
            </a:pPr>
            <a:r>
              <a:rPr i="0" lang="en-US" sz="2300" u="none" cap="none" strike="noStrike">
                <a:solidFill>
                  <a:srgbClr val="000000"/>
                </a:solidFill>
              </a:rPr>
              <a:t>Tác dụng: Truy vấn nhanh hơn, giảm tải trong Database</a:t>
            </a:r>
            <a:endParaRPr i="0" sz="2300" u="none" cap="none" strike="noStrike">
              <a:solidFill>
                <a:srgbClr val="000000"/>
              </a:solidFill>
            </a:endParaRPr>
          </a:p>
        </p:txBody>
      </p:sp>
      <p:pic>
        <p:nvPicPr>
          <p:cNvPr id="270" name="Google Shape;270;p14"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74" name="Shape 274"/>
        <p:cNvGrpSpPr/>
        <p:nvPr/>
      </p:nvGrpSpPr>
      <p:grpSpPr>
        <a:xfrm>
          <a:off x="0" y="0"/>
          <a:ext cx="0" cy="0"/>
          <a:chOff x="0" y="0"/>
          <a:chExt cx="0" cy="0"/>
        </a:xfrm>
      </p:grpSpPr>
      <p:sp>
        <p:nvSpPr>
          <p:cNvPr id="275" name="Google Shape;275;p15"/>
          <p:cNvSpPr txBox="1"/>
          <p:nvPr/>
        </p:nvSpPr>
        <p:spPr>
          <a:xfrm>
            <a:off x="1219200" y="796168"/>
            <a:ext cx="14287500" cy="762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RateLimit</a:t>
            </a:r>
            <a:endParaRPr sz="4950"/>
          </a:p>
        </p:txBody>
      </p:sp>
      <p:sp>
        <p:nvSpPr>
          <p:cNvPr id="276" name="Google Shape;276;p15"/>
          <p:cNvSpPr/>
          <p:nvPr/>
        </p:nvSpPr>
        <p:spPr>
          <a:xfrm>
            <a:off x="7459221" y="2582398"/>
            <a:ext cx="10292761" cy="6004110"/>
          </a:xfrm>
          <a:custGeom>
            <a:rect b="b" l="l" r="r" t="t"/>
            <a:pathLst>
              <a:path extrusionOk="0" h="6004110" w="10292761">
                <a:moveTo>
                  <a:pt x="0" y="0"/>
                </a:moveTo>
                <a:lnTo>
                  <a:pt x="10292761" y="0"/>
                </a:lnTo>
                <a:lnTo>
                  <a:pt x="10292761" y="6004111"/>
                </a:lnTo>
                <a:lnTo>
                  <a:pt x="0" y="6004111"/>
                </a:lnTo>
                <a:lnTo>
                  <a:pt x="0" y="0"/>
                </a:lnTo>
                <a:close/>
              </a:path>
            </a:pathLst>
          </a:custGeom>
          <a:blipFill rotWithShape="1">
            <a:blip r:embed="rId3">
              <a:alphaModFix/>
            </a:blip>
            <a:stretch>
              <a:fillRect b="0" l="0" r="0" t="0"/>
            </a:stretch>
          </a:blipFill>
          <a:ln>
            <a:noFill/>
          </a:ln>
        </p:spPr>
      </p:sp>
      <p:sp>
        <p:nvSpPr>
          <p:cNvPr id="277" name="Google Shape;277;p15"/>
          <p:cNvSpPr txBox="1"/>
          <p:nvPr/>
        </p:nvSpPr>
        <p:spPr>
          <a:xfrm>
            <a:off x="1055475" y="2254885"/>
            <a:ext cx="6143100" cy="6939600"/>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1" i="0" lang="en-US" sz="2049" u="none" cap="none" strike="noStrike">
                <a:solidFill>
                  <a:srgbClr val="000000"/>
                </a:solidFill>
              </a:rPr>
              <a:t>Rate Limit là gì?</a:t>
            </a:r>
            <a:endParaRPr/>
          </a:p>
          <a:p>
            <a:pPr indent="0" lvl="0" marL="0" marR="0" rtl="0" algn="just">
              <a:lnSpc>
                <a:spcPct val="140019"/>
              </a:lnSpc>
              <a:spcBef>
                <a:spcPts val="0"/>
              </a:spcBef>
              <a:spcAft>
                <a:spcPts val="0"/>
              </a:spcAft>
              <a:buNone/>
            </a:pPr>
            <a:r>
              <a:rPr i="0" lang="en-US" sz="2049" u="none" cap="none" strike="noStrike">
                <a:solidFill>
                  <a:srgbClr val="000000"/>
                </a:solidFill>
              </a:rPr>
              <a:t>Rate limit = giới hạn số lượng request mà một user/client có thể gửi đến server trong một khoảng thời gian.</a:t>
            </a:r>
            <a:endParaRPr/>
          </a:p>
          <a:p>
            <a:pPr indent="0" lvl="0" marL="0" marR="0" rtl="0" algn="just">
              <a:lnSpc>
                <a:spcPct val="140019"/>
              </a:lnSpc>
              <a:spcBef>
                <a:spcPts val="0"/>
              </a:spcBef>
              <a:spcAft>
                <a:spcPts val="0"/>
              </a:spcAft>
              <a:buNone/>
            </a:pPr>
            <a:r>
              <a:rPr i="0" lang="en-US" sz="2049" u="none" cap="none" strike="noStrike">
                <a:solidFill>
                  <a:srgbClr val="000000"/>
                </a:solidFill>
              </a:rPr>
              <a:t>Ví dụ:</a:t>
            </a:r>
            <a:endParaRPr/>
          </a:p>
          <a:p>
            <a:pPr indent="0" lvl="0" marL="0" marR="0" rtl="0" algn="just">
              <a:lnSpc>
                <a:spcPct val="140019"/>
              </a:lnSpc>
              <a:spcBef>
                <a:spcPts val="0"/>
              </a:spcBef>
              <a:spcAft>
                <a:spcPts val="0"/>
              </a:spcAft>
              <a:buNone/>
            </a:pPr>
            <a:r>
              <a:rPr i="0" lang="en-US" sz="2049" u="none" cap="none" strike="noStrike">
                <a:solidFill>
                  <a:srgbClr val="000000"/>
                </a:solidFill>
              </a:rPr>
              <a:t>Mỗi user được gọi tối đa:</a:t>
            </a:r>
            <a:endParaRPr/>
          </a:p>
          <a:p>
            <a:pPr indent="0" lvl="0" marL="0" marR="0" rtl="0" algn="just">
              <a:lnSpc>
                <a:spcPct val="140019"/>
              </a:lnSpc>
              <a:spcBef>
                <a:spcPts val="0"/>
              </a:spcBef>
              <a:spcAft>
                <a:spcPts val="0"/>
              </a:spcAft>
              <a:buNone/>
            </a:pPr>
            <a:r>
              <a:rPr i="0" lang="en-US" sz="2049" u="none" cap="none" strike="noStrike">
                <a:solidFill>
                  <a:srgbClr val="000000"/>
                </a:solidFill>
              </a:rPr>
              <a:t>100 requests / phút</a:t>
            </a:r>
            <a:endParaRPr/>
          </a:p>
          <a:p>
            <a:pPr indent="0" lvl="0" marL="0" marR="0" rtl="0" algn="just">
              <a:lnSpc>
                <a:spcPct val="140019"/>
              </a:lnSpc>
              <a:spcBef>
                <a:spcPts val="0"/>
              </a:spcBef>
              <a:spcAft>
                <a:spcPts val="0"/>
              </a:spcAft>
              <a:buNone/>
            </a:pPr>
            <a:r>
              <a:rPr i="0" lang="en-US" sz="2049" u="none" cap="none" strike="noStrike">
                <a:solidFill>
                  <a:srgbClr val="000000"/>
                </a:solidFill>
              </a:rPr>
              <a:t>Nếu user gửi:</a:t>
            </a:r>
            <a:endParaRPr/>
          </a:p>
          <a:p>
            <a:pPr indent="0" lvl="0" marL="0" marR="0" rtl="0" algn="just">
              <a:lnSpc>
                <a:spcPct val="140019"/>
              </a:lnSpc>
              <a:spcBef>
                <a:spcPts val="0"/>
              </a:spcBef>
              <a:spcAft>
                <a:spcPts val="0"/>
              </a:spcAft>
              <a:buNone/>
            </a:pPr>
            <a:r>
              <a:rPr i="0" lang="en-US" sz="2049" u="none" cap="none" strike="noStrike">
                <a:solidFill>
                  <a:srgbClr val="000000"/>
                </a:solidFill>
              </a:rPr>
              <a:t>Request 1   → Success</a:t>
            </a:r>
            <a:endParaRPr/>
          </a:p>
          <a:p>
            <a:pPr indent="0" lvl="0" marL="0" marR="0" rtl="0" algn="just">
              <a:lnSpc>
                <a:spcPct val="140019"/>
              </a:lnSpc>
              <a:spcBef>
                <a:spcPts val="0"/>
              </a:spcBef>
              <a:spcAft>
                <a:spcPts val="0"/>
              </a:spcAft>
              <a:buNone/>
            </a:pPr>
            <a:r>
              <a:rPr i="0" lang="en-US" sz="2049" u="none" cap="none" strike="noStrike">
                <a:solidFill>
                  <a:srgbClr val="000000"/>
                </a:solidFill>
              </a:rPr>
              <a:t>Request 2   → Success</a:t>
            </a:r>
            <a:endParaRPr/>
          </a:p>
          <a:p>
            <a:pPr indent="0" lvl="0" marL="0" marR="0" rtl="0" algn="just">
              <a:lnSpc>
                <a:spcPct val="140019"/>
              </a:lnSpc>
              <a:spcBef>
                <a:spcPts val="0"/>
              </a:spcBef>
              <a:spcAft>
                <a:spcPts val="0"/>
              </a:spcAft>
              <a:buNone/>
            </a:pPr>
            <a:r>
              <a:rPr i="0" lang="en-US" sz="2049" u="none" cap="none" strike="noStrike">
                <a:solidFill>
                  <a:srgbClr val="000000"/>
                </a:solidFill>
              </a:rPr>
              <a:t>...</a:t>
            </a:r>
            <a:endParaRPr/>
          </a:p>
          <a:p>
            <a:pPr indent="0" lvl="0" marL="0" marR="0" rtl="0" algn="just">
              <a:lnSpc>
                <a:spcPct val="140019"/>
              </a:lnSpc>
              <a:spcBef>
                <a:spcPts val="0"/>
              </a:spcBef>
              <a:spcAft>
                <a:spcPts val="0"/>
              </a:spcAft>
              <a:buNone/>
            </a:pPr>
            <a:r>
              <a:rPr i="0" lang="en-US" sz="2049" u="none" cap="none" strike="noStrike">
                <a:solidFill>
                  <a:srgbClr val="000000"/>
                </a:solidFill>
              </a:rPr>
              <a:t>Request 100 → Success</a:t>
            </a:r>
            <a:endParaRPr/>
          </a:p>
          <a:p>
            <a:pPr indent="0" lvl="0" marL="0" marR="0" rtl="0" algn="just">
              <a:lnSpc>
                <a:spcPct val="140019"/>
              </a:lnSpc>
              <a:spcBef>
                <a:spcPts val="0"/>
              </a:spcBef>
              <a:spcAft>
                <a:spcPts val="0"/>
              </a:spcAft>
              <a:buNone/>
            </a:pPr>
            <a:r>
              <a:rPr i="0" lang="en-US" sz="2049" u="none" cap="none" strike="noStrike">
                <a:solidFill>
                  <a:srgbClr val="000000"/>
                </a:solidFill>
              </a:rPr>
              <a:t>Request 101 →  </a:t>
            </a:r>
            <a:r>
              <a:rPr b="1" i="0" lang="en-US" sz="2049" u="none" cap="none" strike="noStrike">
                <a:solidFill>
                  <a:srgbClr val="000000"/>
                </a:solidFill>
              </a:rPr>
              <a:t>429 Too Many Requests</a:t>
            </a:r>
            <a:endParaRPr/>
          </a:p>
          <a:p>
            <a:pPr indent="0" lvl="0" marL="0" marR="0" rtl="0" algn="just">
              <a:lnSpc>
                <a:spcPct val="140019"/>
              </a:lnSpc>
              <a:spcBef>
                <a:spcPts val="0"/>
              </a:spcBef>
              <a:spcAft>
                <a:spcPts val="0"/>
              </a:spcAft>
              <a:buNone/>
            </a:pPr>
            <a:r>
              <a:rPr i="0" lang="en-US" sz="2049" u="none" cap="none" strike="noStrike">
                <a:solidFill>
                  <a:srgbClr val="000000"/>
                </a:solidFill>
              </a:rPr>
              <a:t>Server thường trả:</a:t>
            </a:r>
            <a:endParaRPr/>
          </a:p>
          <a:p>
            <a:pPr indent="0" lvl="0" marL="0" marR="0" rtl="0" algn="just">
              <a:lnSpc>
                <a:spcPct val="140019"/>
              </a:lnSpc>
              <a:spcBef>
                <a:spcPts val="0"/>
              </a:spcBef>
              <a:spcAft>
                <a:spcPts val="0"/>
              </a:spcAft>
              <a:buNone/>
            </a:pPr>
            <a:r>
              <a:rPr i="0" lang="en-US" sz="2049" u="none" cap="none" strike="noStrike">
                <a:solidFill>
                  <a:srgbClr val="000000"/>
                </a:solidFill>
              </a:rPr>
              <a:t>HTTP 429 Too Many Requests</a:t>
            </a:r>
            <a:endParaRPr/>
          </a:p>
          <a:p>
            <a:pPr indent="0" lvl="0" marL="0" marR="0" rtl="0" algn="just">
              <a:lnSpc>
                <a:spcPct val="140019"/>
              </a:lnSpc>
              <a:spcBef>
                <a:spcPts val="0"/>
              </a:spcBef>
              <a:spcAft>
                <a:spcPts val="0"/>
              </a:spcAft>
              <a:buNone/>
            </a:pPr>
            <a:r>
              <a:t/>
            </a:r>
            <a:endParaRPr i="0" sz="2049" u="none" cap="none" strike="noStrike">
              <a:solidFill>
                <a:srgbClr val="000000"/>
              </a:solidFill>
            </a:endParaRPr>
          </a:p>
        </p:txBody>
      </p:sp>
      <p:sp>
        <p:nvSpPr>
          <p:cNvPr id="278" name="Google Shape;278;p15"/>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SPRING AI</a:t>
            </a:r>
            <a:endParaRPr/>
          </a:p>
        </p:txBody>
      </p:sp>
      <p:pic>
        <p:nvPicPr>
          <p:cNvPr id="279" name="Google Shape;279;p15"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83" name="Shape 283"/>
        <p:cNvGrpSpPr/>
        <p:nvPr/>
      </p:nvGrpSpPr>
      <p:grpSpPr>
        <a:xfrm>
          <a:off x="0" y="0"/>
          <a:ext cx="0" cy="0"/>
          <a:chOff x="0" y="0"/>
          <a:chExt cx="0" cy="0"/>
        </a:xfrm>
      </p:grpSpPr>
      <p:grpSp>
        <p:nvGrpSpPr>
          <p:cNvPr id="284" name="Google Shape;284;p16"/>
          <p:cNvGrpSpPr/>
          <p:nvPr/>
        </p:nvGrpSpPr>
        <p:grpSpPr>
          <a:xfrm>
            <a:off x="1219200" y="638175"/>
            <a:ext cx="15849600" cy="1533525"/>
            <a:chOff x="0" y="-38100"/>
            <a:chExt cx="21132800" cy="2044700"/>
          </a:xfrm>
        </p:grpSpPr>
        <p:sp>
          <p:nvSpPr>
            <p:cNvPr id="285" name="Google Shape;285;p16"/>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02.4</a:t>
              </a:r>
              <a:endParaRPr/>
            </a:p>
          </p:txBody>
        </p:sp>
        <p:sp>
          <p:nvSpPr>
            <p:cNvPr id="286" name="Google Shape;286;p16"/>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Rate Limit Strategy</a:t>
              </a:r>
              <a:endParaRPr sz="4950"/>
            </a:p>
          </p:txBody>
        </p:sp>
        <p:grpSp>
          <p:nvGrpSpPr>
            <p:cNvPr id="287" name="Google Shape;287;p16"/>
            <p:cNvGrpSpPr/>
            <p:nvPr/>
          </p:nvGrpSpPr>
          <p:grpSpPr>
            <a:xfrm>
              <a:off x="0" y="1943100"/>
              <a:ext cx="21132800" cy="63500"/>
              <a:chOff x="0" y="-38100"/>
              <a:chExt cx="21132800" cy="63500"/>
            </a:xfrm>
          </p:grpSpPr>
          <p:sp>
            <p:nvSpPr>
              <p:cNvPr id="288" name="Google Shape;288;p16"/>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89" name="Google Shape;289;p16"/>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90" name="Google Shape;290;p16"/>
          <p:cNvSpPr/>
          <p:nvPr/>
        </p:nvSpPr>
        <p:spPr>
          <a:xfrm>
            <a:off x="9025956" y="2331484"/>
            <a:ext cx="6335471" cy="7119459"/>
          </a:xfrm>
          <a:custGeom>
            <a:rect b="b" l="l" r="r" t="t"/>
            <a:pathLst>
              <a:path extrusionOk="0" h="7119459" w="6335471">
                <a:moveTo>
                  <a:pt x="0" y="0"/>
                </a:moveTo>
                <a:lnTo>
                  <a:pt x="6335470" y="0"/>
                </a:lnTo>
                <a:lnTo>
                  <a:pt x="6335470" y="7119458"/>
                </a:lnTo>
                <a:lnTo>
                  <a:pt x="0" y="7119458"/>
                </a:lnTo>
                <a:lnTo>
                  <a:pt x="0" y="0"/>
                </a:lnTo>
                <a:close/>
              </a:path>
            </a:pathLst>
          </a:custGeom>
          <a:blipFill rotWithShape="1">
            <a:blip r:embed="rId4">
              <a:alphaModFix/>
            </a:blip>
            <a:stretch>
              <a:fillRect b="0" l="0" r="0" t="0"/>
            </a:stretch>
          </a:blipFill>
          <a:ln>
            <a:noFill/>
          </a:ln>
        </p:spPr>
      </p:sp>
      <p:graphicFrame>
        <p:nvGraphicFramePr>
          <p:cNvPr id="291" name="Google Shape;291;p16"/>
          <p:cNvGraphicFramePr/>
          <p:nvPr/>
        </p:nvGraphicFramePr>
        <p:xfrm>
          <a:off x="2732500" y="3175250"/>
          <a:ext cx="5304224" cy="5431899"/>
        </p:xfrm>
        <a:graphic>
          <a:graphicData uri="http://schemas.openxmlformats.org/presentationml/2006/ole">
            <mc:AlternateContent>
              <mc:Choice Requires="v">
                <p:oleObj r:id="rId5" imgH="5431899" imgW="5304224" progId="Excel.Sheet.12" spid="_x0000_s1">
                  <p:embed/>
                </p:oleObj>
              </mc:Choice>
              <mc:Fallback>
                <p:oleObj r:id="rId6" imgH="5431899" imgW="5304224" progId="Excel.Sheet.12">
                  <p:embed/>
                  <p:pic>
                    <p:nvPicPr>
                      <p:cNvPr id="291" name="Google Shape;291;p16"/>
                      <p:cNvPicPr preferRelativeResize="0"/>
                      <p:nvPr/>
                    </p:nvPicPr>
                    <p:blipFill rotWithShape="1">
                      <a:blip r:embed="rId7">
                        <a:alphaModFix/>
                      </a:blip>
                      <a:srcRect b="0" l="0" r="0" t="0"/>
                      <a:stretch/>
                    </p:blipFill>
                    <p:spPr>
                      <a:xfrm>
                        <a:off x="2732500" y="3175250"/>
                        <a:ext cx="5304224" cy="5431899"/>
                      </a:xfrm>
                      <a:prstGeom prst="rect">
                        <a:avLst/>
                      </a:prstGeom>
                      <a:noFill/>
                      <a:ln>
                        <a:noFill/>
                      </a:ln>
                    </p:spPr>
                  </p:pic>
                </p:oleObj>
              </mc:Fallback>
            </mc:AlternateContent>
          </a:graphicData>
        </a:graphic>
      </p:graphicFrame>
      <p:sp>
        <p:nvSpPr>
          <p:cNvPr id="292" name="Google Shape;292;p16"/>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SPRING AI</a:t>
            </a:r>
            <a:endParaRPr/>
          </a:p>
        </p:txBody>
      </p:sp>
      <p:pic>
        <p:nvPicPr>
          <p:cNvPr id="293" name="Google Shape;293;p16" title="Logo_Color.png"/>
          <p:cNvPicPr preferRelativeResize="0"/>
          <p:nvPr/>
        </p:nvPicPr>
        <p:blipFill rotWithShape="1">
          <a:blip r:embed="rId8">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97" name="Shape 297"/>
        <p:cNvGrpSpPr/>
        <p:nvPr/>
      </p:nvGrpSpPr>
      <p:grpSpPr>
        <a:xfrm>
          <a:off x="0" y="0"/>
          <a:ext cx="0" cy="0"/>
          <a:chOff x="0" y="0"/>
          <a:chExt cx="0" cy="0"/>
        </a:xfrm>
      </p:grpSpPr>
      <p:grpSp>
        <p:nvGrpSpPr>
          <p:cNvPr id="298" name="Google Shape;298;p17"/>
          <p:cNvGrpSpPr/>
          <p:nvPr/>
        </p:nvGrpSpPr>
        <p:grpSpPr>
          <a:xfrm>
            <a:off x="1219200" y="638175"/>
            <a:ext cx="15849600" cy="1533525"/>
            <a:chOff x="0" y="-38100"/>
            <a:chExt cx="21132800" cy="2044700"/>
          </a:xfrm>
        </p:grpSpPr>
        <p:sp>
          <p:nvSpPr>
            <p:cNvPr id="299" name="Google Shape;299;p17"/>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02.5</a:t>
              </a:r>
              <a:endParaRPr/>
            </a:p>
          </p:txBody>
        </p:sp>
        <p:sp>
          <p:nvSpPr>
            <p:cNvPr id="300" name="Google Shape;300;p17"/>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REDIS</a:t>
              </a:r>
              <a:endParaRPr sz="4950"/>
            </a:p>
          </p:txBody>
        </p:sp>
        <p:grpSp>
          <p:nvGrpSpPr>
            <p:cNvPr id="301" name="Google Shape;301;p17"/>
            <p:cNvGrpSpPr/>
            <p:nvPr/>
          </p:nvGrpSpPr>
          <p:grpSpPr>
            <a:xfrm>
              <a:off x="0" y="1943100"/>
              <a:ext cx="21132800" cy="63500"/>
              <a:chOff x="0" y="-38100"/>
              <a:chExt cx="21132800" cy="63500"/>
            </a:xfrm>
          </p:grpSpPr>
          <p:sp>
            <p:nvSpPr>
              <p:cNvPr id="302" name="Google Shape;302;p17"/>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303" name="Google Shape;303;p17"/>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aphicFrame>
        <p:nvGraphicFramePr>
          <p:cNvPr id="304" name="Google Shape;304;p17"/>
          <p:cNvGraphicFramePr/>
          <p:nvPr/>
        </p:nvGraphicFramePr>
        <p:xfrm>
          <a:off x="11266536" y="3062282"/>
          <a:ext cx="5657849" cy="5657849"/>
        </p:xfrm>
        <a:graphic>
          <a:graphicData uri="http://schemas.openxmlformats.org/presentationml/2006/ole">
            <mc:AlternateContent>
              <mc:Choice Requires="v">
                <p:oleObj r:id="rId4" imgH="5657849" imgW="5657849" progId="Excel.Sheet.12" spid="_x0000_s1">
                  <p:embed/>
                </p:oleObj>
              </mc:Choice>
              <mc:Fallback>
                <p:oleObj r:id="rId5" imgH="5657849" imgW="5657849" progId="Excel.Sheet.12">
                  <p:embed/>
                  <p:pic>
                    <p:nvPicPr>
                      <p:cNvPr id="304" name="Google Shape;304;p17"/>
                      <p:cNvPicPr preferRelativeResize="0"/>
                      <p:nvPr/>
                    </p:nvPicPr>
                    <p:blipFill rotWithShape="1">
                      <a:blip r:embed="rId6">
                        <a:alphaModFix/>
                      </a:blip>
                      <a:srcRect b="0" l="0" r="0" t="0"/>
                      <a:stretch/>
                    </p:blipFill>
                    <p:spPr>
                      <a:xfrm>
                        <a:off x="11266536" y="3062282"/>
                        <a:ext cx="5657849" cy="5657849"/>
                      </a:xfrm>
                      <a:prstGeom prst="rect">
                        <a:avLst/>
                      </a:prstGeom>
                      <a:noFill/>
                      <a:ln>
                        <a:noFill/>
                      </a:ln>
                    </p:spPr>
                  </p:pic>
                </p:oleObj>
              </mc:Fallback>
            </mc:AlternateContent>
          </a:graphicData>
        </a:graphic>
      </p:graphicFrame>
      <p:sp>
        <p:nvSpPr>
          <p:cNvPr id="305" name="Google Shape;305;p17"/>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SPRING AI</a:t>
            </a:r>
            <a:endParaRPr/>
          </a:p>
        </p:txBody>
      </p:sp>
      <p:sp>
        <p:nvSpPr>
          <p:cNvPr id="306" name="Google Shape;306;p17"/>
          <p:cNvSpPr txBox="1"/>
          <p:nvPr/>
        </p:nvSpPr>
        <p:spPr>
          <a:xfrm>
            <a:off x="1219200" y="2171700"/>
            <a:ext cx="9925200" cy="709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400" u="none" cap="none" strike="noStrike">
                <a:solidFill>
                  <a:srgbClr val="000000"/>
                </a:solidFill>
              </a:rPr>
              <a:t>Redis là gì?</a:t>
            </a:r>
            <a:endParaRPr sz="1800"/>
          </a:p>
          <a:p>
            <a:pPr indent="0" lvl="0" marL="0" marR="0" rtl="0" algn="l">
              <a:lnSpc>
                <a:spcPct val="140000"/>
              </a:lnSpc>
              <a:spcBef>
                <a:spcPts val="0"/>
              </a:spcBef>
              <a:spcAft>
                <a:spcPts val="0"/>
              </a:spcAft>
              <a:buNone/>
            </a:pPr>
            <a:r>
              <a:t/>
            </a:r>
            <a:endParaRPr b="1" i="0" sz="2400" u="none" cap="none" strike="noStrike">
              <a:solidFill>
                <a:srgbClr val="000000"/>
              </a:solidFill>
            </a:endParaRPr>
          </a:p>
          <a:p>
            <a:pPr indent="0" lvl="0" marL="0" marR="0" rtl="0" algn="l">
              <a:lnSpc>
                <a:spcPct val="140000"/>
              </a:lnSpc>
              <a:spcBef>
                <a:spcPts val="0"/>
              </a:spcBef>
              <a:spcAft>
                <a:spcPts val="0"/>
              </a:spcAft>
              <a:buNone/>
            </a:pPr>
            <a:r>
              <a:rPr b="1" i="0" lang="en-US" sz="2400" u="none" cap="none" strike="noStrike">
                <a:solidFill>
                  <a:srgbClr val="000000"/>
                </a:solidFill>
              </a:rPr>
              <a:t>Redis</a:t>
            </a:r>
            <a:r>
              <a:rPr i="0" lang="en-US" sz="2400" u="none" cap="none" strike="noStrike">
                <a:solidFill>
                  <a:srgbClr val="000000"/>
                </a:solidFill>
              </a:rPr>
              <a:t> (Remote Dictionary Server) là một hệ quản trị cơ sở dữ liệu NoSQL mã nguồn mở, hoạt động chủ yếu trong bộ nhớ (in-memory) giúp lưu trữ dữ liệu dưới dạng cặp khoá - giá trị (key-value) với tốc độ truy xuất cực nhanh</a:t>
            </a:r>
            <a:endParaRPr sz="1800"/>
          </a:p>
          <a:p>
            <a:pPr indent="0" lvl="0" marL="0" marR="0" rtl="0" algn="l">
              <a:lnSpc>
                <a:spcPct val="140000"/>
              </a:lnSpc>
              <a:spcBef>
                <a:spcPts val="0"/>
              </a:spcBef>
              <a:spcAft>
                <a:spcPts val="0"/>
              </a:spcAft>
              <a:buNone/>
            </a:pPr>
            <a:r>
              <a:t/>
            </a:r>
            <a:endParaRPr i="0" sz="2400" u="none" cap="none" strike="noStrike">
              <a:solidFill>
                <a:srgbClr val="000000"/>
              </a:solidFill>
            </a:endParaRPr>
          </a:p>
          <a:p>
            <a:pPr indent="0" lvl="0" marL="0" marR="0" rtl="0" algn="l">
              <a:lnSpc>
                <a:spcPct val="140000"/>
              </a:lnSpc>
              <a:spcBef>
                <a:spcPts val="0"/>
              </a:spcBef>
              <a:spcAft>
                <a:spcPts val="0"/>
              </a:spcAft>
              <a:buNone/>
            </a:pPr>
            <a:r>
              <a:rPr i="0" lang="en-US" sz="2400" u="none" cap="none" strike="noStrike">
                <a:solidFill>
                  <a:srgbClr val="000000"/>
                </a:solidFill>
              </a:rPr>
              <a:t>Vì sao </a:t>
            </a:r>
            <a:r>
              <a:rPr b="1" i="0" lang="en-US" sz="2400" u="none" cap="none" strike="noStrike">
                <a:solidFill>
                  <a:srgbClr val="000000"/>
                </a:solidFill>
              </a:rPr>
              <a:t>Redis</a:t>
            </a:r>
            <a:r>
              <a:rPr i="0" lang="en-US" sz="2400" u="none" cap="none" strike="noStrike">
                <a:solidFill>
                  <a:srgbClr val="000000"/>
                </a:solidFill>
              </a:rPr>
              <a:t> nhanh? (hay phỏng vấn)</a:t>
            </a:r>
            <a:endParaRPr sz="1800"/>
          </a:p>
          <a:p>
            <a:pPr indent="-241300" lvl="1" marL="431801" marR="0" rtl="0" algn="l">
              <a:lnSpc>
                <a:spcPct val="140000"/>
              </a:lnSpc>
              <a:spcBef>
                <a:spcPts val="0"/>
              </a:spcBef>
              <a:spcAft>
                <a:spcPts val="0"/>
              </a:spcAft>
              <a:buClr>
                <a:srgbClr val="000000"/>
              </a:buClr>
              <a:buSzPts val="2400"/>
              <a:buChar char="•"/>
            </a:pPr>
            <a:r>
              <a:rPr i="0" lang="en-US" sz="2400" u="none" cap="none" strike="noStrike">
                <a:solidFill>
                  <a:srgbClr val="000000"/>
                </a:solidFill>
              </a:rPr>
              <a:t>Redis là một cơ sở dữ liệu dựa trên RAM. Việc truy cập RAM nhanh hơn ít nhất 1.000 lần so với truy cập ngẫu nhiên vào ổ đĩa.</a:t>
            </a:r>
            <a:endParaRPr sz="1800"/>
          </a:p>
          <a:p>
            <a:pPr indent="-241300" lvl="1" marL="431801" marR="0" rtl="0" algn="l">
              <a:lnSpc>
                <a:spcPct val="140000"/>
              </a:lnSpc>
              <a:spcBef>
                <a:spcPts val="0"/>
              </a:spcBef>
              <a:spcAft>
                <a:spcPts val="0"/>
              </a:spcAft>
              <a:buClr>
                <a:srgbClr val="000000"/>
              </a:buClr>
              <a:buSzPts val="2400"/>
              <a:buChar char="•"/>
            </a:pPr>
            <a:r>
              <a:rPr i="0" lang="en-US" sz="2400" u="none" cap="none" strike="noStrike">
                <a:solidFill>
                  <a:srgbClr val="000000"/>
                </a:solidFill>
              </a:rPr>
              <a:t>Redis tận dụng I/O multiplexing (đa hợp I/O) và vòng lặp thực thi đơn luồng (single-threaded execution loop) để nâng cao hiệu quả xử lý.</a:t>
            </a:r>
            <a:endParaRPr sz="1800"/>
          </a:p>
          <a:p>
            <a:pPr indent="-241300" lvl="1" marL="431801" marR="0" rtl="0" algn="l">
              <a:lnSpc>
                <a:spcPct val="140000"/>
              </a:lnSpc>
              <a:spcBef>
                <a:spcPts val="0"/>
              </a:spcBef>
              <a:spcAft>
                <a:spcPts val="0"/>
              </a:spcAft>
              <a:buClr>
                <a:srgbClr val="000000"/>
              </a:buClr>
              <a:buSzPts val="2400"/>
              <a:buChar char="•"/>
            </a:pPr>
            <a:r>
              <a:rPr i="0" lang="en-US" sz="2400" u="none" cap="none" strike="noStrike">
                <a:solidFill>
                  <a:srgbClr val="000000"/>
                </a:solidFill>
              </a:rPr>
              <a:t>Redis sử dụng nhiều cấu trúc dữ liệu cấp thấp được tối ưu và có hiệu suất cao.</a:t>
            </a:r>
            <a:endParaRPr i="0" sz="2400" u="none" cap="none" strike="noStrike">
              <a:solidFill>
                <a:srgbClr val="000000"/>
              </a:solidFill>
            </a:endParaRPr>
          </a:p>
        </p:txBody>
      </p:sp>
      <p:pic>
        <p:nvPicPr>
          <p:cNvPr id="307" name="Google Shape;307;p17" title="Logo_Color.png"/>
          <p:cNvPicPr preferRelativeResize="0"/>
          <p:nvPr/>
        </p:nvPicPr>
        <p:blipFill rotWithShape="1">
          <a:blip r:embed="rId7">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24D"/>
        </a:solidFill>
      </p:bgPr>
    </p:bg>
    <p:spTree>
      <p:nvGrpSpPr>
        <p:cNvPr id="311" name="Shape 311"/>
        <p:cNvGrpSpPr/>
        <p:nvPr/>
      </p:nvGrpSpPr>
      <p:grpSpPr>
        <a:xfrm>
          <a:off x="0" y="0"/>
          <a:ext cx="0" cy="0"/>
          <a:chOff x="0" y="0"/>
          <a:chExt cx="0" cy="0"/>
        </a:xfrm>
      </p:grpSpPr>
      <p:sp>
        <p:nvSpPr>
          <p:cNvPr id="312" name="Google Shape;312;p18"/>
          <p:cNvSpPr txBox="1"/>
          <p:nvPr/>
        </p:nvSpPr>
        <p:spPr>
          <a:xfrm>
            <a:off x="1219200" y="2076450"/>
            <a:ext cx="11430000" cy="1269900"/>
          </a:xfrm>
          <a:prstGeom prst="rect">
            <a:avLst/>
          </a:prstGeom>
          <a:noFill/>
          <a:ln>
            <a:noFill/>
          </a:ln>
        </p:spPr>
        <p:txBody>
          <a:bodyPr anchorCtr="0" anchor="t" bIns="0" lIns="0" spcFirstLastPara="1" rIns="0" wrap="square" tIns="0">
            <a:spAutoFit/>
          </a:bodyPr>
          <a:lstStyle/>
          <a:p>
            <a:pPr indent="0" lvl="0" marL="0" marR="0" rtl="0" algn="l">
              <a:lnSpc>
                <a:spcPct val="104991"/>
              </a:lnSpc>
              <a:spcBef>
                <a:spcPts val="0"/>
              </a:spcBef>
              <a:spcAft>
                <a:spcPts val="0"/>
              </a:spcAft>
              <a:buNone/>
            </a:pPr>
            <a:r>
              <a:rPr b="1" i="0" lang="en-US" sz="8250" u="none" cap="none" strike="noStrike">
                <a:solidFill>
                  <a:srgbClr val="FFFFFF"/>
                </a:solidFill>
              </a:rPr>
              <a:t>Sumary</a:t>
            </a:r>
            <a:endParaRPr sz="8250"/>
          </a:p>
        </p:txBody>
      </p:sp>
      <p:grpSp>
        <p:nvGrpSpPr>
          <p:cNvPr id="313" name="Google Shape;313;p18"/>
          <p:cNvGrpSpPr/>
          <p:nvPr/>
        </p:nvGrpSpPr>
        <p:grpSpPr>
          <a:xfrm>
            <a:off x="1219200" y="4495800"/>
            <a:ext cx="1524000" cy="76200"/>
            <a:chOff x="0" y="-38100"/>
            <a:chExt cx="2032000" cy="101600"/>
          </a:xfrm>
        </p:grpSpPr>
        <p:sp>
          <p:nvSpPr>
            <p:cNvPr id="314" name="Google Shape;314;p18"/>
            <p:cNvSpPr/>
            <p:nvPr/>
          </p:nvSpPr>
          <p:spPr>
            <a:xfrm>
              <a:off x="0" y="0"/>
              <a:ext cx="2032000" cy="63500"/>
            </a:xfrm>
            <a:custGeom>
              <a:rect b="b" l="l" r="r" t="t"/>
              <a:pathLst>
                <a:path extrusionOk="0" h="63500" w="2032000">
                  <a:moveTo>
                    <a:pt x="0" y="0"/>
                  </a:moveTo>
                  <a:lnTo>
                    <a:pt x="2032000" y="0"/>
                  </a:lnTo>
                  <a:lnTo>
                    <a:pt x="2032000" y="63500"/>
                  </a:lnTo>
                  <a:lnTo>
                    <a:pt x="0" y="63500"/>
                  </a:lnTo>
                  <a:close/>
                </a:path>
              </a:pathLst>
            </a:custGeom>
            <a:solidFill>
              <a:srgbClr val="3F8069"/>
            </a:solidFill>
            <a:ln>
              <a:noFill/>
            </a:ln>
          </p:spPr>
        </p:sp>
        <p:sp>
          <p:nvSpPr>
            <p:cNvPr id="315" name="Google Shape;315;p18"/>
            <p:cNvSpPr txBox="1"/>
            <p:nvPr/>
          </p:nvSpPr>
          <p:spPr>
            <a:xfrm>
              <a:off x="0" y="-38100"/>
              <a:ext cx="2032000" cy="1016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6" name="Google Shape;316;p18"/>
          <p:cNvSpPr txBox="1"/>
          <p:nvPr/>
        </p:nvSpPr>
        <p:spPr>
          <a:xfrm>
            <a:off x="1219200" y="4953000"/>
            <a:ext cx="13811400" cy="4848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3150" u="none" cap="none" strike="noStrike">
                <a:solidFill>
                  <a:srgbClr val="FFFFFF"/>
                </a:solidFill>
                <a:latin typeface="Arial"/>
                <a:ea typeface="Arial"/>
                <a:cs typeface="Arial"/>
                <a:sym typeface="Arial"/>
              </a:rPr>
              <a:t>01  Langchain4J: Memory, RAG, Tool Call MCP</a:t>
            </a:r>
            <a:endParaRPr sz="2300"/>
          </a:p>
        </p:txBody>
      </p:sp>
      <p:sp>
        <p:nvSpPr>
          <p:cNvPr id="317" name="Google Shape;317;p18"/>
          <p:cNvSpPr txBox="1"/>
          <p:nvPr/>
        </p:nvSpPr>
        <p:spPr>
          <a:xfrm>
            <a:off x="1219200" y="5715000"/>
            <a:ext cx="13811400" cy="4848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3150" u="none" cap="none" strike="noStrike">
                <a:solidFill>
                  <a:srgbClr val="FFFFFF"/>
                </a:solidFill>
                <a:latin typeface="Arial"/>
                <a:ea typeface="Arial"/>
                <a:cs typeface="Arial"/>
                <a:sym typeface="Arial"/>
              </a:rPr>
              <a:t>02  Enhance Concept: SSE, Cache, Rate Limit</a:t>
            </a:r>
            <a:endParaRPr sz="2300"/>
          </a:p>
        </p:txBody>
      </p:sp>
      <p:pic>
        <p:nvPicPr>
          <p:cNvPr id="318" name="Google Shape;318;p18" title="Logo_white.png"/>
          <p:cNvPicPr preferRelativeResize="0"/>
          <p:nvPr/>
        </p:nvPicPr>
        <p:blipFill rotWithShape="1">
          <a:blip r:embed="rId3">
            <a:alphaModFix/>
          </a:blip>
          <a:srcRect b="0" l="0" r="0" t="0"/>
          <a:stretch/>
        </p:blipFill>
        <p:spPr>
          <a:xfrm>
            <a:off x="15939500" y="167000"/>
            <a:ext cx="2051400" cy="168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