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10287000" cx="18288000"/>
  <p:notesSz cx="18288000" cy="10287000"/>
  <p:embeddedFontLst>
    <p:embeddedFont>
      <p:font typeface="Tahom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31" roundtripDataSignature="AMtx7mhbxbtQ5Fm3vu/sBxVLxbwE3iaV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ahoma-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Tahoma-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6: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7: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8: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9: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9: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0: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5"/>
          <p:cNvSpPr txBox="1"/>
          <p:nvPr>
            <p:ph type="title"/>
          </p:nvPr>
        </p:nvSpPr>
        <p:spPr>
          <a:xfrm>
            <a:off x="1206499" y="1224597"/>
            <a:ext cx="15060294" cy="6883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350">
                <a:solidFill>
                  <a:srgbClr val="17324D"/>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5"/>
          <p:cNvSpPr txBox="1"/>
          <p:nvPr>
            <p:ph idx="1" type="body"/>
          </p:nvPr>
        </p:nvSpPr>
        <p:spPr>
          <a:xfrm>
            <a:off x="1016000" y="2662968"/>
            <a:ext cx="10081260" cy="34582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550">
                <a:solidFill>
                  <a:schemeClr val="dk1"/>
                </a:solidFill>
                <a:latin typeface="Verdana"/>
                <a:ea typeface="Verdana"/>
                <a:cs typeface="Verdana"/>
                <a:sym typeface="Verdan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25"/>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5"/>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18" name="Shape 18"/>
        <p:cNvGrpSpPr/>
        <p:nvPr/>
      </p:nvGrpSpPr>
      <p:grpSpPr>
        <a:xfrm>
          <a:off x="0" y="0"/>
          <a:ext cx="0" cy="0"/>
          <a:chOff x="0" y="0"/>
          <a:chExt cx="0" cy="0"/>
        </a:xfrm>
      </p:grpSpPr>
      <p:sp>
        <p:nvSpPr>
          <p:cNvPr id="19" name="Google Shape;19;p26"/>
          <p:cNvSpPr/>
          <p:nvPr/>
        </p:nvSpPr>
        <p:spPr>
          <a:xfrm>
            <a:off x="0" y="0"/>
            <a:ext cx="18288000" cy="10287000"/>
          </a:xfrm>
          <a:custGeom>
            <a:rect b="b" l="l" r="r" t="t"/>
            <a:pathLst>
              <a:path extrusionOk="0" h="10287000" w="18288000">
                <a:moveTo>
                  <a:pt x="18287998" y="10286999"/>
                </a:moveTo>
                <a:lnTo>
                  <a:pt x="0" y="10286999"/>
                </a:lnTo>
                <a:lnTo>
                  <a:pt x="0" y="0"/>
                </a:lnTo>
                <a:lnTo>
                  <a:pt x="18287998" y="0"/>
                </a:lnTo>
                <a:lnTo>
                  <a:pt x="18287998" y="10286999"/>
                </a:lnTo>
                <a:close/>
              </a:path>
            </a:pathLst>
          </a:custGeom>
          <a:solidFill>
            <a:srgbClr val="17324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 name="Google Shape;20;p26"/>
          <p:cNvSpPr/>
          <p:nvPr/>
        </p:nvSpPr>
        <p:spPr>
          <a:xfrm>
            <a:off x="1219199" y="3143250"/>
            <a:ext cx="876300" cy="76200"/>
          </a:xfrm>
          <a:custGeom>
            <a:rect b="b" l="l" r="r" t="t"/>
            <a:pathLst>
              <a:path extrusionOk="0" h="76200" w="876300">
                <a:moveTo>
                  <a:pt x="876299" y="76199"/>
                </a:moveTo>
                <a:lnTo>
                  <a:pt x="0" y="76199"/>
                </a:lnTo>
                <a:lnTo>
                  <a:pt x="0" y="0"/>
                </a:lnTo>
                <a:lnTo>
                  <a:pt x="876299" y="0"/>
                </a:lnTo>
                <a:lnTo>
                  <a:pt x="876299" y="76199"/>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 name="Google Shape;21;p26"/>
          <p:cNvSpPr txBox="1"/>
          <p:nvPr>
            <p:ph type="title"/>
          </p:nvPr>
        </p:nvSpPr>
        <p:spPr>
          <a:xfrm>
            <a:off x="1206499" y="1224597"/>
            <a:ext cx="15060294" cy="6883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350">
                <a:solidFill>
                  <a:srgbClr val="17324D"/>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6"/>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6"/>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6"/>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27"/>
          <p:cNvSpPr txBox="1"/>
          <p:nvPr>
            <p:ph type="ctrTitle"/>
          </p:nvPr>
        </p:nvSpPr>
        <p:spPr>
          <a:xfrm>
            <a:off x="1371600" y="3188970"/>
            <a:ext cx="15544800" cy="21602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350">
                <a:solidFill>
                  <a:srgbClr val="17324D"/>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7"/>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550">
                <a:solidFill>
                  <a:schemeClr val="dk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7"/>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7"/>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28"/>
          <p:cNvSpPr txBox="1"/>
          <p:nvPr>
            <p:ph type="title"/>
          </p:nvPr>
        </p:nvSpPr>
        <p:spPr>
          <a:xfrm>
            <a:off x="1206499" y="1224597"/>
            <a:ext cx="15060294" cy="6883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350">
                <a:solidFill>
                  <a:srgbClr val="17324D"/>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8"/>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28"/>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28"/>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8"/>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8"/>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8" name="Shape 38"/>
        <p:cNvGrpSpPr/>
        <p:nvPr/>
      </p:nvGrpSpPr>
      <p:grpSpPr>
        <a:xfrm>
          <a:off x="0" y="0"/>
          <a:ext cx="0" cy="0"/>
          <a:chOff x="0" y="0"/>
          <a:chExt cx="0" cy="0"/>
        </a:xfrm>
      </p:grpSpPr>
      <p:sp>
        <p:nvSpPr>
          <p:cNvPr id="39" name="Google Shape;39;p29"/>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9"/>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9"/>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p:nvPr/>
        </p:nvSpPr>
        <p:spPr>
          <a:xfrm>
            <a:off x="0" y="0"/>
            <a:ext cx="18288000" cy="10287000"/>
          </a:xfrm>
          <a:custGeom>
            <a:rect b="b" l="l" r="r" t="t"/>
            <a:pathLst>
              <a:path extrusionOk="0" h="10287000" w="18288000">
                <a:moveTo>
                  <a:pt x="18287998" y="10286999"/>
                </a:moveTo>
                <a:lnTo>
                  <a:pt x="0" y="10286999"/>
                </a:lnTo>
                <a:lnTo>
                  <a:pt x="0" y="0"/>
                </a:lnTo>
                <a:lnTo>
                  <a:pt x="18287998" y="0"/>
                </a:lnTo>
                <a:lnTo>
                  <a:pt x="18287998" y="10286999"/>
                </a:lnTo>
                <a:close/>
              </a:path>
            </a:pathLst>
          </a:custGeom>
          <a:solidFill>
            <a:srgbClr val="F6F5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24"/>
          <p:cNvSpPr txBox="1"/>
          <p:nvPr>
            <p:ph type="title"/>
          </p:nvPr>
        </p:nvSpPr>
        <p:spPr>
          <a:xfrm>
            <a:off x="1206499" y="1224597"/>
            <a:ext cx="15060294" cy="6883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4350" u="none" cap="none" strike="noStrike">
                <a:solidFill>
                  <a:srgbClr val="17324D"/>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24"/>
          <p:cNvSpPr txBox="1"/>
          <p:nvPr>
            <p:ph idx="1" type="body"/>
          </p:nvPr>
        </p:nvSpPr>
        <p:spPr>
          <a:xfrm>
            <a:off x="1016000" y="2662968"/>
            <a:ext cx="10081260" cy="345821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550" u="none" cap="none" strike="noStrike">
                <a:solidFill>
                  <a:schemeClr val="dk1"/>
                </a:solidFill>
                <a:latin typeface="Verdana"/>
                <a:ea typeface="Verdana"/>
                <a:cs typeface="Verdana"/>
                <a:sym typeface="Verdan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24"/>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24"/>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4"/>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hyperlink" Target="https://management.org/waterfall-methodology" TargetMode="External"/><Relationship Id="rId6"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8.jp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5.jp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image" Target="../media/image7.jpg"/><Relationship Id="rId9"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18.png"/><Relationship Id="rId8"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jpg"/><Relationship Id="rId4" Type="http://schemas.openxmlformats.org/officeDocument/2006/relationships/image" Target="../media/image15.jpg"/><Relationship Id="rId5"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jp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11.jpg"/><Relationship Id="rId5" Type="http://schemas.openxmlformats.org/officeDocument/2006/relationships/image" Target="../media/image3.png"/><Relationship Id="rId6"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 name="Shape 45"/>
        <p:cNvGrpSpPr/>
        <p:nvPr/>
      </p:nvGrpSpPr>
      <p:grpSpPr>
        <a:xfrm>
          <a:off x="0" y="0"/>
          <a:ext cx="0" cy="0"/>
          <a:chOff x="0" y="0"/>
          <a:chExt cx="0" cy="0"/>
        </a:xfrm>
      </p:grpSpPr>
      <p:sp>
        <p:nvSpPr>
          <p:cNvPr id="46" name="Google Shape;46;p1"/>
          <p:cNvSpPr txBox="1"/>
          <p:nvPr/>
        </p:nvSpPr>
        <p:spPr>
          <a:xfrm>
            <a:off x="1206499" y="1231265"/>
            <a:ext cx="280543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3F8069"/>
                </a:solidFill>
                <a:latin typeface="Courier New"/>
                <a:ea typeface="Courier New"/>
                <a:cs typeface="Courier New"/>
                <a:sym typeface="Courier New"/>
              </a:rPr>
              <a:t>SPRING BOOT  ×  AI</a:t>
            </a:r>
            <a:endParaRPr sz="1800">
              <a:latin typeface="Courier New"/>
              <a:ea typeface="Courier New"/>
              <a:cs typeface="Courier New"/>
              <a:sym typeface="Courier New"/>
            </a:endParaRPr>
          </a:p>
        </p:txBody>
      </p:sp>
      <p:sp>
        <p:nvSpPr>
          <p:cNvPr descr="$PPTXTitle" id="47" name="Google Shape;47;p1"/>
          <p:cNvSpPr txBox="1"/>
          <p:nvPr>
            <p:ph type="title"/>
          </p:nvPr>
        </p:nvSpPr>
        <p:spPr>
          <a:xfrm>
            <a:off x="1206500" y="2677550"/>
            <a:ext cx="16099200" cy="2332500"/>
          </a:xfrm>
          <a:prstGeom prst="rect">
            <a:avLst/>
          </a:prstGeom>
          <a:noFill/>
          <a:ln>
            <a:noFill/>
          </a:ln>
        </p:spPr>
        <p:txBody>
          <a:bodyPr anchorCtr="0" anchor="t" bIns="0" lIns="0" spcFirstLastPara="1" rIns="0" wrap="square" tIns="149850">
            <a:spAutoFit/>
          </a:bodyPr>
          <a:lstStyle/>
          <a:p>
            <a:pPr indent="0" lvl="0" marL="12700" marR="5080" rtl="0" algn="l">
              <a:lnSpc>
                <a:spcPct val="105362"/>
              </a:lnSpc>
              <a:spcBef>
                <a:spcPts val="0"/>
              </a:spcBef>
              <a:spcAft>
                <a:spcPts val="0"/>
              </a:spcAft>
              <a:buNone/>
            </a:pPr>
            <a:r>
              <a:rPr lang="en-US" sz="6900"/>
              <a:t>Developing Smart Web Apps with Spring Boot &amp; AI</a:t>
            </a:r>
            <a:endParaRPr sz="6900"/>
          </a:p>
        </p:txBody>
      </p:sp>
      <p:sp>
        <p:nvSpPr>
          <p:cNvPr id="48" name="Google Shape;48;p1"/>
          <p:cNvSpPr/>
          <p:nvPr/>
        </p:nvSpPr>
        <p:spPr>
          <a:xfrm>
            <a:off x="1219199" y="7505700"/>
            <a:ext cx="2095500" cy="28575"/>
          </a:xfrm>
          <a:custGeom>
            <a:rect b="b" l="l" r="r" t="t"/>
            <a:pathLst>
              <a:path extrusionOk="0" h="28575" w="2095500">
                <a:moveTo>
                  <a:pt x="2095462" y="28575"/>
                </a:moveTo>
                <a:lnTo>
                  <a:pt x="0" y="28575"/>
                </a:lnTo>
                <a:lnTo>
                  <a:pt x="0" y="0"/>
                </a:lnTo>
                <a:lnTo>
                  <a:pt x="2095462" y="0"/>
                </a:lnTo>
                <a:lnTo>
                  <a:pt x="2095462" y="28575"/>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 name="Google Shape;49;p1"/>
          <p:cNvSpPr txBox="1"/>
          <p:nvPr/>
        </p:nvSpPr>
        <p:spPr>
          <a:xfrm>
            <a:off x="1206500" y="5753725"/>
            <a:ext cx="16286700" cy="474600"/>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None/>
            </a:pPr>
            <a:r>
              <a:rPr lang="en-US" sz="3000">
                <a:solidFill>
                  <a:srgbClr val="202F40"/>
                </a:solidFill>
                <a:latin typeface="Verdana"/>
                <a:ea typeface="Verdana"/>
                <a:cs typeface="Verdana"/>
                <a:sym typeface="Verdana"/>
              </a:rPr>
              <a:t>Day 1: Kick-off dự án và các kiến thức về triển khai phần mềm trong doanh nghiệp</a:t>
            </a:r>
            <a:endParaRPr sz="3000">
              <a:latin typeface="Verdana"/>
              <a:ea typeface="Verdana"/>
              <a:cs typeface="Verdana"/>
              <a:sym typeface="Verdana"/>
            </a:endParaRPr>
          </a:p>
        </p:txBody>
      </p:sp>
      <p:sp>
        <p:nvSpPr>
          <p:cNvPr id="50" name="Google Shape;50;p1"/>
          <p:cNvSpPr txBox="1"/>
          <p:nvPr/>
        </p:nvSpPr>
        <p:spPr>
          <a:xfrm>
            <a:off x="1206499" y="8138318"/>
            <a:ext cx="3235960" cy="31115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US" sz="1850">
                <a:solidFill>
                  <a:srgbClr val="202F40"/>
                </a:solidFill>
                <a:latin typeface="Verdana"/>
                <a:ea typeface="Verdana"/>
                <a:cs typeface="Verdana"/>
                <a:sym typeface="Verdana"/>
              </a:rPr>
              <a:t>Wednesday, 19 August 2026</a:t>
            </a:r>
            <a:endParaRPr sz="1850">
              <a:latin typeface="Verdana"/>
              <a:ea typeface="Verdana"/>
              <a:cs typeface="Verdana"/>
              <a:sym typeface="Verdana"/>
            </a:endParaRPr>
          </a:p>
        </p:txBody>
      </p:sp>
      <p:pic>
        <p:nvPicPr>
          <p:cNvPr id="51" name="Google Shape;51;p1" title="Logo_Color.png"/>
          <p:cNvPicPr preferRelativeResize="0"/>
          <p:nvPr/>
        </p:nvPicPr>
        <p:blipFill>
          <a:blip r:embed="rId3">
            <a:alphaModFix/>
          </a:blip>
          <a:stretch>
            <a:fillRect/>
          </a:stretch>
        </p:blipFill>
        <p:spPr>
          <a:xfrm>
            <a:off x="16144875" y="0"/>
            <a:ext cx="1928827" cy="192882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txBox="1"/>
          <p:nvPr/>
        </p:nvSpPr>
        <p:spPr>
          <a:xfrm>
            <a:off x="1206499" y="1014094"/>
            <a:ext cx="297815"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86C7AC"/>
                </a:solidFill>
                <a:latin typeface="Courier New"/>
                <a:ea typeface="Courier New"/>
                <a:cs typeface="Courier New"/>
                <a:sym typeface="Courier New"/>
              </a:rPr>
              <a:t>01</a:t>
            </a:r>
            <a:endParaRPr sz="1650">
              <a:latin typeface="Courier New"/>
              <a:ea typeface="Courier New"/>
              <a:cs typeface="Courier New"/>
              <a:sym typeface="Courier New"/>
            </a:endParaRPr>
          </a:p>
        </p:txBody>
      </p:sp>
      <p:sp>
        <p:nvSpPr>
          <p:cNvPr id="57" name="Google Shape;57;p2"/>
          <p:cNvSpPr txBox="1"/>
          <p:nvPr/>
        </p:nvSpPr>
        <p:spPr>
          <a:xfrm>
            <a:off x="1683300" y="4582950"/>
            <a:ext cx="14921400" cy="1121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7200">
                <a:solidFill>
                  <a:srgbClr val="FFFFFF"/>
                </a:solidFill>
                <a:latin typeface="Tahoma"/>
                <a:ea typeface="Tahoma"/>
                <a:cs typeface="Tahoma"/>
                <a:sym typeface="Tahoma"/>
              </a:rPr>
              <a:t>Tổng Q</a:t>
            </a:r>
            <a:r>
              <a:rPr b="1" lang="en-US" sz="7200">
                <a:solidFill>
                  <a:srgbClr val="FFFFFF"/>
                </a:solidFill>
                <a:latin typeface="Tahoma"/>
                <a:ea typeface="Tahoma"/>
                <a:cs typeface="Tahoma"/>
                <a:sym typeface="Tahoma"/>
              </a:rPr>
              <a:t>uan Khóa Học &amp; Lộ Trình</a:t>
            </a:r>
            <a:endParaRPr sz="7200">
              <a:latin typeface="Tahoma"/>
              <a:ea typeface="Tahoma"/>
              <a:cs typeface="Tahoma"/>
              <a:sym typeface="Tahoma"/>
            </a:endParaRPr>
          </a:p>
        </p:txBody>
      </p:sp>
      <p:sp>
        <p:nvSpPr>
          <p:cNvPr id="58" name="Google Shape;58;p2"/>
          <p:cNvSpPr txBox="1"/>
          <p:nvPr/>
        </p:nvSpPr>
        <p:spPr>
          <a:xfrm>
            <a:off x="1206499" y="9618979"/>
            <a:ext cx="339344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DAY 1  /  KICK-OFF &amp; WORKFLOW</a:t>
            </a:r>
            <a:endParaRPr sz="1350">
              <a:latin typeface="Courier New"/>
              <a:ea typeface="Courier New"/>
              <a:cs typeface="Courier New"/>
              <a:sym typeface="Courier New"/>
            </a:endParaRPr>
          </a:p>
        </p:txBody>
      </p:sp>
      <p:pic>
        <p:nvPicPr>
          <p:cNvPr id="59" name="Google Shape;59;p2" title="Logo_white.png"/>
          <p:cNvPicPr preferRelativeResize="0"/>
          <p:nvPr/>
        </p:nvPicPr>
        <p:blipFill>
          <a:blip r:embed="rId3">
            <a:alphaModFix/>
          </a:blip>
          <a:stretch>
            <a:fillRect/>
          </a:stretch>
        </p:blipFill>
        <p:spPr>
          <a:xfrm>
            <a:off x="15939500" y="167000"/>
            <a:ext cx="2051400" cy="1681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3"/>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01.1</a:t>
            </a:r>
            <a:endParaRPr sz="1650">
              <a:latin typeface="Courier New"/>
              <a:ea typeface="Courier New"/>
              <a:cs typeface="Courier New"/>
              <a:sym typeface="Courier New"/>
            </a:endParaRPr>
          </a:p>
        </p:txBody>
      </p:sp>
      <p:sp>
        <p:nvSpPr>
          <p:cNvPr descr="$PPTXTitle" id="65" name="Google Shape;65;p3"/>
          <p:cNvSpPr txBox="1"/>
          <p:nvPr>
            <p:ph type="title"/>
          </p:nvPr>
        </p:nvSpPr>
        <p:spPr>
          <a:xfrm>
            <a:off x="1206500" y="1224600"/>
            <a:ext cx="73788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Giới Thiệu Khóa Học</a:t>
            </a:r>
            <a:endParaRPr/>
          </a:p>
        </p:txBody>
      </p:sp>
      <p:sp>
        <p:nvSpPr>
          <p:cNvPr id="66" name="Google Shape;66;p3"/>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 name="Google Shape;67;p3"/>
          <p:cNvSpPr/>
          <p:nvPr/>
        </p:nvSpPr>
        <p:spPr>
          <a:xfrm>
            <a:off x="1219199" y="3000375"/>
            <a:ext cx="4000500" cy="38100"/>
          </a:xfrm>
          <a:custGeom>
            <a:rect b="b" l="l" r="r" t="t"/>
            <a:pathLst>
              <a:path extrusionOk="0" h="38100" w="4000500">
                <a:moveTo>
                  <a:pt x="4000499" y="38099"/>
                </a:moveTo>
                <a:lnTo>
                  <a:pt x="0" y="38099"/>
                </a:lnTo>
                <a:lnTo>
                  <a:pt x="0" y="0"/>
                </a:lnTo>
                <a:lnTo>
                  <a:pt x="4000499" y="0"/>
                </a:lnTo>
                <a:lnTo>
                  <a:pt x="4000499" y="38099"/>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8" name="Google Shape;68;p3"/>
          <p:cNvSpPr txBox="1"/>
          <p:nvPr/>
        </p:nvSpPr>
        <p:spPr>
          <a:xfrm>
            <a:off x="1206501" y="3290950"/>
            <a:ext cx="2222400" cy="1903800"/>
          </a:xfrm>
          <a:prstGeom prst="rect">
            <a:avLst/>
          </a:prstGeom>
          <a:noFill/>
          <a:ln>
            <a:noFill/>
          </a:ln>
        </p:spPr>
        <p:txBody>
          <a:bodyPr anchorCtr="0" anchor="t" bIns="0" lIns="0" spcFirstLastPara="1" rIns="0" wrap="square" tIns="12700">
            <a:spAutoFit/>
          </a:bodyPr>
          <a:lstStyle/>
          <a:p>
            <a:pPr indent="0" lvl="0" marL="12700" rtl="0" algn="l">
              <a:lnSpc>
                <a:spcPct val="119464"/>
              </a:lnSpc>
              <a:spcBef>
                <a:spcPts val="0"/>
              </a:spcBef>
              <a:spcAft>
                <a:spcPts val="0"/>
              </a:spcAft>
              <a:buNone/>
            </a:pPr>
            <a:r>
              <a:rPr b="1" lang="en-US" sz="8400">
                <a:solidFill>
                  <a:srgbClr val="17324D"/>
                </a:solidFill>
                <a:latin typeface="Tahoma"/>
                <a:ea typeface="Tahoma"/>
                <a:cs typeface="Tahoma"/>
                <a:sym typeface="Tahoma"/>
              </a:rPr>
              <a:t>10</a:t>
            </a:r>
            <a:endParaRPr sz="8400">
              <a:latin typeface="Tahoma"/>
              <a:ea typeface="Tahoma"/>
              <a:cs typeface="Tahoma"/>
              <a:sym typeface="Tahoma"/>
            </a:endParaRPr>
          </a:p>
          <a:p>
            <a:pPr indent="0" lvl="0" marL="12700" rtl="0" algn="l">
              <a:lnSpc>
                <a:spcPct val="117999"/>
              </a:lnSpc>
              <a:spcBef>
                <a:spcPts val="0"/>
              </a:spcBef>
              <a:spcAft>
                <a:spcPts val="0"/>
              </a:spcAft>
              <a:buNone/>
            </a:pPr>
            <a:r>
              <a:rPr b="1" lang="en-US" sz="2250">
                <a:solidFill>
                  <a:srgbClr val="3F8069"/>
                </a:solidFill>
                <a:latin typeface="Courier New"/>
                <a:ea typeface="Courier New"/>
                <a:cs typeface="Courier New"/>
                <a:sym typeface="Courier New"/>
              </a:rPr>
              <a:t>tuần</a:t>
            </a:r>
            <a:endParaRPr sz="2250">
              <a:latin typeface="Courier New"/>
              <a:ea typeface="Courier New"/>
              <a:cs typeface="Courier New"/>
              <a:sym typeface="Courier New"/>
            </a:endParaRPr>
          </a:p>
        </p:txBody>
      </p:sp>
      <p:sp>
        <p:nvSpPr>
          <p:cNvPr id="69" name="Google Shape;69;p3"/>
          <p:cNvSpPr/>
          <p:nvPr/>
        </p:nvSpPr>
        <p:spPr>
          <a:xfrm>
            <a:off x="6457949" y="3000375"/>
            <a:ext cx="4000500" cy="38100"/>
          </a:xfrm>
          <a:custGeom>
            <a:rect b="b" l="l" r="r" t="t"/>
            <a:pathLst>
              <a:path extrusionOk="0" h="38100" w="4000500">
                <a:moveTo>
                  <a:pt x="4000499" y="38099"/>
                </a:moveTo>
                <a:lnTo>
                  <a:pt x="0" y="38099"/>
                </a:lnTo>
                <a:lnTo>
                  <a:pt x="0" y="0"/>
                </a:lnTo>
                <a:lnTo>
                  <a:pt x="4000499" y="0"/>
                </a:lnTo>
                <a:lnTo>
                  <a:pt x="4000499" y="38099"/>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0" name="Google Shape;70;p3"/>
          <p:cNvSpPr txBox="1"/>
          <p:nvPr/>
        </p:nvSpPr>
        <p:spPr>
          <a:xfrm>
            <a:off x="6445249" y="3290950"/>
            <a:ext cx="2139950" cy="1637030"/>
          </a:xfrm>
          <a:prstGeom prst="rect">
            <a:avLst/>
          </a:prstGeom>
          <a:noFill/>
          <a:ln>
            <a:noFill/>
          </a:ln>
        </p:spPr>
        <p:txBody>
          <a:bodyPr anchorCtr="0" anchor="t" bIns="0" lIns="0" spcFirstLastPara="1" rIns="0" wrap="square" tIns="12700">
            <a:spAutoFit/>
          </a:bodyPr>
          <a:lstStyle/>
          <a:p>
            <a:pPr indent="0" lvl="0" marL="12700" rtl="0" algn="l">
              <a:lnSpc>
                <a:spcPct val="119464"/>
              </a:lnSpc>
              <a:spcBef>
                <a:spcPts val="0"/>
              </a:spcBef>
              <a:spcAft>
                <a:spcPts val="0"/>
              </a:spcAft>
              <a:buNone/>
            </a:pPr>
            <a:r>
              <a:rPr b="1" lang="en-US" sz="8400">
                <a:solidFill>
                  <a:srgbClr val="17324D"/>
                </a:solidFill>
                <a:latin typeface="Tahoma"/>
                <a:ea typeface="Tahoma"/>
                <a:cs typeface="Tahoma"/>
                <a:sym typeface="Tahoma"/>
              </a:rPr>
              <a:t>3</a:t>
            </a:r>
            <a:endParaRPr sz="8400">
              <a:latin typeface="Tahoma"/>
              <a:ea typeface="Tahoma"/>
              <a:cs typeface="Tahoma"/>
              <a:sym typeface="Tahoma"/>
            </a:endParaRPr>
          </a:p>
          <a:p>
            <a:pPr indent="0" lvl="0" marL="12700" rtl="0" algn="l">
              <a:lnSpc>
                <a:spcPct val="117999"/>
              </a:lnSpc>
              <a:spcBef>
                <a:spcPts val="0"/>
              </a:spcBef>
              <a:spcAft>
                <a:spcPts val="0"/>
              </a:spcAft>
              <a:buNone/>
            </a:pPr>
            <a:r>
              <a:rPr b="1" lang="en-US" sz="2250">
                <a:solidFill>
                  <a:srgbClr val="3F8069"/>
                </a:solidFill>
                <a:latin typeface="Courier New"/>
                <a:ea typeface="Courier New"/>
                <a:cs typeface="Courier New"/>
                <a:sym typeface="Courier New"/>
              </a:rPr>
              <a:t>buổi / tuần</a:t>
            </a:r>
            <a:endParaRPr sz="2250">
              <a:latin typeface="Courier New"/>
              <a:ea typeface="Courier New"/>
              <a:cs typeface="Courier New"/>
              <a:sym typeface="Courier New"/>
            </a:endParaRPr>
          </a:p>
        </p:txBody>
      </p:sp>
      <p:sp>
        <p:nvSpPr>
          <p:cNvPr id="71" name="Google Shape;71;p3"/>
          <p:cNvSpPr/>
          <p:nvPr/>
        </p:nvSpPr>
        <p:spPr>
          <a:xfrm>
            <a:off x="11696699" y="3000375"/>
            <a:ext cx="4000500" cy="38100"/>
          </a:xfrm>
          <a:custGeom>
            <a:rect b="b" l="l" r="r" t="t"/>
            <a:pathLst>
              <a:path extrusionOk="0" h="38100" w="4000500">
                <a:moveTo>
                  <a:pt x="4000499" y="38099"/>
                </a:moveTo>
                <a:lnTo>
                  <a:pt x="0" y="38099"/>
                </a:lnTo>
                <a:lnTo>
                  <a:pt x="0" y="0"/>
                </a:lnTo>
                <a:lnTo>
                  <a:pt x="4000499" y="0"/>
                </a:lnTo>
                <a:lnTo>
                  <a:pt x="4000499" y="38099"/>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 name="Google Shape;72;p3"/>
          <p:cNvSpPr txBox="1"/>
          <p:nvPr/>
        </p:nvSpPr>
        <p:spPr>
          <a:xfrm>
            <a:off x="11683999" y="3290950"/>
            <a:ext cx="1557020" cy="1637030"/>
          </a:xfrm>
          <a:prstGeom prst="rect">
            <a:avLst/>
          </a:prstGeom>
          <a:noFill/>
          <a:ln>
            <a:noFill/>
          </a:ln>
        </p:spPr>
        <p:txBody>
          <a:bodyPr anchorCtr="0" anchor="t" bIns="0" lIns="0" spcFirstLastPara="1" rIns="0" wrap="square" tIns="12700">
            <a:spAutoFit/>
          </a:bodyPr>
          <a:lstStyle/>
          <a:p>
            <a:pPr indent="0" lvl="0" marL="12700" rtl="0" algn="l">
              <a:lnSpc>
                <a:spcPct val="119464"/>
              </a:lnSpc>
              <a:spcBef>
                <a:spcPts val="0"/>
              </a:spcBef>
              <a:spcAft>
                <a:spcPts val="0"/>
              </a:spcAft>
              <a:buNone/>
            </a:pPr>
            <a:r>
              <a:rPr b="1" lang="en-US" sz="8400">
                <a:solidFill>
                  <a:srgbClr val="17324D"/>
                </a:solidFill>
                <a:latin typeface="Tahoma"/>
                <a:ea typeface="Tahoma"/>
                <a:cs typeface="Tahoma"/>
                <a:sym typeface="Tahoma"/>
              </a:rPr>
              <a:t>01</a:t>
            </a:r>
            <a:endParaRPr sz="8400">
              <a:latin typeface="Tahoma"/>
              <a:ea typeface="Tahoma"/>
              <a:cs typeface="Tahoma"/>
              <a:sym typeface="Tahoma"/>
            </a:endParaRPr>
          </a:p>
          <a:p>
            <a:pPr indent="0" lvl="0" marL="12700" rtl="0" algn="l">
              <a:lnSpc>
                <a:spcPct val="117999"/>
              </a:lnSpc>
              <a:spcBef>
                <a:spcPts val="0"/>
              </a:spcBef>
              <a:spcAft>
                <a:spcPts val="0"/>
              </a:spcAft>
              <a:buNone/>
            </a:pPr>
            <a:r>
              <a:rPr b="1" lang="en-US" sz="2250">
                <a:solidFill>
                  <a:srgbClr val="3F8069"/>
                </a:solidFill>
                <a:latin typeface="Courier New"/>
                <a:ea typeface="Courier New"/>
                <a:cs typeface="Courier New"/>
                <a:sym typeface="Courier New"/>
              </a:rPr>
              <a:t>mục tiêu</a:t>
            </a:r>
            <a:endParaRPr sz="2250">
              <a:latin typeface="Courier New"/>
              <a:ea typeface="Courier New"/>
              <a:cs typeface="Courier New"/>
              <a:sym typeface="Courier New"/>
            </a:endParaRPr>
          </a:p>
        </p:txBody>
      </p:sp>
      <p:sp>
        <p:nvSpPr>
          <p:cNvPr id="73" name="Google Shape;73;p3"/>
          <p:cNvSpPr txBox="1"/>
          <p:nvPr/>
        </p:nvSpPr>
        <p:spPr>
          <a:xfrm>
            <a:off x="11683999" y="5421121"/>
            <a:ext cx="3427095" cy="3454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100">
                <a:solidFill>
                  <a:srgbClr val="202F40"/>
                </a:solidFill>
                <a:latin typeface="Verdana"/>
                <a:ea typeface="Verdana"/>
                <a:cs typeface="Verdana"/>
                <a:sym typeface="Verdana"/>
              </a:rPr>
              <a:t>Ứng dụng Web thông minh</a:t>
            </a:r>
            <a:endParaRPr sz="2100">
              <a:latin typeface="Verdana"/>
              <a:ea typeface="Verdana"/>
              <a:cs typeface="Verdana"/>
              <a:sym typeface="Verdana"/>
            </a:endParaRPr>
          </a:p>
        </p:txBody>
      </p:sp>
      <p:sp>
        <p:nvSpPr>
          <p:cNvPr id="74" name="Google Shape;74;p3"/>
          <p:cNvSpPr txBox="1"/>
          <p:nvPr/>
        </p:nvSpPr>
        <p:spPr>
          <a:xfrm>
            <a:off x="1206500" y="7806750"/>
            <a:ext cx="13420200" cy="474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3000">
                <a:solidFill>
                  <a:srgbClr val="202F40"/>
                </a:solidFill>
                <a:latin typeface="Tahoma"/>
                <a:ea typeface="Tahoma"/>
                <a:cs typeface="Tahoma"/>
                <a:sym typeface="Tahoma"/>
              </a:rPr>
              <a:t>Mục tiêu: Xây dựng ứng dụng Web thông minh với Spring Boot &amp; AI</a:t>
            </a:r>
            <a:endParaRPr sz="3000">
              <a:latin typeface="Tahoma"/>
              <a:ea typeface="Tahoma"/>
              <a:cs typeface="Tahoma"/>
              <a:sym typeface="Tahoma"/>
            </a:endParaRPr>
          </a:p>
        </p:txBody>
      </p:sp>
      <p:sp>
        <p:nvSpPr>
          <p:cNvPr id="75" name="Google Shape;75;p3"/>
          <p:cNvSpPr txBox="1"/>
          <p:nvPr/>
        </p:nvSpPr>
        <p:spPr>
          <a:xfrm>
            <a:off x="1206499" y="9618979"/>
            <a:ext cx="1760855"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COURSE OVERVIEW</a:t>
            </a:r>
            <a:endParaRPr sz="1350">
              <a:latin typeface="Courier New"/>
              <a:ea typeface="Courier New"/>
              <a:cs typeface="Courier New"/>
              <a:sym typeface="Courier New"/>
            </a:endParaRPr>
          </a:p>
        </p:txBody>
      </p:sp>
      <p:pic>
        <p:nvPicPr>
          <p:cNvPr id="76" name="Google Shape;76;p3" title="Logo_Color.png"/>
          <p:cNvPicPr preferRelativeResize="0"/>
          <p:nvPr/>
        </p:nvPicPr>
        <p:blipFill>
          <a:blip r:embed="rId3">
            <a:alphaModFix/>
          </a:blip>
          <a:stretch>
            <a:fillRect/>
          </a:stretch>
        </p:blipFill>
        <p:spPr>
          <a:xfrm>
            <a:off x="16144875" y="0"/>
            <a:ext cx="1928827" cy="19288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01.2</a:t>
            </a:r>
            <a:endParaRPr sz="1650">
              <a:latin typeface="Courier New"/>
              <a:ea typeface="Courier New"/>
              <a:cs typeface="Courier New"/>
              <a:sym typeface="Courier New"/>
            </a:endParaRPr>
          </a:p>
        </p:txBody>
      </p:sp>
      <p:sp>
        <p:nvSpPr>
          <p:cNvPr descr="$PPTXTitle" id="82" name="Google Shape;82;p4"/>
          <p:cNvSpPr txBox="1"/>
          <p:nvPr>
            <p:ph type="title"/>
          </p:nvPr>
        </p:nvSpPr>
        <p:spPr>
          <a:xfrm>
            <a:off x="1206500" y="1224600"/>
            <a:ext cx="90270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Lộ Trình Học Tập 10 Tuần</a:t>
            </a:r>
            <a:endParaRPr/>
          </a:p>
        </p:txBody>
      </p:sp>
      <p:sp>
        <p:nvSpPr>
          <p:cNvPr id="83" name="Google Shape;83;p4"/>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84" name="Google Shape;84;p4"/>
          <p:cNvGrpSpPr/>
          <p:nvPr/>
        </p:nvGrpSpPr>
        <p:grpSpPr>
          <a:xfrm>
            <a:off x="1219199" y="2838449"/>
            <a:ext cx="14668500" cy="381000"/>
            <a:chOff x="1219199" y="2838449"/>
            <a:chExt cx="14668500" cy="381000"/>
          </a:xfrm>
        </p:grpSpPr>
        <p:sp>
          <p:nvSpPr>
            <p:cNvPr id="85" name="Google Shape;85;p4"/>
            <p:cNvSpPr/>
            <p:nvPr/>
          </p:nvSpPr>
          <p:spPr>
            <a:xfrm>
              <a:off x="1219199" y="3009899"/>
              <a:ext cx="14668500" cy="47625"/>
            </a:xfrm>
            <a:custGeom>
              <a:rect b="b" l="l" r="r" t="t"/>
              <a:pathLst>
                <a:path extrusionOk="0" h="47625" w="14668500">
                  <a:moveTo>
                    <a:pt x="14668499" y="47624"/>
                  </a:moveTo>
                  <a:lnTo>
                    <a:pt x="0" y="47624"/>
                  </a:lnTo>
                  <a:lnTo>
                    <a:pt x="0" y="0"/>
                  </a:lnTo>
                  <a:lnTo>
                    <a:pt x="14668499" y="0"/>
                  </a:lnTo>
                  <a:lnTo>
                    <a:pt x="14668499" y="47624"/>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6" name="Google Shape;86;p4"/>
            <p:cNvSpPr/>
            <p:nvPr/>
          </p:nvSpPr>
          <p:spPr>
            <a:xfrm>
              <a:off x="1219200" y="2838449"/>
              <a:ext cx="10858500" cy="381000"/>
            </a:xfrm>
            <a:custGeom>
              <a:rect b="b" l="l" r="r" t="t"/>
              <a:pathLst>
                <a:path extrusionOk="0" h="381000" w="10858500">
                  <a:moveTo>
                    <a:pt x="381000" y="190500"/>
                  </a:moveTo>
                  <a:lnTo>
                    <a:pt x="375958" y="146824"/>
                  </a:lnTo>
                  <a:lnTo>
                    <a:pt x="361632" y="106730"/>
                  </a:lnTo>
                  <a:lnTo>
                    <a:pt x="339140" y="71361"/>
                  </a:lnTo>
                  <a:lnTo>
                    <a:pt x="309638" y="41859"/>
                  </a:lnTo>
                  <a:lnTo>
                    <a:pt x="274269" y="19367"/>
                  </a:lnTo>
                  <a:lnTo>
                    <a:pt x="234175" y="5041"/>
                  </a:lnTo>
                  <a:lnTo>
                    <a:pt x="190500" y="0"/>
                  </a:lnTo>
                  <a:lnTo>
                    <a:pt x="146812" y="5041"/>
                  </a:lnTo>
                  <a:lnTo>
                    <a:pt x="106718" y="19367"/>
                  </a:lnTo>
                  <a:lnTo>
                    <a:pt x="71348" y="41859"/>
                  </a:lnTo>
                  <a:lnTo>
                    <a:pt x="41846" y="71361"/>
                  </a:lnTo>
                  <a:lnTo>
                    <a:pt x="19354" y="106730"/>
                  </a:lnTo>
                  <a:lnTo>
                    <a:pt x="5029" y="146824"/>
                  </a:lnTo>
                  <a:lnTo>
                    <a:pt x="0" y="190500"/>
                  </a:lnTo>
                  <a:lnTo>
                    <a:pt x="5029" y="234188"/>
                  </a:lnTo>
                  <a:lnTo>
                    <a:pt x="19354" y="274281"/>
                  </a:lnTo>
                  <a:lnTo>
                    <a:pt x="41846" y="309651"/>
                  </a:lnTo>
                  <a:lnTo>
                    <a:pt x="71348" y="339153"/>
                  </a:lnTo>
                  <a:lnTo>
                    <a:pt x="106718" y="361645"/>
                  </a:lnTo>
                  <a:lnTo>
                    <a:pt x="146812" y="375970"/>
                  </a:lnTo>
                  <a:lnTo>
                    <a:pt x="190500" y="381000"/>
                  </a:lnTo>
                  <a:lnTo>
                    <a:pt x="234175" y="375970"/>
                  </a:lnTo>
                  <a:lnTo>
                    <a:pt x="274269" y="361645"/>
                  </a:lnTo>
                  <a:lnTo>
                    <a:pt x="309638" y="339153"/>
                  </a:lnTo>
                  <a:lnTo>
                    <a:pt x="339140" y="309651"/>
                  </a:lnTo>
                  <a:lnTo>
                    <a:pt x="361632" y="274281"/>
                  </a:lnTo>
                  <a:lnTo>
                    <a:pt x="375958" y="234188"/>
                  </a:lnTo>
                  <a:lnTo>
                    <a:pt x="381000" y="190500"/>
                  </a:lnTo>
                  <a:close/>
                </a:path>
                <a:path extrusionOk="0" h="381000" w="10858500">
                  <a:moveTo>
                    <a:pt x="5619737" y="190500"/>
                  </a:moveTo>
                  <a:lnTo>
                    <a:pt x="5614708" y="146824"/>
                  </a:lnTo>
                  <a:lnTo>
                    <a:pt x="5600382" y="106730"/>
                  </a:lnTo>
                  <a:lnTo>
                    <a:pt x="5577891" y="71361"/>
                  </a:lnTo>
                  <a:lnTo>
                    <a:pt x="5548388" y="41859"/>
                  </a:lnTo>
                  <a:lnTo>
                    <a:pt x="5513019" y="19367"/>
                  </a:lnTo>
                  <a:lnTo>
                    <a:pt x="5472925" y="5041"/>
                  </a:lnTo>
                  <a:lnTo>
                    <a:pt x="5429237" y="0"/>
                  </a:lnTo>
                  <a:lnTo>
                    <a:pt x="5385562" y="5041"/>
                  </a:lnTo>
                  <a:lnTo>
                    <a:pt x="5345468" y="19367"/>
                  </a:lnTo>
                  <a:lnTo>
                    <a:pt x="5310098" y="41859"/>
                  </a:lnTo>
                  <a:lnTo>
                    <a:pt x="5280596" y="71361"/>
                  </a:lnTo>
                  <a:lnTo>
                    <a:pt x="5258105" y="106730"/>
                  </a:lnTo>
                  <a:lnTo>
                    <a:pt x="5243779" y="146824"/>
                  </a:lnTo>
                  <a:lnTo>
                    <a:pt x="5238737" y="190500"/>
                  </a:lnTo>
                  <a:lnTo>
                    <a:pt x="5243779" y="234188"/>
                  </a:lnTo>
                  <a:lnTo>
                    <a:pt x="5258105" y="274281"/>
                  </a:lnTo>
                  <a:lnTo>
                    <a:pt x="5280596" y="309651"/>
                  </a:lnTo>
                  <a:lnTo>
                    <a:pt x="5310098" y="339153"/>
                  </a:lnTo>
                  <a:lnTo>
                    <a:pt x="5345468" y="361645"/>
                  </a:lnTo>
                  <a:lnTo>
                    <a:pt x="5385562" y="375970"/>
                  </a:lnTo>
                  <a:lnTo>
                    <a:pt x="5429237" y="381000"/>
                  </a:lnTo>
                  <a:lnTo>
                    <a:pt x="5472925" y="375970"/>
                  </a:lnTo>
                  <a:lnTo>
                    <a:pt x="5513019" y="361645"/>
                  </a:lnTo>
                  <a:lnTo>
                    <a:pt x="5548388" y="339153"/>
                  </a:lnTo>
                  <a:lnTo>
                    <a:pt x="5577891" y="309651"/>
                  </a:lnTo>
                  <a:lnTo>
                    <a:pt x="5600382" y="274281"/>
                  </a:lnTo>
                  <a:lnTo>
                    <a:pt x="5614708" y="234188"/>
                  </a:lnTo>
                  <a:lnTo>
                    <a:pt x="5619737" y="190500"/>
                  </a:lnTo>
                  <a:close/>
                </a:path>
                <a:path extrusionOk="0" h="381000" w="10858500">
                  <a:moveTo>
                    <a:pt x="10858487" y="190500"/>
                  </a:moveTo>
                  <a:lnTo>
                    <a:pt x="10853458" y="146824"/>
                  </a:lnTo>
                  <a:lnTo>
                    <a:pt x="10839133" y="106730"/>
                  </a:lnTo>
                  <a:lnTo>
                    <a:pt x="10816641" y="71361"/>
                  </a:lnTo>
                  <a:lnTo>
                    <a:pt x="10787139" y="41859"/>
                  </a:lnTo>
                  <a:lnTo>
                    <a:pt x="10751769" y="19367"/>
                  </a:lnTo>
                  <a:lnTo>
                    <a:pt x="10711675" y="5041"/>
                  </a:lnTo>
                  <a:lnTo>
                    <a:pt x="10667987" y="0"/>
                  </a:lnTo>
                  <a:lnTo>
                    <a:pt x="10624312" y="5041"/>
                  </a:lnTo>
                  <a:lnTo>
                    <a:pt x="10584218" y="19367"/>
                  </a:lnTo>
                  <a:lnTo>
                    <a:pt x="10548849" y="41859"/>
                  </a:lnTo>
                  <a:lnTo>
                    <a:pt x="10519346" y="71361"/>
                  </a:lnTo>
                  <a:lnTo>
                    <a:pt x="10496855" y="106730"/>
                  </a:lnTo>
                  <a:lnTo>
                    <a:pt x="10482529" y="146824"/>
                  </a:lnTo>
                  <a:lnTo>
                    <a:pt x="10477487" y="190500"/>
                  </a:lnTo>
                  <a:lnTo>
                    <a:pt x="10482529" y="234188"/>
                  </a:lnTo>
                  <a:lnTo>
                    <a:pt x="10496855" y="274281"/>
                  </a:lnTo>
                  <a:lnTo>
                    <a:pt x="10519346" y="309651"/>
                  </a:lnTo>
                  <a:lnTo>
                    <a:pt x="10548849" y="339153"/>
                  </a:lnTo>
                  <a:lnTo>
                    <a:pt x="10584218" y="361645"/>
                  </a:lnTo>
                  <a:lnTo>
                    <a:pt x="10624312" y="375970"/>
                  </a:lnTo>
                  <a:lnTo>
                    <a:pt x="10667987" y="381000"/>
                  </a:lnTo>
                  <a:lnTo>
                    <a:pt x="10711675" y="375970"/>
                  </a:lnTo>
                  <a:lnTo>
                    <a:pt x="10751769" y="361645"/>
                  </a:lnTo>
                  <a:lnTo>
                    <a:pt x="10787139" y="339153"/>
                  </a:lnTo>
                  <a:lnTo>
                    <a:pt x="10816641" y="309651"/>
                  </a:lnTo>
                  <a:lnTo>
                    <a:pt x="10839133" y="274281"/>
                  </a:lnTo>
                  <a:lnTo>
                    <a:pt x="10853458" y="234188"/>
                  </a:lnTo>
                  <a:lnTo>
                    <a:pt x="10858487" y="190500"/>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7" name="Google Shape;87;p4"/>
          <p:cNvSpPr txBox="1"/>
          <p:nvPr/>
        </p:nvSpPr>
        <p:spPr>
          <a:xfrm>
            <a:off x="1206499" y="3402965"/>
            <a:ext cx="125095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3F8069"/>
                </a:solidFill>
                <a:latin typeface="Courier New"/>
                <a:ea typeface="Courier New"/>
                <a:cs typeface="Courier New"/>
                <a:sym typeface="Courier New"/>
              </a:rPr>
              <a:t>TUẦN 1—3</a:t>
            </a:r>
            <a:endParaRPr sz="1800">
              <a:latin typeface="Courier New"/>
              <a:ea typeface="Courier New"/>
              <a:cs typeface="Courier New"/>
              <a:sym typeface="Courier New"/>
            </a:endParaRPr>
          </a:p>
        </p:txBody>
      </p:sp>
      <p:pic>
        <p:nvPicPr>
          <p:cNvPr id="88" name="Google Shape;88;p4"/>
          <p:cNvPicPr preferRelativeResize="0"/>
          <p:nvPr/>
        </p:nvPicPr>
        <p:blipFill rotWithShape="1">
          <a:blip r:embed="rId3">
            <a:alphaModFix/>
          </a:blip>
          <a:srcRect b="0" l="0" r="0" t="0"/>
          <a:stretch/>
        </p:blipFill>
        <p:spPr>
          <a:xfrm>
            <a:off x="1409699" y="5341619"/>
            <a:ext cx="114300" cy="114299"/>
          </a:xfrm>
          <a:prstGeom prst="rect">
            <a:avLst/>
          </a:prstGeom>
          <a:noFill/>
          <a:ln>
            <a:noFill/>
          </a:ln>
        </p:spPr>
      </p:pic>
      <p:pic>
        <p:nvPicPr>
          <p:cNvPr id="89" name="Google Shape;89;p4"/>
          <p:cNvPicPr preferRelativeResize="0"/>
          <p:nvPr/>
        </p:nvPicPr>
        <p:blipFill rotWithShape="1">
          <a:blip r:embed="rId3">
            <a:alphaModFix/>
          </a:blip>
          <a:srcRect b="0" l="0" r="0" t="0"/>
          <a:stretch/>
        </p:blipFill>
        <p:spPr>
          <a:xfrm>
            <a:off x="1409699" y="6256019"/>
            <a:ext cx="114300" cy="114299"/>
          </a:xfrm>
          <a:prstGeom prst="rect">
            <a:avLst/>
          </a:prstGeom>
          <a:noFill/>
          <a:ln>
            <a:noFill/>
          </a:ln>
        </p:spPr>
      </p:pic>
      <p:pic>
        <p:nvPicPr>
          <p:cNvPr id="90" name="Google Shape;90;p4"/>
          <p:cNvPicPr preferRelativeResize="0"/>
          <p:nvPr/>
        </p:nvPicPr>
        <p:blipFill rotWithShape="1">
          <a:blip r:embed="rId3">
            <a:alphaModFix/>
          </a:blip>
          <a:srcRect b="0" l="0" r="0" t="0"/>
          <a:stretch/>
        </p:blipFill>
        <p:spPr>
          <a:xfrm>
            <a:off x="1409699" y="6865619"/>
            <a:ext cx="114300" cy="114299"/>
          </a:xfrm>
          <a:prstGeom prst="rect">
            <a:avLst/>
          </a:prstGeom>
          <a:noFill/>
          <a:ln>
            <a:noFill/>
          </a:ln>
        </p:spPr>
      </p:pic>
      <p:sp>
        <p:nvSpPr>
          <p:cNvPr id="91" name="Google Shape;91;p4"/>
          <p:cNvSpPr txBox="1"/>
          <p:nvPr/>
        </p:nvSpPr>
        <p:spPr>
          <a:xfrm>
            <a:off x="1206499" y="4100194"/>
            <a:ext cx="4187190" cy="2995930"/>
          </a:xfrm>
          <a:prstGeom prst="rect">
            <a:avLst/>
          </a:prstGeom>
          <a:noFill/>
          <a:ln>
            <a:noFill/>
          </a:ln>
        </p:spPr>
        <p:txBody>
          <a:bodyPr anchorCtr="0" anchor="t" bIns="0" lIns="0" spcFirstLastPara="1" rIns="0" wrap="square" tIns="57775">
            <a:spAutoFit/>
          </a:bodyPr>
          <a:lstStyle/>
          <a:p>
            <a:pPr indent="0" lvl="0" marL="12700" marR="285750" rtl="0" algn="l">
              <a:lnSpc>
                <a:spcPct val="108518"/>
              </a:lnSpc>
              <a:spcBef>
                <a:spcPts val="0"/>
              </a:spcBef>
              <a:spcAft>
                <a:spcPts val="0"/>
              </a:spcAft>
              <a:buNone/>
            </a:pPr>
            <a:r>
              <a:rPr b="1" lang="en-US" sz="2700">
                <a:solidFill>
                  <a:srgbClr val="17324D"/>
                </a:solidFill>
                <a:latin typeface="Tahoma"/>
                <a:ea typeface="Tahoma"/>
                <a:cs typeface="Tahoma"/>
                <a:sym typeface="Tahoma"/>
              </a:rPr>
              <a:t>Khởi động dự án &amp; Thiết kế API thông minh</a:t>
            </a:r>
            <a:endParaRPr sz="2700">
              <a:latin typeface="Tahoma"/>
              <a:ea typeface="Tahoma"/>
              <a:cs typeface="Tahoma"/>
              <a:sym typeface="Tahoma"/>
            </a:endParaRPr>
          </a:p>
          <a:p>
            <a:pPr indent="0" lvl="0" marL="487045" marR="1195705" rtl="0" algn="l">
              <a:lnSpc>
                <a:spcPct val="109090"/>
              </a:lnSpc>
              <a:spcBef>
                <a:spcPts val="2815"/>
              </a:spcBef>
              <a:spcAft>
                <a:spcPts val="0"/>
              </a:spcAft>
              <a:buNone/>
            </a:pPr>
            <a:r>
              <a:rPr lang="en-US" sz="2200">
                <a:solidFill>
                  <a:srgbClr val="17324D"/>
                </a:solidFill>
                <a:latin typeface="Verdana"/>
                <a:ea typeface="Verdana"/>
                <a:cs typeface="Verdana"/>
                <a:sym typeface="Verdana"/>
              </a:rPr>
              <a:t>Git workflow, Agile methodology</a:t>
            </a:r>
            <a:endParaRPr sz="2200">
              <a:latin typeface="Verdana"/>
              <a:ea typeface="Verdana"/>
              <a:cs typeface="Verdana"/>
              <a:sym typeface="Verdana"/>
            </a:endParaRPr>
          </a:p>
          <a:p>
            <a:pPr indent="0" lvl="0" marL="487045" marR="5080" rtl="0" algn="l">
              <a:lnSpc>
                <a:spcPct val="218181"/>
              </a:lnSpc>
              <a:spcBef>
                <a:spcPts val="280"/>
              </a:spcBef>
              <a:spcAft>
                <a:spcPts val="0"/>
              </a:spcAft>
              <a:buNone/>
            </a:pPr>
            <a:r>
              <a:rPr lang="en-US" sz="2200">
                <a:solidFill>
                  <a:srgbClr val="17324D"/>
                </a:solidFill>
                <a:latin typeface="Verdana"/>
                <a:ea typeface="Verdana"/>
                <a:cs typeface="Verdana"/>
                <a:sym typeface="Verdana"/>
              </a:rPr>
              <a:t>Clean Architect/Hexagonal Spring AI</a:t>
            </a:r>
            <a:endParaRPr sz="2200">
              <a:latin typeface="Verdana"/>
              <a:ea typeface="Verdana"/>
              <a:cs typeface="Verdana"/>
              <a:sym typeface="Verdana"/>
            </a:endParaRPr>
          </a:p>
        </p:txBody>
      </p:sp>
      <p:sp>
        <p:nvSpPr>
          <p:cNvPr id="92" name="Google Shape;92;p4"/>
          <p:cNvSpPr txBox="1"/>
          <p:nvPr/>
        </p:nvSpPr>
        <p:spPr>
          <a:xfrm>
            <a:off x="6445249" y="3402965"/>
            <a:ext cx="125095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3F8069"/>
                </a:solidFill>
                <a:latin typeface="Courier New"/>
                <a:ea typeface="Courier New"/>
                <a:cs typeface="Courier New"/>
                <a:sym typeface="Courier New"/>
              </a:rPr>
              <a:t>TUẦN 4—6</a:t>
            </a:r>
            <a:endParaRPr sz="1800">
              <a:latin typeface="Courier New"/>
              <a:ea typeface="Courier New"/>
              <a:cs typeface="Courier New"/>
              <a:sym typeface="Courier New"/>
            </a:endParaRPr>
          </a:p>
        </p:txBody>
      </p:sp>
      <p:pic>
        <p:nvPicPr>
          <p:cNvPr id="93" name="Google Shape;93;p4"/>
          <p:cNvPicPr preferRelativeResize="0"/>
          <p:nvPr/>
        </p:nvPicPr>
        <p:blipFill rotWithShape="1">
          <a:blip r:embed="rId3">
            <a:alphaModFix/>
          </a:blip>
          <a:srcRect b="0" l="0" r="0" t="0"/>
          <a:stretch/>
        </p:blipFill>
        <p:spPr>
          <a:xfrm>
            <a:off x="6648450" y="5341619"/>
            <a:ext cx="114300" cy="114299"/>
          </a:xfrm>
          <a:prstGeom prst="rect">
            <a:avLst/>
          </a:prstGeom>
          <a:noFill/>
          <a:ln>
            <a:noFill/>
          </a:ln>
        </p:spPr>
      </p:pic>
      <p:pic>
        <p:nvPicPr>
          <p:cNvPr id="94" name="Google Shape;94;p4"/>
          <p:cNvPicPr preferRelativeResize="0"/>
          <p:nvPr/>
        </p:nvPicPr>
        <p:blipFill rotWithShape="1">
          <a:blip r:embed="rId3">
            <a:alphaModFix/>
          </a:blip>
          <a:srcRect b="0" l="0" r="0" t="0"/>
          <a:stretch/>
        </p:blipFill>
        <p:spPr>
          <a:xfrm>
            <a:off x="6648450" y="5951219"/>
            <a:ext cx="114300" cy="114299"/>
          </a:xfrm>
          <a:prstGeom prst="rect">
            <a:avLst/>
          </a:prstGeom>
          <a:noFill/>
          <a:ln>
            <a:noFill/>
          </a:ln>
        </p:spPr>
      </p:pic>
      <p:pic>
        <p:nvPicPr>
          <p:cNvPr id="95" name="Google Shape;95;p4"/>
          <p:cNvPicPr preferRelativeResize="0"/>
          <p:nvPr/>
        </p:nvPicPr>
        <p:blipFill rotWithShape="1">
          <a:blip r:embed="rId3">
            <a:alphaModFix/>
          </a:blip>
          <a:srcRect b="0" l="0" r="0" t="0"/>
          <a:stretch/>
        </p:blipFill>
        <p:spPr>
          <a:xfrm>
            <a:off x="6648450" y="6560819"/>
            <a:ext cx="114300" cy="114299"/>
          </a:xfrm>
          <a:prstGeom prst="rect">
            <a:avLst/>
          </a:prstGeom>
          <a:noFill/>
          <a:ln>
            <a:noFill/>
          </a:ln>
        </p:spPr>
      </p:pic>
      <p:pic>
        <p:nvPicPr>
          <p:cNvPr id="96" name="Google Shape;96;p4"/>
          <p:cNvPicPr preferRelativeResize="0"/>
          <p:nvPr/>
        </p:nvPicPr>
        <p:blipFill rotWithShape="1">
          <a:blip r:embed="rId3">
            <a:alphaModFix/>
          </a:blip>
          <a:srcRect b="0" l="0" r="0" t="0"/>
          <a:stretch/>
        </p:blipFill>
        <p:spPr>
          <a:xfrm>
            <a:off x="6648450" y="7170419"/>
            <a:ext cx="114300" cy="114299"/>
          </a:xfrm>
          <a:prstGeom prst="rect">
            <a:avLst/>
          </a:prstGeom>
          <a:noFill/>
          <a:ln>
            <a:noFill/>
          </a:ln>
        </p:spPr>
      </p:pic>
      <p:sp>
        <p:nvSpPr>
          <p:cNvPr id="97" name="Google Shape;97;p4"/>
          <p:cNvSpPr txBox="1"/>
          <p:nvPr/>
        </p:nvSpPr>
        <p:spPr>
          <a:xfrm>
            <a:off x="6445249" y="4100194"/>
            <a:ext cx="4151629" cy="3300729"/>
          </a:xfrm>
          <a:prstGeom prst="rect">
            <a:avLst/>
          </a:prstGeom>
          <a:noFill/>
          <a:ln>
            <a:noFill/>
          </a:ln>
        </p:spPr>
        <p:txBody>
          <a:bodyPr anchorCtr="0" anchor="t" bIns="0" lIns="0" spcFirstLastPara="1" rIns="0" wrap="square" tIns="12700">
            <a:spAutoFit/>
          </a:bodyPr>
          <a:lstStyle/>
          <a:p>
            <a:pPr indent="0" lvl="0" marL="12700" rtl="0" algn="l">
              <a:lnSpc>
                <a:spcPct val="114074"/>
              </a:lnSpc>
              <a:spcBef>
                <a:spcPts val="0"/>
              </a:spcBef>
              <a:spcAft>
                <a:spcPts val="0"/>
              </a:spcAft>
              <a:buNone/>
            </a:pPr>
            <a:r>
              <a:rPr b="1" lang="en-US" sz="2700">
                <a:solidFill>
                  <a:srgbClr val="17324D"/>
                </a:solidFill>
                <a:latin typeface="Tahoma"/>
                <a:ea typeface="Tahoma"/>
                <a:cs typeface="Tahoma"/>
                <a:sym typeface="Tahoma"/>
              </a:rPr>
              <a:t>Tích hợp RAG &amp;</a:t>
            </a:r>
            <a:endParaRPr sz="2700">
              <a:latin typeface="Tahoma"/>
              <a:ea typeface="Tahoma"/>
              <a:cs typeface="Tahoma"/>
              <a:sym typeface="Tahoma"/>
            </a:endParaRPr>
          </a:p>
          <a:p>
            <a:pPr indent="0" lvl="0" marL="12700" rtl="0" algn="l">
              <a:lnSpc>
                <a:spcPct val="114074"/>
              </a:lnSpc>
              <a:spcBef>
                <a:spcPts val="0"/>
              </a:spcBef>
              <a:spcAft>
                <a:spcPts val="0"/>
              </a:spcAft>
              <a:buNone/>
            </a:pPr>
            <a:r>
              <a:rPr b="1" lang="en-US" sz="2700">
                <a:solidFill>
                  <a:srgbClr val="17324D"/>
                </a:solidFill>
                <a:latin typeface="Tahoma"/>
                <a:ea typeface="Tahoma"/>
                <a:cs typeface="Tahoma"/>
                <a:sym typeface="Tahoma"/>
              </a:rPr>
              <a:t>Tự động hóa quy trình</a:t>
            </a:r>
            <a:endParaRPr sz="2700">
              <a:latin typeface="Tahoma"/>
              <a:ea typeface="Tahoma"/>
              <a:cs typeface="Tahoma"/>
              <a:sym typeface="Tahoma"/>
            </a:endParaRPr>
          </a:p>
          <a:p>
            <a:pPr indent="0" lvl="0" marL="487045" marR="5080" rtl="0" algn="l">
              <a:lnSpc>
                <a:spcPct val="181800"/>
              </a:lnSpc>
              <a:spcBef>
                <a:spcPts val="425"/>
              </a:spcBef>
              <a:spcAft>
                <a:spcPts val="0"/>
              </a:spcAft>
              <a:buNone/>
            </a:pPr>
            <a:r>
              <a:rPr lang="en-US" sz="2200">
                <a:solidFill>
                  <a:srgbClr val="17324D"/>
                </a:solidFill>
                <a:latin typeface="Verdana"/>
                <a:ea typeface="Verdana"/>
                <a:cs typeface="Verdana"/>
                <a:sym typeface="Verdana"/>
              </a:rPr>
              <a:t>RAG, Vector DB Tool/Function Calling, MCP Rate Limit, Cost Control Security</a:t>
            </a:r>
            <a:endParaRPr sz="2200">
              <a:latin typeface="Verdana"/>
              <a:ea typeface="Verdana"/>
              <a:cs typeface="Verdana"/>
              <a:sym typeface="Verdana"/>
            </a:endParaRPr>
          </a:p>
        </p:txBody>
      </p:sp>
      <p:sp>
        <p:nvSpPr>
          <p:cNvPr id="98" name="Google Shape;98;p4"/>
          <p:cNvSpPr txBox="1"/>
          <p:nvPr/>
        </p:nvSpPr>
        <p:spPr>
          <a:xfrm>
            <a:off x="11683999" y="3402965"/>
            <a:ext cx="140652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3F8069"/>
                </a:solidFill>
                <a:latin typeface="Courier New"/>
                <a:ea typeface="Courier New"/>
                <a:cs typeface="Courier New"/>
                <a:sym typeface="Courier New"/>
              </a:rPr>
              <a:t>TUẦN 7—10</a:t>
            </a:r>
            <a:endParaRPr sz="1800">
              <a:latin typeface="Courier New"/>
              <a:ea typeface="Courier New"/>
              <a:cs typeface="Courier New"/>
              <a:sym typeface="Courier New"/>
            </a:endParaRPr>
          </a:p>
        </p:txBody>
      </p:sp>
      <p:pic>
        <p:nvPicPr>
          <p:cNvPr id="99" name="Google Shape;99;p4"/>
          <p:cNvPicPr preferRelativeResize="0"/>
          <p:nvPr/>
        </p:nvPicPr>
        <p:blipFill rotWithShape="1">
          <a:blip r:embed="rId3">
            <a:alphaModFix/>
          </a:blip>
          <a:srcRect b="0" l="0" r="0" t="0"/>
          <a:stretch/>
        </p:blipFill>
        <p:spPr>
          <a:xfrm>
            <a:off x="11887199" y="5341619"/>
            <a:ext cx="114300" cy="114299"/>
          </a:xfrm>
          <a:prstGeom prst="rect">
            <a:avLst/>
          </a:prstGeom>
          <a:noFill/>
          <a:ln>
            <a:noFill/>
          </a:ln>
        </p:spPr>
      </p:pic>
      <p:pic>
        <p:nvPicPr>
          <p:cNvPr id="100" name="Google Shape;100;p4"/>
          <p:cNvPicPr preferRelativeResize="0"/>
          <p:nvPr/>
        </p:nvPicPr>
        <p:blipFill rotWithShape="1">
          <a:blip r:embed="rId3">
            <a:alphaModFix/>
          </a:blip>
          <a:srcRect b="0" l="0" r="0" t="0"/>
          <a:stretch/>
        </p:blipFill>
        <p:spPr>
          <a:xfrm>
            <a:off x="11887199" y="5951219"/>
            <a:ext cx="114300" cy="114299"/>
          </a:xfrm>
          <a:prstGeom prst="rect">
            <a:avLst/>
          </a:prstGeom>
          <a:noFill/>
          <a:ln>
            <a:noFill/>
          </a:ln>
        </p:spPr>
      </p:pic>
      <p:pic>
        <p:nvPicPr>
          <p:cNvPr id="101" name="Google Shape;101;p4"/>
          <p:cNvPicPr preferRelativeResize="0"/>
          <p:nvPr/>
        </p:nvPicPr>
        <p:blipFill rotWithShape="1">
          <a:blip r:embed="rId3">
            <a:alphaModFix/>
          </a:blip>
          <a:srcRect b="0" l="0" r="0" t="0"/>
          <a:stretch/>
        </p:blipFill>
        <p:spPr>
          <a:xfrm>
            <a:off x="11887199" y="6560819"/>
            <a:ext cx="114300" cy="114299"/>
          </a:xfrm>
          <a:prstGeom prst="rect">
            <a:avLst/>
          </a:prstGeom>
          <a:noFill/>
          <a:ln>
            <a:noFill/>
          </a:ln>
        </p:spPr>
      </p:pic>
      <p:pic>
        <p:nvPicPr>
          <p:cNvPr id="102" name="Google Shape;102;p4"/>
          <p:cNvPicPr preferRelativeResize="0"/>
          <p:nvPr/>
        </p:nvPicPr>
        <p:blipFill rotWithShape="1">
          <a:blip r:embed="rId3">
            <a:alphaModFix/>
          </a:blip>
          <a:srcRect b="0" l="0" r="0" t="0"/>
          <a:stretch/>
        </p:blipFill>
        <p:spPr>
          <a:xfrm>
            <a:off x="11887199" y="7170419"/>
            <a:ext cx="114300" cy="114299"/>
          </a:xfrm>
          <a:prstGeom prst="rect">
            <a:avLst/>
          </a:prstGeom>
          <a:noFill/>
          <a:ln>
            <a:noFill/>
          </a:ln>
        </p:spPr>
      </p:pic>
      <p:pic>
        <p:nvPicPr>
          <p:cNvPr id="103" name="Google Shape;103;p4"/>
          <p:cNvPicPr preferRelativeResize="0"/>
          <p:nvPr/>
        </p:nvPicPr>
        <p:blipFill rotWithShape="1">
          <a:blip r:embed="rId3">
            <a:alphaModFix/>
          </a:blip>
          <a:srcRect b="0" l="0" r="0" t="0"/>
          <a:stretch/>
        </p:blipFill>
        <p:spPr>
          <a:xfrm>
            <a:off x="11887199" y="7780019"/>
            <a:ext cx="114300" cy="114299"/>
          </a:xfrm>
          <a:prstGeom prst="rect">
            <a:avLst/>
          </a:prstGeom>
          <a:noFill/>
          <a:ln>
            <a:noFill/>
          </a:ln>
        </p:spPr>
      </p:pic>
      <p:sp>
        <p:nvSpPr>
          <p:cNvPr id="104" name="Google Shape;104;p4"/>
          <p:cNvSpPr txBox="1"/>
          <p:nvPr/>
        </p:nvSpPr>
        <p:spPr>
          <a:xfrm>
            <a:off x="11683999" y="4100194"/>
            <a:ext cx="3625850" cy="3910329"/>
          </a:xfrm>
          <a:prstGeom prst="rect">
            <a:avLst/>
          </a:prstGeom>
          <a:noFill/>
          <a:ln>
            <a:noFill/>
          </a:ln>
        </p:spPr>
        <p:txBody>
          <a:bodyPr anchorCtr="0" anchor="t" bIns="0" lIns="0" spcFirstLastPara="1" rIns="0" wrap="square" tIns="57775">
            <a:spAutoFit/>
          </a:bodyPr>
          <a:lstStyle/>
          <a:p>
            <a:pPr indent="0" lvl="0" marL="12700" marR="5080" rtl="0" algn="l">
              <a:lnSpc>
                <a:spcPct val="108518"/>
              </a:lnSpc>
              <a:spcBef>
                <a:spcPts val="0"/>
              </a:spcBef>
              <a:spcAft>
                <a:spcPts val="0"/>
              </a:spcAft>
              <a:buNone/>
            </a:pPr>
            <a:r>
              <a:rPr b="1" lang="en-US" sz="2700">
                <a:solidFill>
                  <a:srgbClr val="17324D"/>
                </a:solidFill>
                <a:latin typeface="Tahoma"/>
                <a:ea typeface="Tahoma"/>
                <a:cs typeface="Tahoma"/>
                <a:sym typeface="Tahoma"/>
              </a:rPr>
              <a:t>Kiểm thử, tối ưu hóa &amp; Triển khai Cloud</a:t>
            </a:r>
            <a:endParaRPr sz="2700">
              <a:latin typeface="Tahoma"/>
              <a:ea typeface="Tahoma"/>
              <a:cs typeface="Tahoma"/>
              <a:sym typeface="Tahoma"/>
            </a:endParaRPr>
          </a:p>
          <a:p>
            <a:pPr indent="0" lvl="0" marL="487045" marR="1250950" rtl="0" algn="l">
              <a:lnSpc>
                <a:spcPct val="181800"/>
              </a:lnSpc>
              <a:spcBef>
                <a:spcPts val="375"/>
              </a:spcBef>
              <a:spcAft>
                <a:spcPts val="0"/>
              </a:spcAft>
              <a:buNone/>
            </a:pPr>
            <a:r>
              <a:rPr lang="en-US" sz="2200">
                <a:solidFill>
                  <a:srgbClr val="17324D"/>
                </a:solidFill>
                <a:latin typeface="Verdana"/>
                <a:ea typeface="Verdana"/>
                <a:cs typeface="Verdana"/>
                <a:sym typeface="Verdana"/>
              </a:rPr>
              <a:t>Streaming API FE Integrate Testing Caching Cloud vs CICD</a:t>
            </a:r>
            <a:endParaRPr sz="2200">
              <a:latin typeface="Verdana"/>
              <a:ea typeface="Verdana"/>
              <a:cs typeface="Verdana"/>
              <a:sym typeface="Verdana"/>
            </a:endParaRPr>
          </a:p>
        </p:txBody>
      </p:sp>
      <p:sp>
        <p:nvSpPr>
          <p:cNvPr id="105" name="Google Shape;105;p4"/>
          <p:cNvSpPr txBox="1"/>
          <p:nvPr/>
        </p:nvSpPr>
        <p:spPr>
          <a:xfrm>
            <a:off x="1206499" y="9618979"/>
            <a:ext cx="1760855"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10-WEEK ROADMAP</a:t>
            </a:r>
            <a:endParaRPr sz="1350">
              <a:latin typeface="Courier New"/>
              <a:ea typeface="Courier New"/>
              <a:cs typeface="Courier New"/>
              <a:sym typeface="Courier New"/>
            </a:endParaRPr>
          </a:p>
        </p:txBody>
      </p:sp>
      <p:pic>
        <p:nvPicPr>
          <p:cNvPr id="106" name="Google Shape;106;p4" title="Logo_Color.png"/>
          <p:cNvPicPr preferRelativeResize="0"/>
          <p:nvPr/>
        </p:nvPicPr>
        <p:blipFill>
          <a:blip r:embed="rId4">
            <a:alphaModFix/>
          </a:blip>
          <a:stretch>
            <a:fillRect/>
          </a:stretch>
        </p:blipFill>
        <p:spPr>
          <a:xfrm>
            <a:off x="16144875" y="0"/>
            <a:ext cx="1928827" cy="19288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nvSpPr>
        <p:spPr>
          <a:xfrm>
            <a:off x="1206499" y="1014094"/>
            <a:ext cx="297815"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86C7AC"/>
                </a:solidFill>
                <a:latin typeface="Courier New"/>
                <a:ea typeface="Courier New"/>
                <a:cs typeface="Courier New"/>
                <a:sym typeface="Courier New"/>
              </a:rPr>
              <a:t>02</a:t>
            </a:r>
            <a:endParaRPr sz="1650">
              <a:latin typeface="Courier New"/>
              <a:ea typeface="Courier New"/>
              <a:cs typeface="Courier New"/>
              <a:sym typeface="Courier New"/>
            </a:endParaRPr>
          </a:p>
        </p:txBody>
      </p:sp>
      <p:sp>
        <p:nvSpPr>
          <p:cNvPr descr="$PPTXTitle" id="112" name="Google Shape;112;p5"/>
          <p:cNvSpPr txBox="1"/>
          <p:nvPr>
            <p:ph type="title"/>
          </p:nvPr>
        </p:nvSpPr>
        <p:spPr>
          <a:xfrm>
            <a:off x="4965450" y="4011450"/>
            <a:ext cx="8357100" cy="11211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7200">
                <a:solidFill>
                  <a:srgbClr val="FFFFFF"/>
                </a:solidFill>
              </a:rPr>
              <a:t>Giới Thiệu Dự Án</a:t>
            </a:r>
            <a:endParaRPr sz="7200"/>
          </a:p>
        </p:txBody>
      </p:sp>
      <p:sp>
        <p:nvSpPr>
          <p:cNvPr id="113" name="Google Shape;113;p5"/>
          <p:cNvSpPr txBox="1"/>
          <p:nvPr/>
        </p:nvSpPr>
        <p:spPr>
          <a:xfrm>
            <a:off x="1206499" y="9618979"/>
            <a:ext cx="339344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DAY 1  /  KICK-OFF &amp; WORKFLOW</a:t>
            </a:r>
            <a:endParaRPr sz="1350">
              <a:latin typeface="Courier New"/>
              <a:ea typeface="Courier New"/>
              <a:cs typeface="Courier New"/>
              <a:sym typeface="Courier New"/>
            </a:endParaRPr>
          </a:p>
        </p:txBody>
      </p:sp>
      <p:pic>
        <p:nvPicPr>
          <p:cNvPr id="114" name="Google Shape;114;p5" title="Logo_white.png"/>
          <p:cNvPicPr preferRelativeResize="0"/>
          <p:nvPr/>
        </p:nvPicPr>
        <p:blipFill>
          <a:blip r:embed="rId3">
            <a:alphaModFix/>
          </a:blip>
          <a:stretch>
            <a:fillRect/>
          </a:stretch>
        </p:blipFill>
        <p:spPr>
          <a:xfrm>
            <a:off x="15939500" y="167000"/>
            <a:ext cx="2051400" cy="1681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02.1</a:t>
            </a:r>
            <a:endParaRPr sz="1650">
              <a:latin typeface="Courier New"/>
              <a:ea typeface="Courier New"/>
              <a:cs typeface="Courier New"/>
              <a:sym typeface="Courier New"/>
            </a:endParaRPr>
          </a:p>
        </p:txBody>
      </p:sp>
      <p:sp>
        <p:nvSpPr>
          <p:cNvPr descr="$PPTXTitle" id="120" name="Google Shape;120;p6"/>
          <p:cNvSpPr txBox="1"/>
          <p:nvPr>
            <p:ph type="title"/>
          </p:nvPr>
        </p:nvSpPr>
        <p:spPr>
          <a:xfrm>
            <a:off x="1206501" y="1224600"/>
            <a:ext cx="61872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Mục Tiêu Dự Án</a:t>
            </a:r>
            <a:endParaRPr/>
          </a:p>
        </p:txBody>
      </p:sp>
      <p:sp>
        <p:nvSpPr>
          <p:cNvPr id="121" name="Google Shape;121;p6"/>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22" name="Google Shape;122;p6"/>
          <p:cNvPicPr preferRelativeResize="0"/>
          <p:nvPr/>
        </p:nvPicPr>
        <p:blipFill rotWithShape="1">
          <a:blip r:embed="rId3">
            <a:alphaModFix/>
          </a:blip>
          <a:srcRect b="0" l="0" r="0" t="0"/>
          <a:stretch/>
        </p:blipFill>
        <p:spPr>
          <a:xfrm>
            <a:off x="1219200" y="3248024"/>
            <a:ext cx="209550" cy="209550"/>
          </a:xfrm>
          <a:prstGeom prst="rect">
            <a:avLst/>
          </a:prstGeom>
          <a:noFill/>
          <a:ln>
            <a:noFill/>
          </a:ln>
        </p:spPr>
      </p:pic>
      <p:sp>
        <p:nvSpPr>
          <p:cNvPr id="123" name="Google Shape;123;p6"/>
          <p:cNvSpPr txBox="1"/>
          <p:nvPr/>
        </p:nvSpPr>
        <p:spPr>
          <a:xfrm>
            <a:off x="1835150" y="3139503"/>
            <a:ext cx="10229850"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550">
                <a:solidFill>
                  <a:srgbClr val="202F40"/>
                </a:solidFill>
                <a:latin typeface="Tahoma"/>
                <a:ea typeface="Tahoma"/>
                <a:cs typeface="Tahoma"/>
                <a:sym typeface="Tahoma"/>
              </a:rPr>
              <a:t>Sản phẩm</a:t>
            </a:r>
            <a:r>
              <a:rPr lang="en-US" sz="2550">
                <a:solidFill>
                  <a:srgbClr val="202F40"/>
                </a:solidFill>
                <a:latin typeface="Verdana"/>
                <a:ea typeface="Verdana"/>
                <a:cs typeface="Verdana"/>
                <a:sym typeface="Verdana"/>
              </a:rPr>
              <a:t>: Smart Web App (Hướng tới ứng dụng AI vào sản phẩm)</a:t>
            </a:r>
            <a:endParaRPr sz="2550">
              <a:latin typeface="Verdana"/>
              <a:ea typeface="Verdana"/>
              <a:cs typeface="Verdana"/>
              <a:sym typeface="Verdana"/>
            </a:endParaRPr>
          </a:p>
        </p:txBody>
      </p:sp>
      <p:pic>
        <p:nvPicPr>
          <p:cNvPr id="124" name="Google Shape;124;p6"/>
          <p:cNvPicPr preferRelativeResize="0"/>
          <p:nvPr/>
        </p:nvPicPr>
        <p:blipFill rotWithShape="1">
          <a:blip r:embed="rId3">
            <a:alphaModFix/>
          </a:blip>
          <a:srcRect b="0" l="0" r="0" t="0"/>
          <a:stretch/>
        </p:blipFill>
        <p:spPr>
          <a:xfrm>
            <a:off x="1219200" y="4676774"/>
            <a:ext cx="209550" cy="209550"/>
          </a:xfrm>
          <a:prstGeom prst="rect">
            <a:avLst/>
          </a:prstGeom>
          <a:noFill/>
          <a:ln>
            <a:noFill/>
          </a:ln>
        </p:spPr>
      </p:pic>
      <p:sp>
        <p:nvSpPr>
          <p:cNvPr id="125" name="Google Shape;125;p6"/>
          <p:cNvSpPr txBox="1"/>
          <p:nvPr/>
        </p:nvSpPr>
        <p:spPr>
          <a:xfrm>
            <a:off x="1835150" y="4568253"/>
            <a:ext cx="11043920"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550">
                <a:solidFill>
                  <a:srgbClr val="202F40"/>
                </a:solidFill>
                <a:latin typeface="Tahoma"/>
                <a:ea typeface="Tahoma"/>
                <a:cs typeface="Tahoma"/>
                <a:sym typeface="Tahoma"/>
              </a:rPr>
              <a:t>Tài liệu dự án</a:t>
            </a:r>
            <a:r>
              <a:rPr lang="en-US" sz="2550">
                <a:solidFill>
                  <a:srgbClr val="202F40"/>
                </a:solidFill>
                <a:latin typeface="Verdana"/>
                <a:ea typeface="Verdana"/>
                <a:cs typeface="Verdana"/>
                <a:sym typeface="Verdana"/>
              </a:rPr>
              <a:t>: SRS (Software Requirement Specification), slide báo cáo</a:t>
            </a:r>
            <a:endParaRPr sz="2550">
              <a:latin typeface="Verdana"/>
              <a:ea typeface="Verdana"/>
              <a:cs typeface="Verdana"/>
              <a:sym typeface="Verdana"/>
            </a:endParaRPr>
          </a:p>
        </p:txBody>
      </p:sp>
      <p:pic>
        <p:nvPicPr>
          <p:cNvPr id="126" name="Google Shape;126;p6"/>
          <p:cNvPicPr preferRelativeResize="0"/>
          <p:nvPr/>
        </p:nvPicPr>
        <p:blipFill rotWithShape="1">
          <a:blip r:embed="rId3">
            <a:alphaModFix/>
          </a:blip>
          <a:srcRect b="0" l="0" r="0" t="0"/>
          <a:stretch/>
        </p:blipFill>
        <p:spPr>
          <a:xfrm>
            <a:off x="1219200" y="6105525"/>
            <a:ext cx="209550" cy="209550"/>
          </a:xfrm>
          <a:prstGeom prst="rect">
            <a:avLst/>
          </a:prstGeom>
          <a:noFill/>
          <a:ln>
            <a:noFill/>
          </a:ln>
        </p:spPr>
      </p:pic>
      <p:sp>
        <p:nvSpPr>
          <p:cNvPr id="127" name="Google Shape;127;p6"/>
          <p:cNvSpPr txBox="1"/>
          <p:nvPr/>
        </p:nvSpPr>
        <p:spPr>
          <a:xfrm>
            <a:off x="1835150" y="5997003"/>
            <a:ext cx="11327765"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Triển khai sản phẩm thực tế và báo cáo trước doanh nghiệp và giảng viên</a:t>
            </a:r>
            <a:endParaRPr sz="2550">
              <a:latin typeface="Verdana"/>
              <a:ea typeface="Verdana"/>
              <a:cs typeface="Verdana"/>
              <a:sym typeface="Verdana"/>
            </a:endParaRPr>
          </a:p>
        </p:txBody>
      </p:sp>
      <p:sp>
        <p:nvSpPr>
          <p:cNvPr id="128" name="Google Shape;128;p6"/>
          <p:cNvSpPr txBox="1"/>
          <p:nvPr/>
        </p:nvSpPr>
        <p:spPr>
          <a:xfrm>
            <a:off x="1206499" y="9618979"/>
            <a:ext cx="187706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CAPSTONE PROJECT</a:t>
            </a:r>
            <a:endParaRPr sz="1350">
              <a:latin typeface="Courier New"/>
              <a:ea typeface="Courier New"/>
              <a:cs typeface="Courier New"/>
              <a:sym typeface="Courier New"/>
            </a:endParaRPr>
          </a:p>
        </p:txBody>
      </p:sp>
      <p:pic>
        <p:nvPicPr>
          <p:cNvPr id="129" name="Google Shape;129;p6" title="Logo_Color.png"/>
          <p:cNvPicPr preferRelativeResize="0"/>
          <p:nvPr/>
        </p:nvPicPr>
        <p:blipFill>
          <a:blip r:embed="rId4">
            <a:alphaModFix/>
          </a:blip>
          <a:stretch>
            <a:fillRect/>
          </a:stretch>
        </p:blipFill>
        <p:spPr>
          <a:xfrm>
            <a:off x="16144875" y="0"/>
            <a:ext cx="1928827" cy="19288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02.2</a:t>
            </a:r>
            <a:endParaRPr sz="1650">
              <a:latin typeface="Courier New"/>
              <a:ea typeface="Courier New"/>
              <a:cs typeface="Courier New"/>
              <a:sym typeface="Courier New"/>
            </a:endParaRPr>
          </a:p>
        </p:txBody>
      </p:sp>
      <p:sp>
        <p:nvSpPr>
          <p:cNvPr descr="$PPTXTitle" id="135" name="Google Shape;135;p7"/>
          <p:cNvSpPr txBox="1"/>
          <p:nvPr>
            <p:ph type="title"/>
          </p:nvPr>
        </p:nvSpPr>
        <p:spPr>
          <a:xfrm>
            <a:off x="1206499" y="1224597"/>
            <a:ext cx="11179810" cy="6883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Lộ Trình Thực Hiện Bài Tập Lớn Theo Nhóm</a:t>
            </a:r>
            <a:endParaRPr/>
          </a:p>
        </p:txBody>
      </p:sp>
      <p:sp>
        <p:nvSpPr>
          <p:cNvPr id="136" name="Google Shape;136;p7"/>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7" name="Google Shape;137;p7"/>
          <p:cNvSpPr txBox="1"/>
          <p:nvPr/>
        </p:nvSpPr>
        <p:spPr>
          <a:xfrm>
            <a:off x="1206499" y="2832417"/>
            <a:ext cx="1200150" cy="28829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700">
                <a:solidFill>
                  <a:srgbClr val="3F8069"/>
                </a:solidFill>
                <a:latin typeface="Courier New"/>
                <a:ea typeface="Courier New"/>
                <a:cs typeface="Courier New"/>
                <a:sym typeface="Courier New"/>
              </a:rPr>
              <a:t>TUẦN 1—2</a:t>
            </a:r>
            <a:endParaRPr sz="1700">
              <a:latin typeface="Courier New"/>
              <a:ea typeface="Courier New"/>
              <a:cs typeface="Courier New"/>
              <a:sym typeface="Courier New"/>
            </a:endParaRPr>
          </a:p>
        </p:txBody>
      </p:sp>
      <p:sp>
        <p:nvSpPr>
          <p:cNvPr id="138" name="Google Shape;138;p7"/>
          <p:cNvSpPr/>
          <p:nvPr/>
        </p:nvSpPr>
        <p:spPr>
          <a:xfrm>
            <a:off x="3714750" y="2857500"/>
            <a:ext cx="38100" cy="666750"/>
          </a:xfrm>
          <a:custGeom>
            <a:rect b="b" l="l" r="r" t="t"/>
            <a:pathLst>
              <a:path extrusionOk="0" h="666750" w="38100">
                <a:moveTo>
                  <a:pt x="38099" y="666749"/>
                </a:moveTo>
                <a:lnTo>
                  <a:pt x="0" y="666749"/>
                </a:lnTo>
                <a:lnTo>
                  <a:pt x="0" y="0"/>
                </a:lnTo>
                <a:lnTo>
                  <a:pt x="38099" y="0"/>
                </a:lnTo>
                <a:lnTo>
                  <a:pt x="38099" y="666749"/>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9" name="Google Shape;139;p7"/>
          <p:cNvSpPr txBox="1"/>
          <p:nvPr/>
        </p:nvSpPr>
        <p:spPr>
          <a:xfrm>
            <a:off x="4368800" y="2855475"/>
            <a:ext cx="10499100" cy="38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202F40"/>
                </a:solidFill>
                <a:latin typeface="Verdana"/>
                <a:ea typeface="Verdana"/>
                <a:cs typeface="Verdana"/>
                <a:sym typeface="Verdana"/>
              </a:rPr>
              <a:t>Làm rõ yêu cầu, thiết kế DB, thiết lập môi trường</a:t>
            </a:r>
            <a:endParaRPr sz="2400">
              <a:latin typeface="Verdana"/>
              <a:ea typeface="Verdana"/>
              <a:cs typeface="Verdana"/>
              <a:sym typeface="Verdana"/>
            </a:endParaRPr>
          </a:p>
        </p:txBody>
      </p:sp>
      <p:sp>
        <p:nvSpPr>
          <p:cNvPr id="140" name="Google Shape;140;p7"/>
          <p:cNvSpPr txBox="1"/>
          <p:nvPr/>
        </p:nvSpPr>
        <p:spPr>
          <a:xfrm>
            <a:off x="1206499" y="4308792"/>
            <a:ext cx="1200150" cy="28829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700">
                <a:solidFill>
                  <a:srgbClr val="3F8069"/>
                </a:solidFill>
                <a:latin typeface="Courier New"/>
                <a:ea typeface="Courier New"/>
                <a:cs typeface="Courier New"/>
                <a:sym typeface="Courier New"/>
              </a:rPr>
              <a:t>TUẦN 2—5</a:t>
            </a:r>
            <a:endParaRPr sz="1700">
              <a:latin typeface="Courier New"/>
              <a:ea typeface="Courier New"/>
              <a:cs typeface="Courier New"/>
              <a:sym typeface="Courier New"/>
            </a:endParaRPr>
          </a:p>
        </p:txBody>
      </p:sp>
      <p:sp>
        <p:nvSpPr>
          <p:cNvPr id="141" name="Google Shape;141;p7"/>
          <p:cNvSpPr/>
          <p:nvPr/>
        </p:nvSpPr>
        <p:spPr>
          <a:xfrm>
            <a:off x="3714750" y="4333875"/>
            <a:ext cx="38100" cy="666750"/>
          </a:xfrm>
          <a:custGeom>
            <a:rect b="b" l="l" r="r" t="t"/>
            <a:pathLst>
              <a:path extrusionOk="0" h="666750" w="38100">
                <a:moveTo>
                  <a:pt x="38099" y="666749"/>
                </a:moveTo>
                <a:lnTo>
                  <a:pt x="0" y="666749"/>
                </a:lnTo>
                <a:lnTo>
                  <a:pt x="0" y="0"/>
                </a:lnTo>
                <a:lnTo>
                  <a:pt x="38099" y="0"/>
                </a:lnTo>
                <a:lnTo>
                  <a:pt x="38099" y="666749"/>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2" name="Google Shape;142;p7"/>
          <p:cNvSpPr txBox="1"/>
          <p:nvPr/>
        </p:nvSpPr>
        <p:spPr>
          <a:xfrm>
            <a:off x="4368800" y="4331850"/>
            <a:ext cx="10365300" cy="38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202F40"/>
                </a:solidFill>
                <a:latin typeface="Verdana"/>
                <a:ea typeface="Verdana"/>
                <a:cs typeface="Verdana"/>
                <a:sym typeface="Verdana"/>
              </a:rPr>
              <a:t>Triển khai Business Logic API và giao diện dự án</a:t>
            </a:r>
            <a:endParaRPr sz="2400">
              <a:latin typeface="Verdana"/>
              <a:ea typeface="Verdana"/>
              <a:cs typeface="Verdana"/>
              <a:sym typeface="Verdana"/>
            </a:endParaRPr>
          </a:p>
        </p:txBody>
      </p:sp>
      <p:sp>
        <p:nvSpPr>
          <p:cNvPr id="143" name="Google Shape;143;p7"/>
          <p:cNvSpPr txBox="1"/>
          <p:nvPr/>
        </p:nvSpPr>
        <p:spPr>
          <a:xfrm>
            <a:off x="1206499" y="5785167"/>
            <a:ext cx="1200150" cy="28829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700">
                <a:solidFill>
                  <a:srgbClr val="3F8069"/>
                </a:solidFill>
                <a:latin typeface="Courier New"/>
                <a:ea typeface="Courier New"/>
                <a:cs typeface="Courier New"/>
                <a:sym typeface="Courier New"/>
              </a:rPr>
              <a:t>TUẦN 5—7</a:t>
            </a:r>
            <a:endParaRPr sz="1700">
              <a:latin typeface="Courier New"/>
              <a:ea typeface="Courier New"/>
              <a:cs typeface="Courier New"/>
              <a:sym typeface="Courier New"/>
            </a:endParaRPr>
          </a:p>
        </p:txBody>
      </p:sp>
      <p:sp>
        <p:nvSpPr>
          <p:cNvPr id="144" name="Google Shape;144;p7"/>
          <p:cNvSpPr/>
          <p:nvPr/>
        </p:nvSpPr>
        <p:spPr>
          <a:xfrm>
            <a:off x="3714750" y="5810249"/>
            <a:ext cx="38100" cy="666750"/>
          </a:xfrm>
          <a:custGeom>
            <a:rect b="b" l="l" r="r" t="t"/>
            <a:pathLst>
              <a:path extrusionOk="0" h="666750" w="38100">
                <a:moveTo>
                  <a:pt x="38099" y="666749"/>
                </a:moveTo>
                <a:lnTo>
                  <a:pt x="0" y="666749"/>
                </a:lnTo>
                <a:lnTo>
                  <a:pt x="0" y="0"/>
                </a:lnTo>
                <a:lnTo>
                  <a:pt x="38099" y="0"/>
                </a:lnTo>
                <a:lnTo>
                  <a:pt x="38099" y="666749"/>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5" name="Google Shape;145;p7"/>
          <p:cNvSpPr txBox="1"/>
          <p:nvPr/>
        </p:nvSpPr>
        <p:spPr>
          <a:xfrm>
            <a:off x="4368800" y="5808225"/>
            <a:ext cx="10927800" cy="38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202F40"/>
                </a:solidFill>
                <a:latin typeface="Verdana"/>
                <a:ea typeface="Verdana"/>
                <a:cs typeface="Verdana"/>
                <a:sym typeface="Verdana"/>
              </a:rPr>
              <a:t>Triển khai thêm các chức năng về AI, tối ưu các chức năng</a:t>
            </a:r>
            <a:endParaRPr sz="2400">
              <a:latin typeface="Verdana"/>
              <a:ea typeface="Verdana"/>
              <a:cs typeface="Verdana"/>
              <a:sym typeface="Verdana"/>
            </a:endParaRPr>
          </a:p>
        </p:txBody>
      </p:sp>
      <p:sp>
        <p:nvSpPr>
          <p:cNvPr id="146" name="Google Shape;146;p7"/>
          <p:cNvSpPr txBox="1"/>
          <p:nvPr/>
        </p:nvSpPr>
        <p:spPr>
          <a:xfrm>
            <a:off x="1206499" y="7261542"/>
            <a:ext cx="1348740" cy="28829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700">
                <a:solidFill>
                  <a:srgbClr val="3F8069"/>
                </a:solidFill>
                <a:latin typeface="Courier New"/>
                <a:ea typeface="Courier New"/>
                <a:cs typeface="Courier New"/>
                <a:sym typeface="Courier New"/>
              </a:rPr>
              <a:t>TUẦN 7—10</a:t>
            </a:r>
            <a:endParaRPr sz="1700">
              <a:latin typeface="Courier New"/>
              <a:ea typeface="Courier New"/>
              <a:cs typeface="Courier New"/>
              <a:sym typeface="Courier New"/>
            </a:endParaRPr>
          </a:p>
        </p:txBody>
      </p:sp>
      <p:sp>
        <p:nvSpPr>
          <p:cNvPr id="147" name="Google Shape;147;p7"/>
          <p:cNvSpPr/>
          <p:nvPr/>
        </p:nvSpPr>
        <p:spPr>
          <a:xfrm>
            <a:off x="3714750" y="7286625"/>
            <a:ext cx="38100" cy="666750"/>
          </a:xfrm>
          <a:custGeom>
            <a:rect b="b" l="l" r="r" t="t"/>
            <a:pathLst>
              <a:path extrusionOk="0" h="666750" w="38100">
                <a:moveTo>
                  <a:pt x="38099" y="666749"/>
                </a:moveTo>
                <a:lnTo>
                  <a:pt x="0" y="666749"/>
                </a:lnTo>
                <a:lnTo>
                  <a:pt x="0" y="0"/>
                </a:lnTo>
                <a:lnTo>
                  <a:pt x="38099" y="0"/>
                </a:lnTo>
                <a:lnTo>
                  <a:pt x="38099" y="666749"/>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8" name="Google Shape;148;p7"/>
          <p:cNvSpPr txBox="1"/>
          <p:nvPr/>
        </p:nvSpPr>
        <p:spPr>
          <a:xfrm>
            <a:off x="4368800" y="7231252"/>
            <a:ext cx="11393805" cy="863600"/>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None/>
            </a:pPr>
            <a:r>
              <a:rPr lang="en-US" sz="2400">
                <a:solidFill>
                  <a:srgbClr val="202F40"/>
                </a:solidFill>
                <a:latin typeface="Verdana"/>
                <a:ea typeface="Verdana"/>
                <a:cs typeface="Verdana"/>
                <a:sym typeface="Verdana"/>
              </a:rPr>
              <a:t>Tiến hành kiểm thử, triển khai dự án lên môi trường production, hoàn thiện báo cáo và các chức năng còn lại; Báo cáo kết quả</a:t>
            </a:r>
            <a:endParaRPr sz="2400">
              <a:latin typeface="Verdana"/>
              <a:ea typeface="Verdana"/>
              <a:cs typeface="Verdana"/>
              <a:sym typeface="Verdana"/>
            </a:endParaRPr>
          </a:p>
        </p:txBody>
      </p:sp>
      <p:sp>
        <p:nvSpPr>
          <p:cNvPr id="149" name="Google Shape;149;p7"/>
          <p:cNvSpPr txBox="1"/>
          <p:nvPr/>
        </p:nvSpPr>
        <p:spPr>
          <a:xfrm>
            <a:off x="1206499" y="9618979"/>
            <a:ext cx="211074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TEAM DELIVERY PLAN</a:t>
            </a:r>
            <a:endParaRPr sz="1350">
              <a:latin typeface="Courier New"/>
              <a:ea typeface="Courier New"/>
              <a:cs typeface="Courier New"/>
              <a:sym typeface="Courier New"/>
            </a:endParaRPr>
          </a:p>
        </p:txBody>
      </p:sp>
      <p:pic>
        <p:nvPicPr>
          <p:cNvPr id="150" name="Google Shape;150;p7" title="Logo_Color.png"/>
          <p:cNvPicPr preferRelativeResize="0"/>
          <p:nvPr/>
        </p:nvPicPr>
        <p:blipFill>
          <a:blip r:embed="rId3">
            <a:alphaModFix/>
          </a:blip>
          <a:stretch>
            <a:fillRect/>
          </a:stretch>
        </p:blipFill>
        <p:spPr>
          <a:xfrm>
            <a:off x="16144875" y="0"/>
            <a:ext cx="1928827" cy="19288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8"/>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02.3</a:t>
            </a:r>
            <a:endParaRPr sz="1650">
              <a:latin typeface="Courier New"/>
              <a:ea typeface="Courier New"/>
              <a:cs typeface="Courier New"/>
              <a:sym typeface="Courier New"/>
            </a:endParaRPr>
          </a:p>
        </p:txBody>
      </p:sp>
      <p:sp>
        <p:nvSpPr>
          <p:cNvPr descr="$PPTXTitle" id="156" name="Google Shape;156;p8"/>
          <p:cNvSpPr txBox="1"/>
          <p:nvPr>
            <p:ph type="title"/>
          </p:nvPr>
        </p:nvSpPr>
        <p:spPr>
          <a:xfrm>
            <a:off x="1206501" y="1224600"/>
            <a:ext cx="116523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Chia Nhóm &amp; Tổ Chức Nhóm</a:t>
            </a:r>
            <a:endParaRPr/>
          </a:p>
        </p:txBody>
      </p:sp>
      <p:sp>
        <p:nvSpPr>
          <p:cNvPr id="157" name="Google Shape;157;p8"/>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58" name="Google Shape;158;p8"/>
          <p:cNvPicPr preferRelativeResize="0"/>
          <p:nvPr/>
        </p:nvPicPr>
        <p:blipFill rotWithShape="1">
          <a:blip r:embed="rId3">
            <a:alphaModFix/>
          </a:blip>
          <a:srcRect b="0" l="0" r="0" t="0"/>
          <a:stretch/>
        </p:blipFill>
        <p:spPr>
          <a:xfrm>
            <a:off x="1219200" y="2962274"/>
            <a:ext cx="209550" cy="209550"/>
          </a:xfrm>
          <a:prstGeom prst="rect">
            <a:avLst/>
          </a:prstGeom>
          <a:noFill/>
          <a:ln>
            <a:noFill/>
          </a:ln>
        </p:spPr>
      </p:pic>
      <p:sp>
        <p:nvSpPr>
          <p:cNvPr id="159" name="Google Shape;159;p8"/>
          <p:cNvSpPr txBox="1"/>
          <p:nvPr/>
        </p:nvSpPr>
        <p:spPr>
          <a:xfrm>
            <a:off x="1835150" y="2853750"/>
            <a:ext cx="11652300" cy="405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Thống nhất số lượng thành viên nhóm</a:t>
            </a:r>
            <a:endParaRPr sz="2550">
              <a:latin typeface="Verdana"/>
              <a:ea typeface="Verdana"/>
              <a:cs typeface="Verdana"/>
              <a:sym typeface="Verdana"/>
            </a:endParaRPr>
          </a:p>
        </p:txBody>
      </p:sp>
      <p:pic>
        <p:nvPicPr>
          <p:cNvPr id="160" name="Google Shape;160;p8"/>
          <p:cNvPicPr preferRelativeResize="0"/>
          <p:nvPr/>
        </p:nvPicPr>
        <p:blipFill rotWithShape="1">
          <a:blip r:embed="rId3">
            <a:alphaModFix/>
          </a:blip>
          <a:srcRect b="0" l="0" r="0" t="0"/>
          <a:stretch/>
        </p:blipFill>
        <p:spPr>
          <a:xfrm>
            <a:off x="1219200" y="4391024"/>
            <a:ext cx="209550" cy="209550"/>
          </a:xfrm>
          <a:prstGeom prst="rect">
            <a:avLst/>
          </a:prstGeom>
          <a:noFill/>
          <a:ln>
            <a:noFill/>
          </a:ln>
        </p:spPr>
      </p:pic>
      <p:sp>
        <p:nvSpPr>
          <p:cNvPr id="161" name="Google Shape;161;p8"/>
          <p:cNvSpPr txBox="1"/>
          <p:nvPr/>
        </p:nvSpPr>
        <p:spPr>
          <a:xfrm>
            <a:off x="1835150" y="4282500"/>
            <a:ext cx="6174900" cy="405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Bầu nhóm trưởng</a:t>
            </a:r>
            <a:endParaRPr sz="2550">
              <a:latin typeface="Verdana"/>
              <a:ea typeface="Verdana"/>
              <a:cs typeface="Verdana"/>
              <a:sym typeface="Verdana"/>
            </a:endParaRPr>
          </a:p>
        </p:txBody>
      </p:sp>
      <p:pic>
        <p:nvPicPr>
          <p:cNvPr id="162" name="Google Shape;162;p8"/>
          <p:cNvPicPr preferRelativeResize="0"/>
          <p:nvPr/>
        </p:nvPicPr>
        <p:blipFill rotWithShape="1">
          <a:blip r:embed="rId3">
            <a:alphaModFix/>
          </a:blip>
          <a:srcRect b="0" l="0" r="0" t="0"/>
          <a:stretch/>
        </p:blipFill>
        <p:spPr>
          <a:xfrm>
            <a:off x="1219200" y="5819775"/>
            <a:ext cx="209550" cy="209550"/>
          </a:xfrm>
          <a:prstGeom prst="rect">
            <a:avLst/>
          </a:prstGeom>
          <a:noFill/>
          <a:ln>
            <a:noFill/>
          </a:ln>
        </p:spPr>
      </p:pic>
      <p:sp>
        <p:nvSpPr>
          <p:cNvPr id="163" name="Google Shape;163;p8"/>
          <p:cNvSpPr txBox="1"/>
          <p:nvPr/>
        </p:nvSpPr>
        <p:spPr>
          <a:xfrm>
            <a:off x="1835150" y="5711250"/>
            <a:ext cx="16238400" cy="405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Xác định vai trò và trách nhiệm cơ bản (Theo vai trò (FE, BE, Tester,...) và theo chức năng</a:t>
            </a:r>
            <a:endParaRPr sz="2550">
              <a:latin typeface="Verdana"/>
              <a:ea typeface="Verdana"/>
              <a:cs typeface="Verdana"/>
              <a:sym typeface="Verdana"/>
            </a:endParaRPr>
          </a:p>
        </p:txBody>
      </p:sp>
      <p:pic>
        <p:nvPicPr>
          <p:cNvPr id="164" name="Google Shape;164;p8"/>
          <p:cNvPicPr preferRelativeResize="0"/>
          <p:nvPr/>
        </p:nvPicPr>
        <p:blipFill rotWithShape="1">
          <a:blip r:embed="rId3">
            <a:alphaModFix/>
          </a:blip>
          <a:srcRect b="0" l="0" r="0" t="0"/>
          <a:stretch/>
        </p:blipFill>
        <p:spPr>
          <a:xfrm>
            <a:off x="1219200" y="7248525"/>
            <a:ext cx="209550" cy="209550"/>
          </a:xfrm>
          <a:prstGeom prst="rect">
            <a:avLst/>
          </a:prstGeom>
          <a:noFill/>
          <a:ln>
            <a:noFill/>
          </a:ln>
        </p:spPr>
      </p:pic>
      <p:sp>
        <p:nvSpPr>
          <p:cNvPr id="165" name="Google Shape;165;p8"/>
          <p:cNvSpPr txBox="1"/>
          <p:nvPr/>
        </p:nvSpPr>
        <p:spPr>
          <a:xfrm>
            <a:off x="1835150" y="7140000"/>
            <a:ext cx="15233700" cy="405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Phối hợp hiệu quả: rõ việc, rõ hạn, rõ người phụ trách</a:t>
            </a:r>
            <a:endParaRPr sz="2550">
              <a:latin typeface="Verdana"/>
              <a:ea typeface="Verdana"/>
              <a:cs typeface="Verdana"/>
              <a:sym typeface="Verdana"/>
            </a:endParaRPr>
          </a:p>
        </p:txBody>
      </p:sp>
      <p:sp>
        <p:nvSpPr>
          <p:cNvPr id="166" name="Google Shape;166;p8"/>
          <p:cNvSpPr txBox="1"/>
          <p:nvPr/>
        </p:nvSpPr>
        <p:spPr>
          <a:xfrm>
            <a:off x="1206499" y="9618979"/>
            <a:ext cx="1177925"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TEAM SETUP</a:t>
            </a:r>
            <a:endParaRPr sz="1350">
              <a:latin typeface="Courier New"/>
              <a:ea typeface="Courier New"/>
              <a:cs typeface="Courier New"/>
              <a:sym typeface="Courier New"/>
            </a:endParaRPr>
          </a:p>
        </p:txBody>
      </p:sp>
      <p:pic>
        <p:nvPicPr>
          <p:cNvPr id="167" name="Google Shape;167;p8" title="Logo_Color.png"/>
          <p:cNvPicPr preferRelativeResize="0"/>
          <p:nvPr/>
        </p:nvPicPr>
        <p:blipFill>
          <a:blip r:embed="rId4">
            <a:alphaModFix/>
          </a:blip>
          <a:stretch>
            <a:fillRect/>
          </a:stretch>
        </p:blipFill>
        <p:spPr>
          <a:xfrm>
            <a:off x="16144875" y="0"/>
            <a:ext cx="1928827" cy="19288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nvSpPr>
        <p:spPr>
          <a:xfrm>
            <a:off x="1206499" y="1014094"/>
            <a:ext cx="297815"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86C7AC"/>
                </a:solidFill>
                <a:latin typeface="Courier New"/>
                <a:ea typeface="Courier New"/>
                <a:cs typeface="Courier New"/>
                <a:sym typeface="Courier New"/>
              </a:rPr>
              <a:t>03</a:t>
            </a:r>
            <a:endParaRPr sz="1650">
              <a:latin typeface="Courier New"/>
              <a:ea typeface="Courier New"/>
              <a:cs typeface="Courier New"/>
              <a:sym typeface="Courier New"/>
            </a:endParaRPr>
          </a:p>
        </p:txBody>
      </p:sp>
      <p:sp>
        <p:nvSpPr>
          <p:cNvPr descr="$PPTXTitle" id="173" name="Google Shape;173;p9"/>
          <p:cNvSpPr txBox="1"/>
          <p:nvPr>
            <p:ph type="title"/>
          </p:nvPr>
        </p:nvSpPr>
        <p:spPr>
          <a:xfrm>
            <a:off x="1794103" y="4011450"/>
            <a:ext cx="15270600" cy="11211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7200">
                <a:solidFill>
                  <a:srgbClr val="FFFFFF"/>
                </a:solidFill>
              </a:rPr>
              <a:t>Q</a:t>
            </a:r>
            <a:r>
              <a:rPr lang="en-US" sz="7200">
                <a:solidFill>
                  <a:srgbClr val="FFFFFF"/>
                </a:solidFill>
              </a:rPr>
              <a:t>uy Trình Phát Triển Phần Mềm</a:t>
            </a:r>
            <a:endParaRPr sz="7200"/>
          </a:p>
        </p:txBody>
      </p:sp>
      <p:sp>
        <p:nvSpPr>
          <p:cNvPr id="174" name="Google Shape;174;p9"/>
          <p:cNvSpPr txBox="1"/>
          <p:nvPr/>
        </p:nvSpPr>
        <p:spPr>
          <a:xfrm>
            <a:off x="1206499" y="9618979"/>
            <a:ext cx="339344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DAY 1  /  KICK-OFF &amp; WORKFLOW</a:t>
            </a:r>
            <a:endParaRPr sz="1350">
              <a:latin typeface="Courier New"/>
              <a:ea typeface="Courier New"/>
              <a:cs typeface="Courier New"/>
              <a:sym typeface="Courier New"/>
            </a:endParaRPr>
          </a:p>
        </p:txBody>
      </p:sp>
      <p:pic>
        <p:nvPicPr>
          <p:cNvPr id="175" name="Google Shape;175;p9" title="Logo_white.png"/>
          <p:cNvPicPr preferRelativeResize="0"/>
          <p:nvPr/>
        </p:nvPicPr>
        <p:blipFill>
          <a:blip r:embed="rId3">
            <a:alphaModFix/>
          </a:blip>
          <a:stretch>
            <a:fillRect/>
          </a:stretch>
        </p:blipFill>
        <p:spPr>
          <a:xfrm>
            <a:off x="15939500" y="167000"/>
            <a:ext cx="2051400" cy="1681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03.1</a:t>
            </a:r>
            <a:endParaRPr sz="1650">
              <a:latin typeface="Courier New"/>
              <a:ea typeface="Courier New"/>
              <a:cs typeface="Courier New"/>
              <a:sym typeface="Courier New"/>
            </a:endParaRPr>
          </a:p>
        </p:txBody>
      </p:sp>
      <p:sp>
        <p:nvSpPr>
          <p:cNvPr descr="$PPTXTitle" id="181" name="Google Shape;181;p10"/>
          <p:cNvSpPr txBox="1"/>
          <p:nvPr>
            <p:ph type="title"/>
          </p:nvPr>
        </p:nvSpPr>
        <p:spPr>
          <a:xfrm>
            <a:off x="1206499" y="1190047"/>
            <a:ext cx="150603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Phương</a:t>
            </a:r>
            <a:r>
              <a:rPr lang="en-US"/>
              <a:t> Pháp Thác Nước (Waterfall)</a:t>
            </a:r>
            <a:endParaRPr/>
          </a:p>
        </p:txBody>
      </p:sp>
      <p:sp>
        <p:nvSpPr>
          <p:cNvPr id="182" name="Google Shape;182;p10"/>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83" name="Google Shape;183;p10"/>
          <p:cNvPicPr preferRelativeResize="0"/>
          <p:nvPr/>
        </p:nvPicPr>
        <p:blipFill rotWithShape="1">
          <a:blip r:embed="rId3">
            <a:alphaModFix/>
          </a:blip>
          <a:srcRect b="0" l="0" r="0" t="0"/>
          <a:stretch/>
        </p:blipFill>
        <p:spPr>
          <a:xfrm>
            <a:off x="1219200" y="3248024"/>
            <a:ext cx="209550" cy="209550"/>
          </a:xfrm>
          <a:prstGeom prst="rect">
            <a:avLst/>
          </a:prstGeom>
          <a:noFill/>
          <a:ln>
            <a:noFill/>
          </a:ln>
        </p:spPr>
      </p:pic>
      <p:sp>
        <p:nvSpPr>
          <p:cNvPr id="184" name="Google Shape;184;p10"/>
          <p:cNvSpPr txBox="1"/>
          <p:nvPr/>
        </p:nvSpPr>
        <p:spPr>
          <a:xfrm>
            <a:off x="1835150" y="3139503"/>
            <a:ext cx="5535930"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Quy trình tuần tự, từng bước rõ ràng</a:t>
            </a:r>
            <a:endParaRPr sz="2550">
              <a:latin typeface="Verdana"/>
              <a:ea typeface="Verdana"/>
              <a:cs typeface="Verdana"/>
              <a:sym typeface="Verdana"/>
            </a:endParaRPr>
          </a:p>
        </p:txBody>
      </p:sp>
      <p:pic>
        <p:nvPicPr>
          <p:cNvPr id="185" name="Google Shape;185;p10"/>
          <p:cNvPicPr preferRelativeResize="0"/>
          <p:nvPr/>
        </p:nvPicPr>
        <p:blipFill rotWithShape="1">
          <a:blip r:embed="rId3">
            <a:alphaModFix/>
          </a:blip>
          <a:srcRect b="0" l="0" r="0" t="0"/>
          <a:stretch/>
        </p:blipFill>
        <p:spPr>
          <a:xfrm>
            <a:off x="1219200" y="4676774"/>
            <a:ext cx="209550" cy="209550"/>
          </a:xfrm>
          <a:prstGeom prst="rect">
            <a:avLst/>
          </a:prstGeom>
          <a:noFill/>
          <a:ln>
            <a:noFill/>
          </a:ln>
        </p:spPr>
      </p:pic>
      <p:sp>
        <p:nvSpPr>
          <p:cNvPr id="186" name="Google Shape;186;p10"/>
          <p:cNvSpPr txBox="1"/>
          <p:nvPr/>
        </p:nvSpPr>
        <p:spPr>
          <a:xfrm>
            <a:off x="1835150" y="4568253"/>
            <a:ext cx="6837045"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Phù hợp dự án có yêu cầu rõ ràng, ít thay đổi</a:t>
            </a:r>
            <a:endParaRPr sz="2550">
              <a:latin typeface="Verdana"/>
              <a:ea typeface="Verdana"/>
              <a:cs typeface="Verdana"/>
              <a:sym typeface="Verdana"/>
            </a:endParaRPr>
          </a:p>
        </p:txBody>
      </p:sp>
      <p:pic>
        <p:nvPicPr>
          <p:cNvPr id="187" name="Google Shape;187;p10"/>
          <p:cNvPicPr preferRelativeResize="0"/>
          <p:nvPr/>
        </p:nvPicPr>
        <p:blipFill rotWithShape="1">
          <a:blip r:embed="rId3">
            <a:alphaModFix/>
          </a:blip>
          <a:srcRect b="0" l="0" r="0" t="0"/>
          <a:stretch/>
        </p:blipFill>
        <p:spPr>
          <a:xfrm>
            <a:off x="1219200" y="6105525"/>
            <a:ext cx="209550" cy="209550"/>
          </a:xfrm>
          <a:prstGeom prst="rect">
            <a:avLst/>
          </a:prstGeom>
          <a:noFill/>
          <a:ln>
            <a:noFill/>
          </a:ln>
        </p:spPr>
      </p:pic>
      <p:sp>
        <p:nvSpPr>
          <p:cNvPr id="188" name="Google Shape;188;p10"/>
          <p:cNvSpPr txBox="1"/>
          <p:nvPr/>
        </p:nvSpPr>
        <p:spPr>
          <a:xfrm>
            <a:off x="1835150" y="5997003"/>
            <a:ext cx="4454525"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Quy trình cố định, ít linh hoạt</a:t>
            </a:r>
            <a:endParaRPr sz="2550">
              <a:latin typeface="Verdana"/>
              <a:ea typeface="Verdana"/>
              <a:cs typeface="Verdana"/>
              <a:sym typeface="Verdana"/>
            </a:endParaRPr>
          </a:p>
        </p:txBody>
      </p:sp>
      <p:pic>
        <p:nvPicPr>
          <p:cNvPr id="189" name="Google Shape;189;p10"/>
          <p:cNvPicPr preferRelativeResize="0"/>
          <p:nvPr/>
        </p:nvPicPr>
        <p:blipFill rotWithShape="1">
          <a:blip r:embed="rId4">
            <a:alphaModFix/>
          </a:blip>
          <a:srcRect b="0" l="0" r="0" t="0"/>
          <a:stretch/>
        </p:blipFill>
        <p:spPr>
          <a:xfrm>
            <a:off x="9956638" y="2984256"/>
            <a:ext cx="7810499" cy="6029324"/>
          </a:xfrm>
          <a:prstGeom prst="rect">
            <a:avLst/>
          </a:prstGeom>
          <a:noFill/>
          <a:ln>
            <a:noFill/>
          </a:ln>
        </p:spPr>
      </p:pic>
      <p:sp>
        <p:nvSpPr>
          <p:cNvPr id="190" name="Google Shape;190;p10"/>
          <p:cNvSpPr txBox="1"/>
          <p:nvPr/>
        </p:nvSpPr>
        <p:spPr>
          <a:xfrm>
            <a:off x="1206499" y="9618979"/>
            <a:ext cx="187706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SOFTWARE PROCESS</a:t>
            </a:r>
            <a:endParaRPr sz="1350">
              <a:latin typeface="Courier New"/>
              <a:ea typeface="Courier New"/>
              <a:cs typeface="Courier New"/>
              <a:sym typeface="Courier New"/>
            </a:endParaRPr>
          </a:p>
        </p:txBody>
      </p:sp>
      <p:sp>
        <p:nvSpPr>
          <p:cNvPr id="191" name="Google Shape;191;p10"/>
          <p:cNvSpPr txBox="1"/>
          <p:nvPr/>
        </p:nvSpPr>
        <p:spPr>
          <a:xfrm>
            <a:off x="10325463" y="9430765"/>
            <a:ext cx="707644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000">
                <a:latin typeface="Verdana"/>
                <a:ea typeface="Verdana"/>
                <a:cs typeface="Verdana"/>
                <a:sym typeface="Verdana"/>
              </a:rPr>
              <a:t>Source: </a:t>
            </a:r>
            <a:r>
              <a:rPr lang="en-US" sz="2000" u="sng">
                <a:solidFill>
                  <a:schemeClr val="hlink"/>
                </a:solidFill>
                <a:latin typeface="Verdana"/>
                <a:ea typeface="Verdana"/>
                <a:cs typeface="Verdana"/>
                <a:sym typeface="Verdana"/>
                <a:hlinkClick r:id="rId5"/>
              </a:rPr>
              <a:t>https://management.org/waterfall-methodology</a:t>
            </a:r>
            <a:endParaRPr sz="2000">
              <a:latin typeface="Verdana"/>
              <a:ea typeface="Verdana"/>
              <a:cs typeface="Verdana"/>
              <a:sym typeface="Verdana"/>
            </a:endParaRPr>
          </a:p>
        </p:txBody>
      </p:sp>
      <p:pic>
        <p:nvPicPr>
          <p:cNvPr id="192" name="Google Shape;192;p10" title="Logo_Color.png"/>
          <p:cNvPicPr preferRelativeResize="0"/>
          <p:nvPr/>
        </p:nvPicPr>
        <p:blipFill>
          <a:blip r:embed="rId6">
            <a:alphaModFix/>
          </a:blip>
          <a:stretch>
            <a:fillRect/>
          </a:stretch>
        </p:blipFill>
        <p:spPr>
          <a:xfrm>
            <a:off x="16144875" y="0"/>
            <a:ext cx="1928827" cy="192882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1"/>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03.2</a:t>
            </a:r>
            <a:endParaRPr sz="1650">
              <a:latin typeface="Courier New"/>
              <a:ea typeface="Courier New"/>
              <a:cs typeface="Courier New"/>
              <a:sym typeface="Courier New"/>
            </a:endParaRPr>
          </a:p>
        </p:txBody>
      </p:sp>
      <p:sp>
        <p:nvSpPr>
          <p:cNvPr descr="$PPTXTitle" id="198" name="Google Shape;198;p11"/>
          <p:cNvSpPr txBox="1"/>
          <p:nvPr>
            <p:ph type="title"/>
          </p:nvPr>
        </p:nvSpPr>
        <p:spPr>
          <a:xfrm>
            <a:off x="1206499" y="1190047"/>
            <a:ext cx="150603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Phương</a:t>
            </a:r>
            <a:r>
              <a:rPr lang="en-US"/>
              <a:t> Pháp Agile</a:t>
            </a:r>
            <a:endParaRPr/>
          </a:p>
        </p:txBody>
      </p:sp>
      <p:sp>
        <p:nvSpPr>
          <p:cNvPr id="199" name="Google Shape;199;p11"/>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200" name="Google Shape;200;p11"/>
          <p:cNvPicPr preferRelativeResize="0"/>
          <p:nvPr/>
        </p:nvPicPr>
        <p:blipFill rotWithShape="1">
          <a:blip r:embed="rId3">
            <a:alphaModFix/>
          </a:blip>
          <a:srcRect b="0" l="0" r="0" t="0"/>
          <a:stretch/>
        </p:blipFill>
        <p:spPr>
          <a:xfrm>
            <a:off x="1219200" y="3248024"/>
            <a:ext cx="209550" cy="209550"/>
          </a:xfrm>
          <a:prstGeom prst="rect">
            <a:avLst/>
          </a:prstGeom>
          <a:noFill/>
          <a:ln>
            <a:noFill/>
          </a:ln>
        </p:spPr>
      </p:pic>
      <p:sp>
        <p:nvSpPr>
          <p:cNvPr id="201" name="Google Shape;201;p11"/>
          <p:cNvSpPr txBox="1"/>
          <p:nvPr/>
        </p:nvSpPr>
        <p:spPr>
          <a:xfrm>
            <a:off x="1835150" y="3139503"/>
            <a:ext cx="6020435"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Linh hoạt, thích ứng nhanh với thay đổi</a:t>
            </a:r>
            <a:endParaRPr sz="2550">
              <a:latin typeface="Verdana"/>
              <a:ea typeface="Verdana"/>
              <a:cs typeface="Verdana"/>
              <a:sym typeface="Verdana"/>
            </a:endParaRPr>
          </a:p>
        </p:txBody>
      </p:sp>
      <p:pic>
        <p:nvPicPr>
          <p:cNvPr id="202" name="Google Shape;202;p11"/>
          <p:cNvPicPr preferRelativeResize="0"/>
          <p:nvPr/>
        </p:nvPicPr>
        <p:blipFill rotWithShape="1">
          <a:blip r:embed="rId3">
            <a:alphaModFix/>
          </a:blip>
          <a:srcRect b="0" l="0" r="0" t="0"/>
          <a:stretch/>
        </p:blipFill>
        <p:spPr>
          <a:xfrm>
            <a:off x="1219200" y="4676774"/>
            <a:ext cx="209550" cy="209550"/>
          </a:xfrm>
          <a:prstGeom prst="rect">
            <a:avLst/>
          </a:prstGeom>
          <a:noFill/>
          <a:ln>
            <a:noFill/>
          </a:ln>
        </p:spPr>
      </p:pic>
      <p:sp>
        <p:nvSpPr>
          <p:cNvPr id="203" name="Google Shape;203;p11"/>
          <p:cNvSpPr txBox="1"/>
          <p:nvPr/>
        </p:nvSpPr>
        <p:spPr>
          <a:xfrm>
            <a:off x="1835150" y="4568253"/>
            <a:ext cx="6428740"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Phù hợp dự án hiện đại, phát triển liên tục</a:t>
            </a:r>
            <a:endParaRPr sz="2550">
              <a:latin typeface="Verdana"/>
              <a:ea typeface="Verdana"/>
              <a:cs typeface="Verdana"/>
              <a:sym typeface="Verdana"/>
            </a:endParaRPr>
          </a:p>
        </p:txBody>
      </p:sp>
      <p:pic>
        <p:nvPicPr>
          <p:cNvPr id="204" name="Google Shape;204;p11"/>
          <p:cNvPicPr preferRelativeResize="0"/>
          <p:nvPr/>
        </p:nvPicPr>
        <p:blipFill rotWithShape="1">
          <a:blip r:embed="rId3">
            <a:alphaModFix/>
          </a:blip>
          <a:srcRect b="0" l="0" r="0" t="0"/>
          <a:stretch/>
        </p:blipFill>
        <p:spPr>
          <a:xfrm>
            <a:off x="1219200" y="6105525"/>
            <a:ext cx="209550" cy="209550"/>
          </a:xfrm>
          <a:prstGeom prst="rect">
            <a:avLst/>
          </a:prstGeom>
          <a:noFill/>
          <a:ln>
            <a:noFill/>
          </a:ln>
        </p:spPr>
      </p:pic>
      <p:sp>
        <p:nvSpPr>
          <p:cNvPr id="205" name="Google Shape;205;p11"/>
          <p:cNvSpPr txBox="1"/>
          <p:nvPr/>
        </p:nvSpPr>
        <p:spPr>
          <a:xfrm>
            <a:off x="1835150" y="5997003"/>
            <a:ext cx="7558405"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Tập trung vào phản hồi nhanh và cải tiến liên tục</a:t>
            </a:r>
            <a:endParaRPr sz="2550">
              <a:latin typeface="Verdana"/>
              <a:ea typeface="Verdana"/>
              <a:cs typeface="Verdana"/>
              <a:sym typeface="Verdana"/>
            </a:endParaRPr>
          </a:p>
        </p:txBody>
      </p:sp>
      <p:pic>
        <p:nvPicPr>
          <p:cNvPr id="206" name="Google Shape;206;p11"/>
          <p:cNvPicPr preferRelativeResize="0"/>
          <p:nvPr/>
        </p:nvPicPr>
        <p:blipFill rotWithShape="1">
          <a:blip r:embed="rId4">
            <a:alphaModFix/>
          </a:blip>
          <a:srcRect b="0" l="0" r="0" t="0"/>
          <a:stretch/>
        </p:blipFill>
        <p:spPr>
          <a:xfrm>
            <a:off x="9803813" y="3243978"/>
            <a:ext cx="7981949" cy="5324474"/>
          </a:xfrm>
          <a:prstGeom prst="rect">
            <a:avLst/>
          </a:prstGeom>
          <a:noFill/>
          <a:ln>
            <a:noFill/>
          </a:ln>
        </p:spPr>
      </p:pic>
      <p:sp>
        <p:nvSpPr>
          <p:cNvPr id="207" name="Google Shape;207;p11"/>
          <p:cNvSpPr txBox="1"/>
          <p:nvPr/>
        </p:nvSpPr>
        <p:spPr>
          <a:xfrm>
            <a:off x="1206499" y="9618979"/>
            <a:ext cx="187706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SOFTWARE PROCESS</a:t>
            </a:r>
            <a:endParaRPr sz="1350">
              <a:latin typeface="Courier New"/>
              <a:ea typeface="Courier New"/>
              <a:cs typeface="Courier New"/>
              <a:sym typeface="Courier New"/>
            </a:endParaRPr>
          </a:p>
        </p:txBody>
      </p:sp>
      <p:pic>
        <p:nvPicPr>
          <p:cNvPr id="208" name="Google Shape;208;p11" title="Logo_Color.png"/>
          <p:cNvPicPr preferRelativeResize="0"/>
          <p:nvPr/>
        </p:nvPicPr>
        <p:blipFill>
          <a:blip r:embed="rId5">
            <a:alphaModFix/>
          </a:blip>
          <a:stretch>
            <a:fillRect/>
          </a:stretch>
        </p:blipFill>
        <p:spPr>
          <a:xfrm>
            <a:off x="16144875" y="0"/>
            <a:ext cx="1928827" cy="19288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03.3</a:t>
            </a:r>
            <a:endParaRPr sz="1650">
              <a:latin typeface="Courier New"/>
              <a:ea typeface="Courier New"/>
              <a:cs typeface="Courier New"/>
              <a:sym typeface="Courier New"/>
            </a:endParaRPr>
          </a:p>
        </p:txBody>
      </p:sp>
      <p:sp>
        <p:nvSpPr>
          <p:cNvPr descr="$PPTXTitle" id="214" name="Google Shape;214;p12"/>
          <p:cNvSpPr txBox="1"/>
          <p:nvPr>
            <p:ph type="title"/>
          </p:nvPr>
        </p:nvSpPr>
        <p:spPr>
          <a:xfrm>
            <a:off x="1206502" y="1224600"/>
            <a:ext cx="48210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Scrum</a:t>
            </a:r>
            <a:endParaRPr/>
          </a:p>
        </p:txBody>
      </p:sp>
      <p:sp>
        <p:nvSpPr>
          <p:cNvPr id="215" name="Google Shape;215;p12"/>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216" name="Google Shape;216;p12"/>
          <p:cNvPicPr preferRelativeResize="0"/>
          <p:nvPr/>
        </p:nvPicPr>
        <p:blipFill rotWithShape="1">
          <a:blip r:embed="rId3">
            <a:alphaModFix/>
          </a:blip>
          <a:srcRect b="0" l="0" r="0" t="0"/>
          <a:stretch/>
        </p:blipFill>
        <p:spPr>
          <a:xfrm>
            <a:off x="1219200" y="3248024"/>
            <a:ext cx="209550" cy="209550"/>
          </a:xfrm>
          <a:prstGeom prst="rect">
            <a:avLst/>
          </a:prstGeom>
          <a:noFill/>
          <a:ln>
            <a:noFill/>
          </a:ln>
        </p:spPr>
      </p:pic>
      <p:sp>
        <p:nvSpPr>
          <p:cNvPr id="217" name="Google Shape;217;p12"/>
          <p:cNvSpPr txBox="1"/>
          <p:nvPr/>
        </p:nvSpPr>
        <p:spPr>
          <a:xfrm>
            <a:off x="1835150" y="3139503"/>
            <a:ext cx="6082665"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Công việc sẽ được triển khai theo sprint</a:t>
            </a:r>
            <a:endParaRPr sz="2550">
              <a:latin typeface="Verdana"/>
              <a:ea typeface="Verdana"/>
              <a:cs typeface="Verdana"/>
              <a:sym typeface="Verdana"/>
            </a:endParaRPr>
          </a:p>
        </p:txBody>
      </p:sp>
      <p:pic>
        <p:nvPicPr>
          <p:cNvPr id="218" name="Google Shape;218;p12"/>
          <p:cNvPicPr preferRelativeResize="0"/>
          <p:nvPr/>
        </p:nvPicPr>
        <p:blipFill rotWithShape="1">
          <a:blip r:embed="rId3">
            <a:alphaModFix/>
          </a:blip>
          <a:srcRect b="0" l="0" r="0" t="0"/>
          <a:stretch/>
        </p:blipFill>
        <p:spPr>
          <a:xfrm>
            <a:off x="1219200" y="4676774"/>
            <a:ext cx="209550" cy="209550"/>
          </a:xfrm>
          <a:prstGeom prst="rect">
            <a:avLst/>
          </a:prstGeom>
          <a:noFill/>
          <a:ln>
            <a:noFill/>
          </a:ln>
        </p:spPr>
      </p:pic>
      <p:pic>
        <p:nvPicPr>
          <p:cNvPr id="219" name="Google Shape;219;p12"/>
          <p:cNvPicPr preferRelativeResize="0"/>
          <p:nvPr/>
        </p:nvPicPr>
        <p:blipFill rotWithShape="1">
          <a:blip r:embed="rId3">
            <a:alphaModFix/>
          </a:blip>
          <a:srcRect b="0" l="0" r="0" t="0"/>
          <a:stretch/>
        </p:blipFill>
        <p:spPr>
          <a:xfrm>
            <a:off x="1219200" y="6105525"/>
            <a:ext cx="209550" cy="209550"/>
          </a:xfrm>
          <a:prstGeom prst="rect">
            <a:avLst/>
          </a:prstGeom>
          <a:noFill/>
          <a:ln>
            <a:noFill/>
          </a:ln>
        </p:spPr>
      </p:pic>
      <p:sp>
        <p:nvSpPr>
          <p:cNvPr id="220" name="Google Shape;220;p12"/>
          <p:cNvSpPr txBox="1"/>
          <p:nvPr/>
        </p:nvSpPr>
        <p:spPr>
          <a:xfrm>
            <a:off x="1835150" y="4518723"/>
            <a:ext cx="6207760" cy="2330450"/>
          </a:xfrm>
          <a:prstGeom prst="rect">
            <a:avLst/>
          </a:prstGeom>
          <a:noFill/>
          <a:ln>
            <a:noFill/>
          </a:ln>
        </p:spPr>
        <p:txBody>
          <a:bodyPr anchorCtr="0" anchor="t" bIns="0" lIns="0" spcFirstLastPara="1" rIns="0" wrap="square" tIns="12700">
            <a:spAutoFit/>
          </a:bodyPr>
          <a:lstStyle/>
          <a:p>
            <a:pPr indent="0" lvl="0" marL="12700" marR="5080" rtl="0" algn="l">
              <a:lnSpc>
                <a:spcPct val="112700"/>
              </a:lnSpc>
              <a:spcBef>
                <a:spcPts val="0"/>
              </a:spcBef>
              <a:spcAft>
                <a:spcPts val="0"/>
              </a:spcAft>
              <a:buNone/>
            </a:pPr>
            <a:r>
              <a:rPr lang="en-US" sz="2550">
                <a:solidFill>
                  <a:srgbClr val="202F40"/>
                </a:solidFill>
                <a:latin typeface="Verdana"/>
                <a:ea typeface="Verdana"/>
                <a:cs typeface="Verdana"/>
                <a:sym typeface="Verdana"/>
              </a:rPr>
              <a:t>Quản lý task thông qua Product Backlog và Sprint Backlog</a:t>
            </a:r>
            <a:endParaRPr sz="2550">
              <a:latin typeface="Verdana"/>
              <a:ea typeface="Verdana"/>
              <a:cs typeface="Verdana"/>
              <a:sym typeface="Verdana"/>
            </a:endParaRPr>
          </a:p>
          <a:p>
            <a:pPr indent="0" lvl="0" marL="0" rtl="0" algn="l">
              <a:lnSpc>
                <a:spcPct val="100000"/>
              </a:lnSpc>
              <a:spcBef>
                <a:spcPts val="1250"/>
              </a:spcBef>
              <a:spcAft>
                <a:spcPts val="0"/>
              </a:spcAft>
              <a:buNone/>
            </a:pPr>
            <a:r>
              <a:t/>
            </a:r>
            <a:endParaRPr sz="2550">
              <a:latin typeface="Verdana"/>
              <a:ea typeface="Verdana"/>
              <a:cs typeface="Verdana"/>
              <a:sym typeface="Verdana"/>
            </a:endParaRPr>
          </a:p>
          <a:p>
            <a:pPr indent="0" lvl="0" marL="12700" marR="400050" rtl="0" algn="l">
              <a:lnSpc>
                <a:spcPct val="112700"/>
              </a:lnSpc>
              <a:spcBef>
                <a:spcPts val="0"/>
              </a:spcBef>
              <a:spcAft>
                <a:spcPts val="0"/>
              </a:spcAft>
              <a:buNone/>
            </a:pPr>
            <a:r>
              <a:rPr lang="en-US" sz="2550">
                <a:solidFill>
                  <a:srgbClr val="202F40"/>
                </a:solidFill>
                <a:latin typeface="Verdana"/>
                <a:ea typeface="Verdana"/>
                <a:cs typeface="Verdana"/>
                <a:sym typeface="Verdana"/>
              </a:rPr>
              <a:t>Vai trò rõ ràng: Product Owner, Scrum Master, Development Team</a:t>
            </a:r>
            <a:endParaRPr sz="2550">
              <a:latin typeface="Verdana"/>
              <a:ea typeface="Verdana"/>
              <a:cs typeface="Verdana"/>
              <a:sym typeface="Verdana"/>
            </a:endParaRPr>
          </a:p>
        </p:txBody>
      </p:sp>
      <p:pic>
        <p:nvPicPr>
          <p:cNvPr id="221" name="Google Shape;221;p12"/>
          <p:cNvPicPr preferRelativeResize="0"/>
          <p:nvPr/>
        </p:nvPicPr>
        <p:blipFill rotWithShape="1">
          <a:blip r:embed="rId4">
            <a:alphaModFix/>
          </a:blip>
          <a:srcRect b="0" l="0" r="0" t="0"/>
          <a:stretch/>
        </p:blipFill>
        <p:spPr>
          <a:xfrm>
            <a:off x="8659007" y="2402464"/>
            <a:ext cx="8601074" cy="6857999"/>
          </a:xfrm>
          <a:prstGeom prst="rect">
            <a:avLst/>
          </a:prstGeom>
          <a:noFill/>
          <a:ln>
            <a:noFill/>
          </a:ln>
        </p:spPr>
      </p:pic>
      <p:sp>
        <p:nvSpPr>
          <p:cNvPr id="222" name="Google Shape;222;p12"/>
          <p:cNvSpPr txBox="1"/>
          <p:nvPr/>
        </p:nvSpPr>
        <p:spPr>
          <a:xfrm>
            <a:off x="1206499" y="9618979"/>
            <a:ext cx="1760855"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AGILE FRAMEWORK</a:t>
            </a:r>
            <a:endParaRPr sz="1350">
              <a:latin typeface="Courier New"/>
              <a:ea typeface="Courier New"/>
              <a:cs typeface="Courier New"/>
              <a:sym typeface="Courier New"/>
            </a:endParaRPr>
          </a:p>
        </p:txBody>
      </p:sp>
      <p:pic>
        <p:nvPicPr>
          <p:cNvPr id="223" name="Google Shape;223;p12"/>
          <p:cNvPicPr preferRelativeResize="0"/>
          <p:nvPr/>
        </p:nvPicPr>
        <p:blipFill rotWithShape="1">
          <a:blip r:embed="rId3">
            <a:alphaModFix/>
          </a:blip>
          <a:srcRect b="0" l="0" r="0" t="0"/>
          <a:stretch/>
        </p:blipFill>
        <p:spPr>
          <a:xfrm>
            <a:off x="1219200" y="7924800"/>
            <a:ext cx="209550" cy="209550"/>
          </a:xfrm>
          <a:prstGeom prst="rect">
            <a:avLst/>
          </a:prstGeom>
          <a:noFill/>
          <a:ln>
            <a:noFill/>
          </a:ln>
        </p:spPr>
      </p:pic>
      <p:sp>
        <p:nvSpPr>
          <p:cNvPr id="224" name="Google Shape;224;p12"/>
          <p:cNvSpPr txBox="1"/>
          <p:nvPr/>
        </p:nvSpPr>
        <p:spPr>
          <a:xfrm>
            <a:off x="1835150" y="7816277"/>
            <a:ext cx="4629785" cy="4140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Stand-up meeting hàng ngày</a:t>
            </a:r>
            <a:endParaRPr sz="2550">
              <a:latin typeface="Verdana"/>
              <a:ea typeface="Verdana"/>
              <a:cs typeface="Verdana"/>
              <a:sym typeface="Verdana"/>
            </a:endParaRPr>
          </a:p>
        </p:txBody>
      </p:sp>
      <p:pic>
        <p:nvPicPr>
          <p:cNvPr id="225" name="Google Shape;225;p12" title="Logo_Color.png"/>
          <p:cNvPicPr preferRelativeResize="0"/>
          <p:nvPr/>
        </p:nvPicPr>
        <p:blipFill>
          <a:blip r:embed="rId5">
            <a:alphaModFix/>
          </a:blip>
          <a:stretch>
            <a:fillRect/>
          </a:stretch>
        </p:blipFill>
        <p:spPr>
          <a:xfrm>
            <a:off x="16144875" y="0"/>
            <a:ext cx="1928827" cy="192882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3"/>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03.4</a:t>
            </a:r>
            <a:endParaRPr sz="1650">
              <a:latin typeface="Courier New"/>
              <a:ea typeface="Courier New"/>
              <a:cs typeface="Courier New"/>
              <a:sym typeface="Courier New"/>
            </a:endParaRPr>
          </a:p>
        </p:txBody>
      </p:sp>
      <p:sp>
        <p:nvSpPr>
          <p:cNvPr descr="$PPTXTitle" id="231" name="Google Shape;231;p13"/>
          <p:cNvSpPr txBox="1"/>
          <p:nvPr>
            <p:ph type="title"/>
          </p:nvPr>
        </p:nvSpPr>
        <p:spPr>
          <a:xfrm>
            <a:off x="1206501" y="1224600"/>
            <a:ext cx="50889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Kanban</a:t>
            </a:r>
            <a:endParaRPr/>
          </a:p>
        </p:txBody>
      </p:sp>
      <p:sp>
        <p:nvSpPr>
          <p:cNvPr id="232" name="Google Shape;232;p13"/>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3" name="Google Shape;233;p13"/>
          <p:cNvSpPr txBox="1"/>
          <p:nvPr/>
        </p:nvSpPr>
        <p:spPr>
          <a:xfrm>
            <a:off x="1219199" y="3143250"/>
            <a:ext cx="4572000" cy="3333750"/>
          </a:xfrm>
          <a:prstGeom prst="rect">
            <a:avLst/>
          </a:prstGeom>
          <a:solidFill>
            <a:srgbClr val="FFFFFF"/>
          </a:solidFill>
          <a:ln cap="flat" cmpd="sng" w="38075">
            <a:solidFill>
              <a:srgbClr val="D8DEDA"/>
            </a:solidFill>
            <a:prstDash val="solid"/>
            <a:round/>
            <a:headEnd len="sm" w="sm" type="none"/>
            <a:tailEnd len="sm" w="sm" type="none"/>
          </a:ln>
        </p:spPr>
        <p:txBody>
          <a:bodyPr anchorCtr="0" anchor="t" bIns="0" lIns="0" spcFirstLastPara="1" rIns="0" wrap="square" tIns="13950">
            <a:spAutoFit/>
          </a:bodyPr>
          <a:lstStyle/>
          <a:p>
            <a:pPr indent="0" lvl="0" marL="0" rtl="0" algn="l">
              <a:lnSpc>
                <a:spcPct val="100000"/>
              </a:lnSpc>
              <a:spcBef>
                <a:spcPts val="0"/>
              </a:spcBef>
              <a:spcAft>
                <a:spcPts val="0"/>
              </a:spcAft>
              <a:buNone/>
            </a:pPr>
            <a:r>
              <a:t/>
            </a:r>
            <a:endParaRPr sz="1850">
              <a:latin typeface="Times New Roman"/>
              <a:ea typeface="Times New Roman"/>
              <a:cs typeface="Times New Roman"/>
              <a:sym typeface="Times New Roman"/>
            </a:endParaRPr>
          </a:p>
          <a:p>
            <a:pPr indent="0" lvl="0" marL="285115" rtl="0" algn="l">
              <a:lnSpc>
                <a:spcPct val="100000"/>
              </a:lnSpc>
              <a:spcBef>
                <a:spcPts val="0"/>
              </a:spcBef>
              <a:spcAft>
                <a:spcPts val="0"/>
              </a:spcAft>
              <a:buNone/>
            </a:pPr>
            <a:r>
              <a:rPr b="1" lang="en-US" sz="1850">
                <a:solidFill>
                  <a:srgbClr val="3F8069"/>
                </a:solidFill>
                <a:latin typeface="Courier New"/>
                <a:ea typeface="Courier New"/>
                <a:cs typeface="Courier New"/>
                <a:sym typeface="Courier New"/>
              </a:rPr>
              <a:t>TO-DO</a:t>
            </a:r>
            <a:endParaRPr sz="185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850">
              <a:latin typeface="Courier New"/>
              <a:ea typeface="Courier New"/>
              <a:cs typeface="Courier New"/>
              <a:sym typeface="Courier New"/>
            </a:endParaRPr>
          </a:p>
          <a:p>
            <a:pPr indent="0" lvl="0" marL="0" rtl="0" algn="l">
              <a:lnSpc>
                <a:spcPct val="100000"/>
              </a:lnSpc>
              <a:spcBef>
                <a:spcPts val="1945"/>
              </a:spcBef>
              <a:spcAft>
                <a:spcPts val="0"/>
              </a:spcAft>
              <a:buNone/>
            </a:pPr>
            <a:r>
              <a:t/>
            </a:r>
            <a:endParaRPr sz="1850">
              <a:latin typeface="Courier New"/>
              <a:ea typeface="Courier New"/>
              <a:cs typeface="Courier New"/>
              <a:sym typeface="Courier New"/>
            </a:endParaRPr>
          </a:p>
          <a:p>
            <a:pPr indent="0" lvl="0" marL="285115" rtl="0" algn="l">
              <a:lnSpc>
                <a:spcPct val="100000"/>
              </a:lnSpc>
              <a:spcBef>
                <a:spcPts val="0"/>
              </a:spcBef>
              <a:spcAft>
                <a:spcPts val="0"/>
              </a:spcAft>
              <a:buNone/>
            </a:pPr>
            <a:r>
              <a:rPr lang="en-US" sz="2250">
                <a:solidFill>
                  <a:srgbClr val="202F40"/>
                </a:solidFill>
                <a:latin typeface="Verdana"/>
                <a:ea typeface="Verdana"/>
                <a:cs typeface="Verdana"/>
                <a:sym typeface="Verdana"/>
              </a:rPr>
              <a:t>Công việc chờ xử lý</a:t>
            </a:r>
            <a:endParaRPr sz="2250">
              <a:latin typeface="Verdana"/>
              <a:ea typeface="Verdana"/>
              <a:cs typeface="Verdana"/>
              <a:sym typeface="Verdana"/>
            </a:endParaRPr>
          </a:p>
        </p:txBody>
      </p:sp>
      <p:sp>
        <p:nvSpPr>
          <p:cNvPr id="234" name="Google Shape;234;p13"/>
          <p:cNvSpPr txBox="1"/>
          <p:nvPr/>
        </p:nvSpPr>
        <p:spPr>
          <a:xfrm>
            <a:off x="6457949" y="3143250"/>
            <a:ext cx="4572000" cy="3333750"/>
          </a:xfrm>
          <a:prstGeom prst="rect">
            <a:avLst/>
          </a:prstGeom>
          <a:solidFill>
            <a:srgbClr val="FFFFFF"/>
          </a:solidFill>
          <a:ln cap="flat" cmpd="sng" w="38075">
            <a:solidFill>
              <a:srgbClr val="D8DEDA"/>
            </a:solidFill>
            <a:prstDash val="solid"/>
            <a:round/>
            <a:headEnd len="sm" w="sm" type="none"/>
            <a:tailEnd len="sm" w="sm" type="none"/>
          </a:ln>
        </p:spPr>
        <p:txBody>
          <a:bodyPr anchorCtr="0" anchor="t" bIns="0" lIns="0" spcFirstLastPara="1" rIns="0" wrap="square" tIns="13950">
            <a:spAutoFit/>
          </a:bodyPr>
          <a:lstStyle/>
          <a:p>
            <a:pPr indent="0" lvl="0" marL="0" rtl="0" algn="l">
              <a:lnSpc>
                <a:spcPct val="100000"/>
              </a:lnSpc>
              <a:spcBef>
                <a:spcPts val="0"/>
              </a:spcBef>
              <a:spcAft>
                <a:spcPts val="0"/>
              </a:spcAft>
              <a:buNone/>
            </a:pPr>
            <a:r>
              <a:t/>
            </a:r>
            <a:endParaRPr sz="1850">
              <a:latin typeface="Times New Roman"/>
              <a:ea typeface="Times New Roman"/>
              <a:cs typeface="Times New Roman"/>
              <a:sym typeface="Times New Roman"/>
            </a:endParaRPr>
          </a:p>
          <a:p>
            <a:pPr indent="0" lvl="0" marL="285115" rtl="0" algn="l">
              <a:lnSpc>
                <a:spcPct val="100000"/>
              </a:lnSpc>
              <a:spcBef>
                <a:spcPts val="0"/>
              </a:spcBef>
              <a:spcAft>
                <a:spcPts val="0"/>
              </a:spcAft>
              <a:buNone/>
            </a:pPr>
            <a:r>
              <a:rPr b="1" lang="en-US" sz="1850">
                <a:solidFill>
                  <a:srgbClr val="3F8069"/>
                </a:solidFill>
                <a:latin typeface="Courier New"/>
                <a:ea typeface="Courier New"/>
                <a:cs typeface="Courier New"/>
                <a:sym typeface="Courier New"/>
              </a:rPr>
              <a:t>IN PROGRESS</a:t>
            </a:r>
            <a:endParaRPr sz="185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850">
              <a:latin typeface="Courier New"/>
              <a:ea typeface="Courier New"/>
              <a:cs typeface="Courier New"/>
              <a:sym typeface="Courier New"/>
            </a:endParaRPr>
          </a:p>
          <a:p>
            <a:pPr indent="0" lvl="0" marL="0" rtl="0" algn="l">
              <a:lnSpc>
                <a:spcPct val="100000"/>
              </a:lnSpc>
              <a:spcBef>
                <a:spcPts val="1945"/>
              </a:spcBef>
              <a:spcAft>
                <a:spcPts val="0"/>
              </a:spcAft>
              <a:buNone/>
            </a:pPr>
            <a:r>
              <a:t/>
            </a:r>
            <a:endParaRPr sz="1850">
              <a:latin typeface="Courier New"/>
              <a:ea typeface="Courier New"/>
              <a:cs typeface="Courier New"/>
              <a:sym typeface="Courier New"/>
            </a:endParaRPr>
          </a:p>
          <a:p>
            <a:pPr indent="0" lvl="0" marL="285115" rtl="0" algn="l">
              <a:lnSpc>
                <a:spcPct val="100000"/>
              </a:lnSpc>
              <a:spcBef>
                <a:spcPts val="0"/>
              </a:spcBef>
              <a:spcAft>
                <a:spcPts val="0"/>
              </a:spcAft>
              <a:buNone/>
            </a:pPr>
            <a:r>
              <a:rPr lang="en-US" sz="2250">
                <a:solidFill>
                  <a:srgbClr val="202F40"/>
                </a:solidFill>
                <a:latin typeface="Verdana"/>
                <a:ea typeface="Verdana"/>
                <a:cs typeface="Verdana"/>
                <a:sym typeface="Verdana"/>
              </a:rPr>
              <a:t>Đang thực hiện · giới hạn WIP</a:t>
            </a:r>
            <a:endParaRPr sz="2250">
              <a:latin typeface="Verdana"/>
              <a:ea typeface="Verdana"/>
              <a:cs typeface="Verdana"/>
              <a:sym typeface="Verdana"/>
            </a:endParaRPr>
          </a:p>
        </p:txBody>
      </p:sp>
      <p:sp>
        <p:nvSpPr>
          <p:cNvPr id="235" name="Google Shape;235;p13"/>
          <p:cNvSpPr txBox="1"/>
          <p:nvPr/>
        </p:nvSpPr>
        <p:spPr>
          <a:xfrm>
            <a:off x="11696699" y="3143250"/>
            <a:ext cx="4572000" cy="3333750"/>
          </a:xfrm>
          <a:prstGeom prst="rect">
            <a:avLst/>
          </a:prstGeom>
          <a:solidFill>
            <a:srgbClr val="FFFFFF"/>
          </a:solidFill>
          <a:ln cap="flat" cmpd="sng" w="38075">
            <a:solidFill>
              <a:srgbClr val="D8DEDA"/>
            </a:solidFill>
            <a:prstDash val="solid"/>
            <a:round/>
            <a:headEnd len="sm" w="sm" type="none"/>
            <a:tailEnd len="sm" w="sm" type="none"/>
          </a:ln>
        </p:spPr>
        <p:txBody>
          <a:bodyPr anchorCtr="0" anchor="t" bIns="0" lIns="0" spcFirstLastPara="1" rIns="0" wrap="square" tIns="13950">
            <a:spAutoFit/>
          </a:bodyPr>
          <a:lstStyle/>
          <a:p>
            <a:pPr indent="0" lvl="0" marL="0" rtl="0" algn="l">
              <a:lnSpc>
                <a:spcPct val="100000"/>
              </a:lnSpc>
              <a:spcBef>
                <a:spcPts val="0"/>
              </a:spcBef>
              <a:spcAft>
                <a:spcPts val="0"/>
              </a:spcAft>
              <a:buNone/>
            </a:pPr>
            <a:r>
              <a:t/>
            </a:r>
            <a:endParaRPr sz="1850">
              <a:latin typeface="Times New Roman"/>
              <a:ea typeface="Times New Roman"/>
              <a:cs typeface="Times New Roman"/>
              <a:sym typeface="Times New Roman"/>
            </a:endParaRPr>
          </a:p>
          <a:p>
            <a:pPr indent="0" lvl="0" marL="285115" rtl="0" algn="l">
              <a:lnSpc>
                <a:spcPct val="100000"/>
              </a:lnSpc>
              <a:spcBef>
                <a:spcPts val="0"/>
              </a:spcBef>
              <a:spcAft>
                <a:spcPts val="0"/>
              </a:spcAft>
              <a:buNone/>
            </a:pPr>
            <a:r>
              <a:rPr b="1" lang="en-US" sz="1850">
                <a:solidFill>
                  <a:srgbClr val="3F8069"/>
                </a:solidFill>
                <a:latin typeface="Courier New"/>
                <a:ea typeface="Courier New"/>
                <a:cs typeface="Courier New"/>
                <a:sym typeface="Courier New"/>
              </a:rPr>
              <a:t>DONE</a:t>
            </a:r>
            <a:endParaRPr sz="185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850">
              <a:latin typeface="Courier New"/>
              <a:ea typeface="Courier New"/>
              <a:cs typeface="Courier New"/>
              <a:sym typeface="Courier New"/>
            </a:endParaRPr>
          </a:p>
          <a:p>
            <a:pPr indent="0" lvl="0" marL="0" rtl="0" algn="l">
              <a:lnSpc>
                <a:spcPct val="100000"/>
              </a:lnSpc>
              <a:spcBef>
                <a:spcPts val="1945"/>
              </a:spcBef>
              <a:spcAft>
                <a:spcPts val="0"/>
              </a:spcAft>
              <a:buNone/>
            </a:pPr>
            <a:r>
              <a:t/>
            </a:r>
            <a:endParaRPr sz="1850">
              <a:latin typeface="Courier New"/>
              <a:ea typeface="Courier New"/>
              <a:cs typeface="Courier New"/>
              <a:sym typeface="Courier New"/>
            </a:endParaRPr>
          </a:p>
          <a:p>
            <a:pPr indent="0" lvl="0" marL="285115" rtl="0" algn="l">
              <a:lnSpc>
                <a:spcPct val="100000"/>
              </a:lnSpc>
              <a:spcBef>
                <a:spcPts val="0"/>
              </a:spcBef>
              <a:spcAft>
                <a:spcPts val="0"/>
              </a:spcAft>
              <a:buNone/>
            </a:pPr>
            <a:r>
              <a:rPr lang="en-US" sz="2250">
                <a:solidFill>
                  <a:srgbClr val="202F40"/>
                </a:solidFill>
                <a:latin typeface="Verdana"/>
                <a:ea typeface="Verdana"/>
                <a:cs typeface="Verdana"/>
                <a:sym typeface="Verdana"/>
              </a:rPr>
              <a:t>Đã hoàn thành</a:t>
            </a:r>
            <a:endParaRPr sz="2250">
              <a:latin typeface="Verdana"/>
              <a:ea typeface="Verdana"/>
              <a:cs typeface="Verdana"/>
              <a:sym typeface="Verdana"/>
            </a:endParaRPr>
          </a:p>
        </p:txBody>
      </p:sp>
      <p:sp>
        <p:nvSpPr>
          <p:cNvPr id="236" name="Google Shape;236;p13"/>
          <p:cNvSpPr txBox="1"/>
          <p:nvPr/>
        </p:nvSpPr>
        <p:spPr>
          <a:xfrm>
            <a:off x="1206499" y="9618979"/>
            <a:ext cx="269367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FLOW · CONTINUITY · WIP</a:t>
            </a:r>
            <a:endParaRPr sz="1350">
              <a:latin typeface="Courier New"/>
              <a:ea typeface="Courier New"/>
              <a:cs typeface="Courier New"/>
              <a:sym typeface="Courier New"/>
            </a:endParaRPr>
          </a:p>
        </p:txBody>
      </p:sp>
      <p:pic>
        <p:nvPicPr>
          <p:cNvPr id="237" name="Google Shape;237;p13" title="Logo_Color.png"/>
          <p:cNvPicPr preferRelativeResize="0"/>
          <p:nvPr/>
        </p:nvPicPr>
        <p:blipFill>
          <a:blip r:embed="rId3">
            <a:alphaModFix/>
          </a:blip>
          <a:stretch>
            <a:fillRect/>
          </a:stretch>
        </p:blipFill>
        <p:spPr>
          <a:xfrm>
            <a:off x="16144875" y="0"/>
            <a:ext cx="1928827" cy="192882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4"/>
          <p:cNvSpPr txBox="1"/>
          <p:nvPr/>
        </p:nvSpPr>
        <p:spPr>
          <a:xfrm>
            <a:off x="1206499" y="1014094"/>
            <a:ext cx="297815"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86C7AC"/>
                </a:solidFill>
                <a:latin typeface="Courier New"/>
                <a:ea typeface="Courier New"/>
                <a:cs typeface="Courier New"/>
                <a:sym typeface="Courier New"/>
              </a:rPr>
              <a:t>04</a:t>
            </a:r>
            <a:endParaRPr sz="1650">
              <a:latin typeface="Courier New"/>
              <a:ea typeface="Courier New"/>
              <a:cs typeface="Courier New"/>
              <a:sym typeface="Courier New"/>
            </a:endParaRPr>
          </a:p>
        </p:txBody>
      </p:sp>
      <p:sp>
        <p:nvSpPr>
          <p:cNvPr descr="$PPTXTitle" id="243" name="Google Shape;243;p14"/>
          <p:cNvSpPr txBox="1"/>
          <p:nvPr>
            <p:ph type="title"/>
          </p:nvPr>
        </p:nvSpPr>
        <p:spPr>
          <a:xfrm>
            <a:off x="1206500" y="3653675"/>
            <a:ext cx="16099200" cy="22293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7200">
                <a:solidFill>
                  <a:srgbClr val="FFFFFF"/>
                </a:solidFill>
              </a:rPr>
              <a:t>Git &amp; Workflow Chuẩn </a:t>
            </a:r>
            <a:endParaRPr sz="7200">
              <a:solidFill>
                <a:srgbClr val="FFFFFF"/>
              </a:solidFill>
            </a:endParaRPr>
          </a:p>
          <a:p>
            <a:pPr indent="0" lvl="0" marL="12700" rtl="0" algn="ctr">
              <a:lnSpc>
                <a:spcPct val="100000"/>
              </a:lnSpc>
              <a:spcBef>
                <a:spcPts val="0"/>
              </a:spcBef>
              <a:spcAft>
                <a:spcPts val="0"/>
              </a:spcAft>
              <a:buNone/>
            </a:pPr>
            <a:r>
              <a:rPr lang="en-US" sz="7200">
                <a:solidFill>
                  <a:srgbClr val="FFFFFF"/>
                </a:solidFill>
              </a:rPr>
              <a:t>Doanh Nghiệp</a:t>
            </a:r>
            <a:endParaRPr sz="7200"/>
          </a:p>
        </p:txBody>
      </p:sp>
      <p:sp>
        <p:nvSpPr>
          <p:cNvPr id="244" name="Google Shape;244;p14"/>
          <p:cNvSpPr txBox="1"/>
          <p:nvPr/>
        </p:nvSpPr>
        <p:spPr>
          <a:xfrm>
            <a:off x="1206499" y="9618979"/>
            <a:ext cx="339344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DAY 1  /  KICK-OFF &amp; WORKFLOW</a:t>
            </a:r>
            <a:endParaRPr sz="1350">
              <a:latin typeface="Courier New"/>
              <a:ea typeface="Courier New"/>
              <a:cs typeface="Courier New"/>
              <a:sym typeface="Courier New"/>
            </a:endParaRPr>
          </a:p>
        </p:txBody>
      </p:sp>
      <p:pic>
        <p:nvPicPr>
          <p:cNvPr id="245" name="Google Shape;245;p14" title="Logo_white.png"/>
          <p:cNvPicPr preferRelativeResize="0"/>
          <p:nvPr/>
        </p:nvPicPr>
        <p:blipFill>
          <a:blip r:embed="rId3">
            <a:alphaModFix/>
          </a:blip>
          <a:stretch>
            <a:fillRect/>
          </a:stretch>
        </p:blipFill>
        <p:spPr>
          <a:xfrm>
            <a:off x="15939500" y="167000"/>
            <a:ext cx="2051400" cy="1681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5"/>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04.1</a:t>
            </a:r>
            <a:endParaRPr sz="1650">
              <a:latin typeface="Courier New"/>
              <a:ea typeface="Courier New"/>
              <a:cs typeface="Courier New"/>
              <a:sym typeface="Courier New"/>
            </a:endParaRPr>
          </a:p>
        </p:txBody>
      </p:sp>
      <p:sp>
        <p:nvSpPr>
          <p:cNvPr descr="$PPTXTitle" id="251" name="Google Shape;251;p15"/>
          <p:cNvSpPr txBox="1"/>
          <p:nvPr>
            <p:ph type="title"/>
          </p:nvPr>
        </p:nvSpPr>
        <p:spPr>
          <a:xfrm>
            <a:off x="1206502" y="1224600"/>
            <a:ext cx="7633800" cy="682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Git Cơ Bản</a:t>
            </a:r>
            <a:endParaRPr/>
          </a:p>
        </p:txBody>
      </p:sp>
      <p:sp>
        <p:nvSpPr>
          <p:cNvPr id="252" name="Google Shape;252;p15"/>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3" name="Google Shape;253;p15"/>
          <p:cNvSpPr txBox="1"/>
          <p:nvPr/>
        </p:nvSpPr>
        <p:spPr>
          <a:xfrm>
            <a:off x="11683999" y="2458370"/>
            <a:ext cx="3678554" cy="697103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3F8069"/>
                </a:solidFill>
                <a:latin typeface="Courier New"/>
                <a:ea typeface="Courier New"/>
                <a:cs typeface="Courier New"/>
                <a:sym typeface="Courier New"/>
              </a:rPr>
              <a:t>BRANCH</a:t>
            </a:r>
            <a:endParaRPr sz="1800">
              <a:latin typeface="Courier New"/>
              <a:ea typeface="Courier New"/>
              <a:cs typeface="Courier New"/>
              <a:sym typeface="Courier New"/>
            </a:endParaRPr>
          </a:p>
          <a:p>
            <a:pPr indent="0" lvl="0" marL="0" rtl="0" algn="l">
              <a:lnSpc>
                <a:spcPct val="100000"/>
              </a:lnSpc>
              <a:spcBef>
                <a:spcPts val="385"/>
              </a:spcBef>
              <a:spcAft>
                <a:spcPts val="0"/>
              </a:spcAft>
              <a:buNone/>
            </a:pPr>
            <a:r>
              <a:t/>
            </a:r>
            <a:endParaRPr sz="1800">
              <a:latin typeface="Courier New"/>
              <a:ea typeface="Courier New"/>
              <a:cs typeface="Courier New"/>
              <a:sym typeface="Courier New"/>
            </a:endParaRPr>
          </a:p>
          <a:p>
            <a:pPr indent="0" lvl="0" marL="12700" rtl="0" algn="l">
              <a:lnSpc>
                <a:spcPct val="100000"/>
              </a:lnSpc>
              <a:spcBef>
                <a:spcPts val="0"/>
              </a:spcBef>
              <a:spcAft>
                <a:spcPts val="0"/>
              </a:spcAft>
              <a:buNone/>
            </a:pPr>
            <a:r>
              <a:rPr lang="en-US" sz="2150">
                <a:solidFill>
                  <a:srgbClr val="202F40"/>
                </a:solidFill>
                <a:latin typeface="Verdana"/>
                <a:ea typeface="Verdana"/>
                <a:cs typeface="Verdana"/>
                <a:sym typeface="Verdana"/>
              </a:rPr>
              <a:t>Tạo nhánh làm việc độc lập</a:t>
            </a:r>
            <a:endParaRPr sz="2150">
              <a:latin typeface="Verdana"/>
              <a:ea typeface="Verdana"/>
              <a:cs typeface="Verdana"/>
              <a:sym typeface="Verdana"/>
            </a:endParaRPr>
          </a:p>
          <a:p>
            <a:pPr indent="0" lvl="0" marL="12700" rtl="0" algn="l">
              <a:lnSpc>
                <a:spcPct val="100000"/>
              </a:lnSpc>
              <a:spcBef>
                <a:spcPts val="2315"/>
              </a:spcBef>
              <a:spcAft>
                <a:spcPts val="0"/>
              </a:spcAft>
              <a:buNone/>
            </a:pPr>
            <a:r>
              <a:rPr b="1" lang="en-US" sz="1800">
                <a:solidFill>
                  <a:srgbClr val="3F8069"/>
                </a:solidFill>
                <a:latin typeface="Courier New"/>
                <a:ea typeface="Courier New"/>
                <a:cs typeface="Courier New"/>
                <a:sym typeface="Courier New"/>
              </a:rPr>
              <a:t>COMMIT</a:t>
            </a:r>
            <a:endParaRPr sz="1800">
              <a:latin typeface="Courier New"/>
              <a:ea typeface="Courier New"/>
              <a:cs typeface="Courier New"/>
              <a:sym typeface="Courier New"/>
            </a:endParaRPr>
          </a:p>
          <a:p>
            <a:pPr indent="0" lvl="0" marL="0" rtl="0" algn="l">
              <a:lnSpc>
                <a:spcPct val="100000"/>
              </a:lnSpc>
              <a:spcBef>
                <a:spcPts val="385"/>
              </a:spcBef>
              <a:spcAft>
                <a:spcPts val="0"/>
              </a:spcAft>
              <a:buNone/>
            </a:pPr>
            <a:r>
              <a:t/>
            </a:r>
            <a:endParaRPr sz="1800">
              <a:latin typeface="Courier New"/>
              <a:ea typeface="Courier New"/>
              <a:cs typeface="Courier New"/>
              <a:sym typeface="Courier New"/>
            </a:endParaRPr>
          </a:p>
          <a:p>
            <a:pPr indent="0" lvl="0" marL="12700" rtl="0" algn="l">
              <a:lnSpc>
                <a:spcPct val="100000"/>
              </a:lnSpc>
              <a:spcBef>
                <a:spcPts val="5"/>
              </a:spcBef>
              <a:spcAft>
                <a:spcPts val="0"/>
              </a:spcAft>
              <a:buNone/>
            </a:pPr>
            <a:r>
              <a:rPr lang="en-US" sz="2150">
                <a:solidFill>
                  <a:srgbClr val="202F40"/>
                </a:solidFill>
                <a:latin typeface="Verdana"/>
                <a:ea typeface="Verdana"/>
                <a:cs typeface="Verdana"/>
                <a:sym typeface="Verdana"/>
              </a:rPr>
              <a:t>Lưu một mốc thay đổi</a:t>
            </a:r>
            <a:endParaRPr sz="2150">
              <a:latin typeface="Verdana"/>
              <a:ea typeface="Verdana"/>
              <a:cs typeface="Verdana"/>
              <a:sym typeface="Verdana"/>
            </a:endParaRPr>
          </a:p>
          <a:p>
            <a:pPr indent="0" lvl="0" marL="12700" rtl="0" algn="l">
              <a:lnSpc>
                <a:spcPct val="100000"/>
              </a:lnSpc>
              <a:spcBef>
                <a:spcPts val="2340"/>
              </a:spcBef>
              <a:spcAft>
                <a:spcPts val="0"/>
              </a:spcAft>
              <a:buNone/>
            </a:pPr>
            <a:r>
              <a:rPr b="1" lang="en-US" sz="1800">
                <a:solidFill>
                  <a:srgbClr val="3F8069"/>
                </a:solidFill>
                <a:latin typeface="Courier New"/>
                <a:ea typeface="Courier New"/>
                <a:cs typeface="Courier New"/>
                <a:sym typeface="Courier New"/>
              </a:rPr>
              <a:t>PUSH</a:t>
            </a:r>
            <a:endParaRPr sz="1800">
              <a:latin typeface="Courier New"/>
              <a:ea typeface="Courier New"/>
              <a:cs typeface="Courier New"/>
              <a:sym typeface="Courier New"/>
            </a:endParaRPr>
          </a:p>
          <a:p>
            <a:pPr indent="0" lvl="0" marL="0" rtl="0" algn="l">
              <a:lnSpc>
                <a:spcPct val="100000"/>
              </a:lnSpc>
              <a:spcBef>
                <a:spcPts val="385"/>
              </a:spcBef>
              <a:spcAft>
                <a:spcPts val="0"/>
              </a:spcAft>
              <a:buNone/>
            </a:pPr>
            <a:r>
              <a:t/>
            </a:r>
            <a:endParaRPr sz="1800">
              <a:latin typeface="Courier New"/>
              <a:ea typeface="Courier New"/>
              <a:cs typeface="Courier New"/>
              <a:sym typeface="Courier New"/>
            </a:endParaRPr>
          </a:p>
          <a:p>
            <a:pPr indent="0" lvl="0" marL="12700" rtl="0" algn="l">
              <a:lnSpc>
                <a:spcPct val="100000"/>
              </a:lnSpc>
              <a:spcBef>
                <a:spcPts val="0"/>
              </a:spcBef>
              <a:spcAft>
                <a:spcPts val="0"/>
              </a:spcAft>
              <a:buNone/>
            </a:pPr>
            <a:r>
              <a:rPr lang="en-US" sz="2150">
                <a:solidFill>
                  <a:srgbClr val="202F40"/>
                </a:solidFill>
                <a:latin typeface="Verdana"/>
                <a:ea typeface="Verdana"/>
                <a:cs typeface="Verdana"/>
                <a:sym typeface="Verdana"/>
              </a:rPr>
              <a:t>Đẩy thay đổi lên remote</a:t>
            </a:r>
            <a:endParaRPr sz="2150">
              <a:latin typeface="Verdana"/>
              <a:ea typeface="Verdana"/>
              <a:cs typeface="Verdana"/>
              <a:sym typeface="Verdana"/>
            </a:endParaRPr>
          </a:p>
          <a:p>
            <a:pPr indent="0" lvl="0" marL="12700" rtl="0" algn="l">
              <a:lnSpc>
                <a:spcPct val="100000"/>
              </a:lnSpc>
              <a:spcBef>
                <a:spcPts val="2345"/>
              </a:spcBef>
              <a:spcAft>
                <a:spcPts val="0"/>
              </a:spcAft>
              <a:buNone/>
            </a:pPr>
            <a:r>
              <a:rPr b="1" lang="en-US" sz="1800">
                <a:solidFill>
                  <a:srgbClr val="3F8069"/>
                </a:solidFill>
                <a:latin typeface="Courier New"/>
                <a:ea typeface="Courier New"/>
                <a:cs typeface="Courier New"/>
                <a:sym typeface="Courier New"/>
              </a:rPr>
              <a:t>PULL</a:t>
            </a:r>
            <a:endParaRPr sz="1800">
              <a:latin typeface="Courier New"/>
              <a:ea typeface="Courier New"/>
              <a:cs typeface="Courier New"/>
              <a:sym typeface="Courier New"/>
            </a:endParaRPr>
          </a:p>
          <a:p>
            <a:pPr indent="0" lvl="0" marL="0" rtl="0" algn="l">
              <a:lnSpc>
                <a:spcPct val="100000"/>
              </a:lnSpc>
              <a:spcBef>
                <a:spcPts val="385"/>
              </a:spcBef>
              <a:spcAft>
                <a:spcPts val="0"/>
              </a:spcAft>
              <a:buNone/>
            </a:pPr>
            <a:r>
              <a:t/>
            </a:r>
            <a:endParaRPr sz="1800">
              <a:latin typeface="Courier New"/>
              <a:ea typeface="Courier New"/>
              <a:cs typeface="Courier New"/>
              <a:sym typeface="Courier New"/>
            </a:endParaRPr>
          </a:p>
          <a:p>
            <a:pPr indent="0" lvl="0" marL="12700" rtl="0" algn="l">
              <a:lnSpc>
                <a:spcPct val="100000"/>
              </a:lnSpc>
              <a:spcBef>
                <a:spcPts val="0"/>
              </a:spcBef>
              <a:spcAft>
                <a:spcPts val="0"/>
              </a:spcAft>
              <a:buNone/>
            </a:pPr>
            <a:r>
              <a:rPr lang="en-US" sz="2150">
                <a:solidFill>
                  <a:srgbClr val="202F40"/>
                </a:solidFill>
                <a:latin typeface="Verdana"/>
                <a:ea typeface="Verdana"/>
                <a:cs typeface="Verdana"/>
                <a:sym typeface="Verdana"/>
              </a:rPr>
              <a:t>Nhận thay đổi mới</a:t>
            </a:r>
            <a:endParaRPr sz="2150">
              <a:latin typeface="Verdana"/>
              <a:ea typeface="Verdana"/>
              <a:cs typeface="Verdana"/>
              <a:sym typeface="Verdana"/>
            </a:endParaRPr>
          </a:p>
          <a:p>
            <a:pPr indent="0" lvl="0" marL="12700" rtl="0" algn="l">
              <a:lnSpc>
                <a:spcPct val="100000"/>
              </a:lnSpc>
              <a:spcBef>
                <a:spcPts val="2345"/>
              </a:spcBef>
              <a:spcAft>
                <a:spcPts val="0"/>
              </a:spcAft>
              <a:buNone/>
            </a:pPr>
            <a:r>
              <a:rPr b="1" lang="en-US" sz="1800">
                <a:solidFill>
                  <a:srgbClr val="3F8069"/>
                </a:solidFill>
                <a:latin typeface="Courier New"/>
                <a:ea typeface="Courier New"/>
                <a:cs typeface="Courier New"/>
                <a:sym typeface="Courier New"/>
              </a:rPr>
              <a:t>MERGE</a:t>
            </a:r>
            <a:endParaRPr sz="1800">
              <a:latin typeface="Courier New"/>
              <a:ea typeface="Courier New"/>
              <a:cs typeface="Courier New"/>
              <a:sym typeface="Courier New"/>
            </a:endParaRPr>
          </a:p>
          <a:p>
            <a:pPr indent="0" lvl="0" marL="0" rtl="0" algn="l">
              <a:lnSpc>
                <a:spcPct val="100000"/>
              </a:lnSpc>
              <a:spcBef>
                <a:spcPts val="385"/>
              </a:spcBef>
              <a:spcAft>
                <a:spcPts val="0"/>
              </a:spcAft>
              <a:buNone/>
            </a:pPr>
            <a:r>
              <a:t/>
            </a:r>
            <a:endParaRPr sz="1800">
              <a:latin typeface="Courier New"/>
              <a:ea typeface="Courier New"/>
              <a:cs typeface="Courier New"/>
              <a:sym typeface="Courier New"/>
            </a:endParaRPr>
          </a:p>
          <a:p>
            <a:pPr indent="0" lvl="0" marL="12700" rtl="0" algn="l">
              <a:lnSpc>
                <a:spcPct val="100000"/>
              </a:lnSpc>
              <a:spcBef>
                <a:spcPts val="0"/>
              </a:spcBef>
              <a:spcAft>
                <a:spcPts val="0"/>
              </a:spcAft>
              <a:buNone/>
            </a:pPr>
            <a:r>
              <a:rPr lang="en-US" sz="2150">
                <a:solidFill>
                  <a:srgbClr val="202F40"/>
                </a:solidFill>
                <a:latin typeface="Verdana"/>
                <a:ea typeface="Verdana"/>
                <a:cs typeface="Verdana"/>
                <a:sym typeface="Verdana"/>
              </a:rPr>
              <a:t>Hợp nhất các nhánh</a:t>
            </a:r>
            <a:endParaRPr sz="2150">
              <a:latin typeface="Verdana"/>
              <a:ea typeface="Verdana"/>
              <a:cs typeface="Verdana"/>
              <a:sym typeface="Verdana"/>
            </a:endParaRPr>
          </a:p>
          <a:p>
            <a:pPr indent="0" lvl="0" marL="12700" rtl="0" algn="l">
              <a:lnSpc>
                <a:spcPct val="100000"/>
              </a:lnSpc>
              <a:spcBef>
                <a:spcPts val="2345"/>
              </a:spcBef>
              <a:spcAft>
                <a:spcPts val="0"/>
              </a:spcAft>
              <a:buNone/>
            </a:pPr>
            <a:r>
              <a:rPr b="1" lang="en-US" sz="1800">
                <a:solidFill>
                  <a:srgbClr val="3F8069"/>
                </a:solidFill>
                <a:latin typeface="Courier New"/>
                <a:ea typeface="Courier New"/>
                <a:cs typeface="Courier New"/>
                <a:sym typeface="Courier New"/>
              </a:rPr>
              <a:t>CONFLICT</a:t>
            </a:r>
            <a:endParaRPr sz="1800">
              <a:latin typeface="Courier New"/>
              <a:ea typeface="Courier New"/>
              <a:cs typeface="Courier New"/>
              <a:sym typeface="Courier New"/>
            </a:endParaRPr>
          </a:p>
          <a:p>
            <a:pPr indent="0" lvl="0" marL="0" rtl="0" algn="l">
              <a:lnSpc>
                <a:spcPct val="100000"/>
              </a:lnSpc>
              <a:spcBef>
                <a:spcPts val="385"/>
              </a:spcBef>
              <a:spcAft>
                <a:spcPts val="0"/>
              </a:spcAft>
              <a:buNone/>
            </a:pPr>
            <a:r>
              <a:t/>
            </a:r>
            <a:endParaRPr sz="1800">
              <a:latin typeface="Courier New"/>
              <a:ea typeface="Courier New"/>
              <a:cs typeface="Courier New"/>
              <a:sym typeface="Courier New"/>
            </a:endParaRPr>
          </a:p>
          <a:p>
            <a:pPr indent="0" lvl="0" marL="12700" rtl="0" algn="l">
              <a:lnSpc>
                <a:spcPct val="100000"/>
              </a:lnSpc>
              <a:spcBef>
                <a:spcPts val="0"/>
              </a:spcBef>
              <a:spcAft>
                <a:spcPts val="0"/>
              </a:spcAft>
              <a:buNone/>
            </a:pPr>
            <a:r>
              <a:rPr lang="en-US" sz="2150">
                <a:solidFill>
                  <a:srgbClr val="202F40"/>
                </a:solidFill>
                <a:latin typeface="Verdana"/>
                <a:ea typeface="Verdana"/>
                <a:cs typeface="Verdana"/>
                <a:sym typeface="Verdana"/>
              </a:rPr>
              <a:t>Xử lý thay đổi xung đột</a:t>
            </a:r>
            <a:endParaRPr sz="2150">
              <a:latin typeface="Verdana"/>
              <a:ea typeface="Verdana"/>
              <a:cs typeface="Verdana"/>
              <a:sym typeface="Verdana"/>
            </a:endParaRPr>
          </a:p>
        </p:txBody>
      </p:sp>
      <p:sp>
        <p:nvSpPr>
          <p:cNvPr id="254" name="Google Shape;254;p15"/>
          <p:cNvSpPr txBox="1"/>
          <p:nvPr/>
        </p:nvSpPr>
        <p:spPr>
          <a:xfrm>
            <a:off x="1206499" y="9618979"/>
            <a:ext cx="187706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GIT FUNDAMENTALS</a:t>
            </a:r>
            <a:endParaRPr sz="1350">
              <a:latin typeface="Courier New"/>
              <a:ea typeface="Courier New"/>
              <a:cs typeface="Courier New"/>
              <a:sym typeface="Courier New"/>
            </a:endParaRPr>
          </a:p>
        </p:txBody>
      </p:sp>
      <p:sp>
        <p:nvSpPr>
          <p:cNvPr id="255" name="Google Shape;255;p15"/>
          <p:cNvSpPr txBox="1"/>
          <p:nvPr>
            <p:ph idx="1" type="body"/>
          </p:nvPr>
        </p:nvSpPr>
        <p:spPr>
          <a:xfrm>
            <a:off x="1016000" y="2662968"/>
            <a:ext cx="10081260" cy="3458210"/>
          </a:xfrm>
          <a:prstGeom prst="rect">
            <a:avLst/>
          </a:prstGeom>
          <a:noFill/>
          <a:ln>
            <a:noFill/>
          </a:ln>
        </p:spPr>
        <p:txBody>
          <a:bodyPr anchorCtr="0" anchor="t" bIns="0" lIns="0" spcFirstLastPara="1" rIns="0" wrap="square" tIns="12700">
            <a:spAutoFit/>
          </a:bodyPr>
          <a:lstStyle/>
          <a:p>
            <a:pPr indent="0" lvl="0" marL="12700" marR="5080" rtl="0" algn="just">
              <a:lnSpc>
                <a:spcPct val="115199"/>
              </a:lnSpc>
              <a:spcBef>
                <a:spcPts val="0"/>
              </a:spcBef>
              <a:spcAft>
                <a:spcPts val="0"/>
              </a:spcAft>
              <a:buNone/>
            </a:pPr>
            <a:r>
              <a:rPr lang="en-US"/>
              <a:t>Khi một đội nhóm làm việc trên cùng 1 codebase, việc quản lý source code là vô cùng khó khăn để tiến hành thủ công. Để làm việc trong 1 project, các dev team sẽ sử dụng các công cụ Version Control, phổ biến nhất là Git.</a:t>
            </a:r>
            <a:endParaRPr/>
          </a:p>
          <a:p>
            <a:pPr indent="0" lvl="0" marL="12700" marR="5080" rtl="0" algn="just">
              <a:lnSpc>
                <a:spcPct val="115199"/>
              </a:lnSpc>
              <a:spcBef>
                <a:spcPts val="2355"/>
              </a:spcBef>
              <a:spcAft>
                <a:spcPts val="0"/>
              </a:spcAft>
              <a:buNone/>
            </a:pPr>
            <a:r>
              <a:rPr b="1" lang="en-US">
                <a:latin typeface="Tahoma"/>
                <a:ea typeface="Tahoma"/>
                <a:cs typeface="Tahoma"/>
                <a:sym typeface="Tahoma"/>
              </a:rPr>
              <a:t>Git </a:t>
            </a:r>
            <a:r>
              <a:rPr lang="en-US"/>
              <a:t>là hệ thống quản lý phiên bản phân tán (Distributed Version Control System) miễn phí, mã nguồn mở.</a:t>
            </a:r>
            <a:endParaRPr/>
          </a:p>
        </p:txBody>
      </p:sp>
      <p:sp>
        <p:nvSpPr>
          <p:cNvPr id="256" name="Google Shape;256;p15"/>
          <p:cNvSpPr txBox="1"/>
          <p:nvPr/>
        </p:nvSpPr>
        <p:spPr>
          <a:xfrm>
            <a:off x="1016000" y="6726236"/>
            <a:ext cx="10081260" cy="2263775"/>
          </a:xfrm>
          <a:prstGeom prst="rect">
            <a:avLst/>
          </a:prstGeom>
          <a:noFill/>
          <a:ln>
            <a:noFill/>
          </a:ln>
        </p:spPr>
        <p:txBody>
          <a:bodyPr anchorCtr="0" anchor="t" bIns="0" lIns="0" spcFirstLastPara="1" rIns="0" wrap="square" tIns="12700">
            <a:spAutoFit/>
          </a:bodyPr>
          <a:lstStyle/>
          <a:p>
            <a:pPr indent="0" lvl="0" marL="12700" marR="5080" rtl="0" algn="just">
              <a:lnSpc>
                <a:spcPct val="115199"/>
              </a:lnSpc>
              <a:spcBef>
                <a:spcPts val="0"/>
              </a:spcBef>
              <a:spcAft>
                <a:spcPts val="0"/>
              </a:spcAft>
              <a:buNone/>
            </a:pPr>
            <a:r>
              <a:rPr b="1" lang="en-US" sz="2550">
                <a:latin typeface="Tahoma"/>
                <a:ea typeface="Tahoma"/>
                <a:cs typeface="Tahoma"/>
                <a:sym typeface="Tahoma"/>
              </a:rPr>
              <a:t>GitHub </a:t>
            </a:r>
            <a:r>
              <a:rPr lang="en-US" sz="2550">
                <a:latin typeface="Verdana"/>
                <a:ea typeface="Verdana"/>
                <a:cs typeface="Verdana"/>
                <a:sym typeface="Verdana"/>
              </a:rPr>
              <a:t>là trang web lư u trữ mã nguồn trực tuyến dựa trên hệ thống Git. Nó giống như một kho chứa code và là mạng xã hội cho người làm nghề lập trình. Mọi người dùng chung để lư u code, sửa lỗi và làm việc nhóm dễ dàng</a:t>
            </a:r>
            <a:endParaRPr sz="2550">
              <a:latin typeface="Verdana"/>
              <a:ea typeface="Verdana"/>
              <a:cs typeface="Verdana"/>
              <a:sym typeface="Verdana"/>
            </a:endParaRPr>
          </a:p>
        </p:txBody>
      </p:sp>
      <p:pic>
        <p:nvPicPr>
          <p:cNvPr id="257" name="Google Shape;257;p15" title="Logo_Color.png"/>
          <p:cNvPicPr preferRelativeResize="0"/>
          <p:nvPr/>
        </p:nvPicPr>
        <p:blipFill>
          <a:blip r:embed="rId3">
            <a:alphaModFix/>
          </a:blip>
          <a:stretch>
            <a:fillRect/>
          </a:stretch>
        </p:blipFill>
        <p:spPr>
          <a:xfrm>
            <a:off x="16144875" y="0"/>
            <a:ext cx="1928827" cy="192882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6"/>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04.1</a:t>
            </a:r>
            <a:endParaRPr sz="1650">
              <a:latin typeface="Courier New"/>
              <a:ea typeface="Courier New"/>
              <a:cs typeface="Courier New"/>
              <a:sym typeface="Courier New"/>
            </a:endParaRPr>
          </a:p>
        </p:txBody>
      </p:sp>
      <p:sp>
        <p:nvSpPr>
          <p:cNvPr descr="$PPTXTitle" id="263" name="Google Shape;263;p16"/>
          <p:cNvSpPr txBox="1"/>
          <p:nvPr>
            <p:ph type="title"/>
          </p:nvPr>
        </p:nvSpPr>
        <p:spPr>
          <a:xfrm>
            <a:off x="1206499" y="1224597"/>
            <a:ext cx="15060294"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Practice 1: Basic Git</a:t>
            </a:r>
            <a:endParaRPr/>
          </a:p>
        </p:txBody>
      </p:sp>
      <p:sp>
        <p:nvSpPr>
          <p:cNvPr id="264" name="Google Shape;264;p16"/>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5" name="Google Shape;265;p16"/>
          <p:cNvSpPr txBox="1"/>
          <p:nvPr/>
        </p:nvSpPr>
        <p:spPr>
          <a:xfrm>
            <a:off x="1206499" y="9618979"/>
            <a:ext cx="187706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GIT FUNDAMENTALS</a:t>
            </a:r>
            <a:endParaRPr sz="1350">
              <a:latin typeface="Courier New"/>
              <a:ea typeface="Courier New"/>
              <a:cs typeface="Courier New"/>
              <a:sym typeface="Courier New"/>
            </a:endParaRPr>
          </a:p>
        </p:txBody>
      </p:sp>
      <p:sp>
        <p:nvSpPr>
          <p:cNvPr id="266" name="Google Shape;266;p16"/>
          <p:cNvSpPr txBox="1"/>
          <p:nvPr>
            <p:ph idx="1" type="body"/>
          </p:nvPr>
        </p:nvSpPr>
        <p:spPr>
          <a:xfrm>
            <a:off x="1016000" y="2662968"/>
            <a:ext cx="10081260" cy="3458210"/>
          </a:xfrm>
          <a:prstGeom prst="rect">
            <a:avLst/>
          </a:prstGeom>
          <a:noFill/>
          <a:ln>
            <a:noFill/>
          </a:ln>
        </p:spPr>
        <p:txBody>
          <a:bodyPr anchorCtr="0" anchor="t" bIns="0" lIns="0" spcFirstLastPara="1" rIns="0" wrap="square" tIns="71750">
            <a:spAutoFit/>
          </a:bodyPr>
          <a:lstStyle/>
          <a:p>
            <a:pPr indent="0" lvl="0" marL="12700" rtl="0" algn="l">
              <a:lnSpc>
                <a:spcPct val="100000"/>
              </a:lnSpc>
              <a:spcBef>
                <a:spcPts val="0"/>
              </a:spcBef>
              <a:spcAft>
                <a:spcPts val="0"/>
              </a:spcAft>
              <a:buNone/>
            </a:pPr>
            <a:r>
              <a:rPr lang="en-US"/>
              <a:t>Tạo account và project trên github</a:t>
            </a:r>
            <a:endParaRPr/>
          </a:p>
          <a:p>
            <a:pPr indent="0" lvl="0" marL="12700" marR="5080" rtl="0" algn="l">
              <a:lnSpc>
                <a:spcPct val="369600"/>
              </a:lnSpc>
              <a:spcBef>
                <a:spcPts val="1105"/>
              </a:spcBef>
              <a:spcAft>
                <a:spcPts val="0"/>
              </a:spcAft>
              <a:buNone/>
            </a:pPr>
            <a:r>
              <a:rPr lang="en-US"/>
              <a:t>Thao tác cơ bản với git và đồng bộ giữa Github và local Tạo PR, fix conflict</a:t>
            </a:r>
            <a:endParaRPr/>
          </a:p>
        </p:txBody>
      </p:sp>
      <p:pic>
        <p:nvPicPr>
          <p:cNvPr id="267" name="Google Shape;267;p16" title="Logo_Color.png"/>
          <p:cNvPicPr preferRelativeResize="0"/>
          <p:nvPr/>
        </p:nvPicPr>
        <p:blipFill>
          <a:blip r:embed="rId3">
            <a:alphaModFix/>
          </a:blip>
          <a:stretch>
            <a:fillRect/>
          </a:stretch>
        </p:blipFill>
        <p:spPr>
          <a:xfrm>
            <a:off x="16144875" y="0"/>
            <a:ext cx="1928827" cy="192882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7"/>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04.2</a:t>
            </a:r>
            <a:endParaRPr sz="1650">
              <a:latin typeface="Courier New"/>
              <a:ea typeface="Courier New"/>
              <a:cs typeface="Courier New"/>
              <a:sym typeface="Courier New"/>
            </a:endParaRPr>
          </a:p>
        </p:txBody>
      </p:sp>
      <p:sp>
        <p:nvSpPr>
          <p:cNvPr descr="$PPTXTitle" id="273" name="Google Shape;273;p17"/>
          <p:cNvSpPr txBox="1"/>
          <p:nvPr>
            <p:ph type="title"/>
          </p:nvPr>
        </p:nvSpPr>
        <p:spPr>
          <a:xfrm>
            <a:off x="1206499" y="1224597"/>
            <a:ext cx="15060294"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Gitflow Workflow</a:t>
            </a:r>
            <a:endParaRPr/>
          </a:p>
        </p:txBody>
      </p:sp>
      <p:sp>
        <p:nvSpPr>
          <p:cNvPr id="274" name="Google Shape;274;p17"/>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275" name="Google Shape;275;p17"/>
          <p:cNvPicPr preferRelativeResize="0"/>
          <p:nvPr/>
        </p:nvPicPr>
        <p:blipFill rotWithShape="1">
          <a:blip r:embed="rId3">
            <a:alphaModFix/>
          </a:blip>
          <a:srcRect b="0" l="0" r="0" t="0"/>
          <a:stretch/>
        </p:blipFill>
        <p:spPr>
          <a:xfrm>
            <a:off x="1219200" y="2245542"/>
            <a:ext cx="5638799" cy="7315199"/>
          </a:xfrm>
          <a:prstGeom prst="rect">
            <a:avLst/>
          </a:prstGeom>
          <a:noFill/>
          <a:ln>
            <a:noFill/>
          </a:ln>
        </p:spPr>
      </p:pic>
      <p:pic>
        <p:nvPicPr>
          <p:cNvPr id="276" name="Google Shape;276;p17"/>
          <p:cNvPicPr preferRelativeResize="0"/>
          <p:nvPr/>
        </p:nvPicPr>
        <p:blipFill rotWithShape="1">
          <a:blip r:embed="rId4">
            <a:alphaModFix/>
          </a:blip>
          <a:srcRect b="0" l="0" r="0" t="0"/>
          <a:stretch/>
        </p:blipFill>
        <p:spPr>
          <a:xfrm>
            <a:off x="7306671" y="2245542"/>
            <a:ext cx="10391774" cy="2971799"/>
          </a:xfrm>
          <a:prstGeom prst="rect">
            <a:avLst/>
          </a:prstGeom>
          <a:noFill/>
          <a:ln>
            <a:noFill/>
          </a:ln>
        </p:spPr>
      </p:pic>
      <p:sp>
        <p:nvSpPr>
          <p:cNvPr id="277" name="Google Shape;277;p17"/>
          <p:cNvSpPr txBox="1"/>
          <p:nvPr/>
        </p:nvSpPr>
        <p:spPr>
          <a:xfrm>
            <a:off x="1206499" y="9618979"/>
            <a:ext cx="211074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BRANCHING STRATEGY</a:t>
            </a:r>
            <a:endParaRPr sz="1350">
              <a:latin typeface="Courier New"/>
              <a:ea typeface="Courier New"/>
              <a:cs typeface="Courier New"/>
              <a:sym typeface="Courier New"/>
            </a:endParaRPr>
          </a:p>
        </p:txBody>
      </p:sp>
      <p:pic>
        <p:nvPicPr>
          <p:cNvPr id="278" name="Google Shape;278;p17"/>
          <p:cNvPicPr preferRelativeResize="0"/>
          <p:nvPr/>
        </p:nvPicPr>
        <p:blipFill rotWithShape="1">
          <a:blip r:embed="rId5">
            <a:alphaModFix/>
          </a:blip>
          <a:srcRect b="0" l="0" r="0" t="0"/>
          <a:stretch/>
        </p:blipFill>
        <p:spPr>
          <a:xfrm>
            <a:off x="7306671" y="5394813"/>
            <a:ext cx="209550" cy="209550"/>
          </a:xfrm>
          <a:prstGeom prst="rect">
            <a:avLst/>
          </a:prstGeom>
          <a:noFill/>
          <a:ln>
            <a:noFill/>
          </a:ln>
        </p:spPr>
      </p:pic>
      <p:pic>
        <p:nvPicPr>
          <p:cNvPr id="279" name="Google Shape;279;p17"/>
          <p:cNvPicPr preferRelativeResize="0"/>
          <p:nvPr/>
        </p:nvPicPr>
        <p:blipFill rotWithShape="1">
          <a:blip r:embed="rId5">
            <a:alphaModFix/>
          </a:blip>
          <a:srcRect b="0" l="0" r="0" t="0"/>
          <a:stretch/>
        </p:blipFill>
        <p:spPr>
          <a:xfrm>
            <a:off x="7306671" y="7283122"/>
            <a:ext cx="209550" cy="209550"/>
          </a:xfrm>
          <a:prstGeom prst="rect">
            <a:avLst/>
          </a:prstGeom>
          <a:noFill/>
          <a:ln>
            <a:noFill/>
          </a:ln>
        </p:spPr>
      </p:pic>
      <p:pic>
        <p:nvPicPr>
          <p:cNvPr id="280" name="Google Shape;280;p17"/>
          <p:cNvPicPr preferRelativeResize="0"/>
          <p:nvPr/>
        </p:nvPicPr>
        <p:blipFill rotWithShape="1">
          <a:blip r:embed="rId6">
            <a:alphaModFix/>
          </a:blip>
          <a:srcRect b="0" l="0" r="0" t="0"/>
          <a:stretch/>
        </p:blipFill>
        <p:spPr>
          <a:xfrm>
            <a:off x="8173446" y="7768326"/>
            <a:ext cx="123825" cy="123824"/>
          </a:xfrm>
          <a:prstGeom prst="rect">
            <a:avLst/>
          </a:prstGeom>
          <a:noFill/>
          <a:ln>
            <a:noFill/>
          </a:ln>
        </p:spPr>
      </p:pic>
      <p:pic>
        <p:nvPicPr>
          <p:cNvPr id="281" name="Google Shape;281;p17"/>
          <p:cNvPicPr preferRelativeResize="0"/>
          <p:nvPr/>
        </p:nvPicPr>
        <p:blipFill rotWithShape="1">
          <a:blip r:embed="rId6">
            <a:alphaModFix/>
          </a:blip>
          <a:srcRect b="0" l="0" r="0" t="0"/>
          <a:stretch/>
        </p:blipFill>
        <p:spPr>
          <a:xfrm>
            <a:off x="8173446" y="8206476"/>
            <a:ext cx="123825" cy="123824"/>
          </a:xfrm>
          <a:prstGeom prst="rect">
            <a:avLst/>
          </a:prstGeom>
          <a:noFill/>
          <a:ln>
            <a:noFill/>
          </a:ln>
        </p:spPr>
      </p:pic>
      <p:pic>
        <p:nvPicPr>
          <p:cNvPr id="282" name="Google Shape;282;p17"/>
          <p:cNvPicPr preferRelativeResize="0"/>
          <p:nvPr/>
        </p:nvPicPr>
        <p:blipFill rotWithShape="1">
          <a:blip r:embed="rId6">
            <a:alphaModFix/>
          </a:blip>
          <a:srcRect b="0" l="0" r="0" t="0"/>
          <a:stretch/>
        </p:blipFill>
        <p:spPr>
          <a:xfrm>
            <a:off x="8173446" y="8644626"/>
            <a:ext cx="123825" cy="123824"/>
          </a:xfrm>
          <a:prstGeom prst="rect">
            <a:avLst/>
          </a:prstGeom>
          <a:noFill/>
          <a:ln>
            <a:noFill/>
          </a:ln>
        </p:spPr>
      </p:pic>
      <p:pic>
        <p:nvPicPr>
          <p:cNvPr id="283" name="Google Shape;283;p17"/>
          <p:cNvPicPr preferRelativeResize="0"/>
          <p:nvPr/>
        </p:nvPicPr>
        <p:blipFill rotWithShape="1">
          <a:blip r:embed="rId7">
            <a:alphaModFix/>
          </a:blip>
          <a:srcRect b="0" l="0" r="0" t="0"/>
          <a:stretch/>
        </p:blipFill>
        <p:spPr>
          <a:xfrm>
            <a:off x="8721133" y="9078014"/>
            <a:ext cx="133349" cy="133349"/>
          </a:xfrm>
          <a:prstGeom prst="rect">
            <a:avLst/>
          </a:prstGeom>
          <a:noFill/>
          <a:ln>
            <a:noFill/>
          </a:ln>
        </p:spPr>
      </p:pic>
      <p:pic>
        <p:nvPicPr>
          <p:cNvPr id="284" name="Google Shape;284;p17"/>
          <p:cNvPicPr preferRelativeResize="0"/>
          <p:nvPr/>
        </p:nvPicPr>
        <p:blipFill rotWithShape="1">
          <a:blip r:embed="rId8">
            <a:alphaModFix/>
          </a:blip>
          <a:srcRect b="0" l="0" r="0" t="0"/>
          <a:stretch/>
        </p:blipFill>
        <p:spPr>
          <a:xfrm>
            <a:off x="8721133" y="9516163"/>
            <a:ext cx="133349" cy="133349"/>
          </a:xfrm>
          <a:prstGeom prst="rect">
            <a:avLst/>
          </a:prstGeom>
          <a:noFill/>
          <a:ln>
            <a:noFill/>
          </a:ln>
        </p:spPr>
      </p:pic>
      <p:pic>
        <p:nvPicPr>
          <p:cNvPr id="285" name="Google Shape;285;p17"/>
          <p:cNvPicPr preferRelativeResize="0"/>
          <p:nvPr/>
        </p:nvPicPr>
        <p:blipFill rotWithShape="1">
          <a:blip r:embed="rId5">
            <a:alphaModFix/>
          </a:blip>
          <a:srcRect b="0" l="0" r="0" t="0"/>
          <a:stretch/>
        </p:blipFill>
        <p:spPr>
          <a:xfrm>
            <a:off x="7306671" y="6369865"/>
            <a:ext cx="209550" cy="209550"/>
          </a:xfrm>
          <a:prstGeom prst="rect">
            <a:avLst/>
          </a:prstGeom>
          <a:noFill/>
          <a:ln>
            <a:noFill/>
          </a:ln>
        </p:spPr>
      </p:pic>
      <p:sp>
        <p:nvSpPr>
          <p:cNvPr id="286" name="Google Shape;286;p17"/>
          <p:cNvSpPr txBox="1"/>
          <p:nvPr/>
        </p:nvSpPr>
        <p:spPr>
          <a:xfrm>
            <a:off x="7922621" y="5236762"/>
            <a:ext cx="9716770" cy="4980940"/>
          </a:xfrm>
          <a:prstGeom prst="rect">
            <a:avLst/>
          </a:prstGeom>
          <a:noFill/>
          <a:ln>
            <a:noFill/>
          </a:ln>
        </p:spPr>
        <p:txBody>
          <a:bodyPr anchorCtr="0" anchor="t" bIns="0" lIns="0" spcFirstLastPara="1" rIns="0" wrap="square" tIns="12700">
            <a:spAutoFit/>
          </a:bodyPr>
          <a:lstStyle/>
          <a:p>
            <a:pPr indent="0" lvl="0" marL="12700" marR="5080" rtl="0" algn="l">
              <a:lnSpc>
                <a:spcPct val="112700"/>
              </a:lnSpc>
              <a:spcBef>
                <a:spcPts val="0"/>
              </a:spcBef>
              <a:spcAft>
                <a:spcPts val="0"/>
              </a:spcAft>
              <a:buNone/>
            </a:pPr>
            <a:r>
              <a:rPr lang="en-US" sz="2550">
                <a:solidFill>
                  <a:srgbClr val="202F40"/>
                </a:solidFill>
                <a:latin typeface="Verdana"/>
                <a:ea typeface="Verdana"/>
                <a:cs typeface="Verdana"/>
                <a:sym typeface="Verdana"/>
              </a:rPr>
              <a:t>Khi hoàn tất công việc trên nhánh feature/* và muốn đưa code vào nhánh chính develop. sử dụng Pull Request</a:t>
            </a:r>
            <a:endParaRPr sz="2550">
              <a:latin typeface="Verdana"/>
              <a:ea typeface="Verdana"/>
              <a:cs typeface="Verdana"/>
              <a:sym typeface="Verdana"/>
            </a:endParaRPr>
          </a:p>
          <a:p>
            <a:pPr indent="0" lvl="0" marL="12700" marR="113030" rtl="0" algn="l">
              <a:lnSpc>
                <a:spcPct val="112700"/>
              </a:lnSpc>
              <a:spcBef>
                <a:spcPts val="780"/>
              </a:spcBef>
              <a:spcAft>
                <a:spcPts val="0"/>
              </a:spcAft>
              <a:buNone/>
            </a:pPr>
            <a:r>
              <a:rPr lang="en-US" sz="2550">
                <a:solidFill>
                  <a:srgbClr val="202F40"/>
                </a:solidFill>
                <a:latin typeface="Verdana"/>
                <a:ea typeface="Verdana"/>
                <a:cs typeface="Verdana"/>
                <a:sym typeface="Verdana"/>
              </a:rPr>
              <a:t>Khi 2 người cùng làm việc khi checkout từ cùng 1 nhánh có thể xảy ra </a:t>
            </a:r>
            <a:r>
              <a:rPr b="1" lang="en-US" sz="2550">
                <a:solidFill>
                  <a:srgbClr val="202F40"/>
                </a:solidFill>
                <a:latin typeface="Tahoma"/>
                <a:ea typeface="Tahoma"/>
                <a:cs typeface="Tahoma"/>
                <a:sym typeface="Tahoma"/>
              </a:rPr>
              <a:t>conflict.</a:t>
            </a:r>
            <a:endParaRPr sz="2550">
              <a:latin typeface="Tahoma"/>
              <a:ea typeface="Tahoma"/>
              <a:cs typeface="Tahoma"/>
              <a:sym typeface="Tahoma"/>
            </a:endParaRPr>
          </a:p>
          <a:p>
            <a:pPr indent="-550545" lvl="0" marL="562610" marR="147320" rtl="0" algn="l">
              <a:lnSpc>
                <a:spcPct val="112700"/>
              </a:lnSpc>
              <a:spcBef>
                <a:spcPts val="290"/>
              </a:spcBef>
              <a:spcAft>
                <a:spcPts val="0"/>
              </a:spcAft>
              <a:buNone/>
            </a:pPr>
            <a:r>
              <a:rPr lang="en-US" sz="2550">
                <a:solidFill>
                  <a:srgbClr val="202F40"/>
                </a:solidFill>
                <a:latin typeface="Verdana"/>
                <a:ea typeface="Verdana"/>
                <a:cs typeface="Verdana"/>
                <a:sym typeface="Verdana"/>
              </a:rPr>
              <a:t>Để ghép 2 nhánh lại với nhau có thể dùng </a:t>
            </a:r>
            <a:r>
              <a:rPr b="1" lang="en-US" sz="2550">
                <a:solidFill>
                  <a:srgbClr val="202F40"/>
                </a:solidFill>
                <a:latin typeface="Tahoma"/>
                <a:ea typeface="Tahoma"/>
                <a:cs typeface="Tahoma"/>
                <a:sym typeface="Tahoma"/>
              </a:rPr>
              <a:t>merge </a:t>
            </a:r>
            <a:r>
              <a:rPr lang="en-US" sz="2550">
                <a:solidFill>
                  <a:srgbClr val="202F40"/>
                </a:solidFill>
                <a:latin typeface="Verdana"/>
                <a:ea typeface="Verdana"/>
                <a:cs typeface="Verdana"/>
                <a:sym typeface="Verdana"/>
              </a:rPr>
              <a:t>hoặc </a:t>
            </a:r>
            <a:r>
              <a:rPr b="1" lang="en-US" sz="2550">
                <a:solidFill>
                  <a:srgbClr val="202F40"/>
                </a:solidFill>
                <a:latin typeface="Tahoma"/>
                <a:ea typeface="Tahoma"/>
                <a:cs typeface="Tahoma"/>
                <a:sym typeface="Tahoma"/>
              </a:rPr>
              <a:t>rebase: Merge: </a:t>
            </a:r>
            <a:r>
              <a:rPr lang="en-US" sz="2550">
                <a:solidFill>
                  <a:srgbClr val="202F40"/>
                </a:solidFill>
                <a:latin typeface="Verdana"/>
                <a:ea typeface="Verdana"/>
                <a:cs typeface="Verdana"/>
                <a:sym typeface="Verdana"/>
              </a:rPr>
              <a:t>Nhập 2 nhánh lại làm 1 thông qua 1 commit mới </a:t>
            </a:r>
            <a:r>
              <a:rPr b="1" lang="en-US" sz="2550">
                <a:solidFill>
                  <a:srgbClr val="202F40"/>
                </a:solidFill>
                <a:latin typeface="Tahoma"/>
                <a:ea typeface="Tahoma"/>
                <a:cs typeface="Tahoma"/>
                <a:sym typeface="Tahoma"/>
              </a:rPr>
              <a:t>Rebase: </a:t>
            </a:r>
            <a:r>
              <a:rPr lang="en-US" sz="2550">
                <a:solidFill>
                  <a:srgbClr val="202F40"/>
                </a:solidFill>
                <a:latin typeface="Verdana"/>
                <a:ea typeface="Verdana"/>
                <a:cs typeface="Verdana"/>
                <a:sym typeface="Verdana"/>
              </a:rPr>
              <a:t>Viết lại lịch sử của git tree</a:t>
            </a:r>
            <a:endParaRPr sz="2550">
              <a:latin typeface="Verdana"/>
              <a:ea typeface="Verdana"/>
              <a:cs typeface="Verdana"/>
              <a:sym typeface="Verdana"/>
            </a:endParaRPr>
          </a:p>
          <a:p>
            <a:pPr indent="0" lvl="0" marL="562610" rtl="0" algn="l">
              <a:lnSpc>
                <a:spcPct val="100000"/>
              </a:lnSpc>
              <a:spcBef>
                <a:spcPts val="390"/>
              </a:spcBef>
              <a:spcAft>
                <a:spcPts val="0"/>
              </a:spcAft>
              <a:buNone/>
            </a:pPr>
            <a:r>
              <a:rPr b="1" lang="en-US" sz="2550">
                <a:solidFill>
                  <a:srgbClr val="202F40"/>
                </a:solidFill>
                <a:latin typeface="Tahoma"/>
                <a:ea typeface="Tahoma"/>
                <a:cs typeface="Tahoma"/>
                <a:sym typeface="Tahoma"/>
              </a:rPr>
              <a:t>Khuyến nghị để đảm bảo git tree được sạch:</a:t>
            </a:r>
            <a:endParaRPr sz="2550">
              <a:latin typeface="Tahoma"/>
              <a:ea typeface="Tahoma"/>
              <a:cs typeface="Tahoma"/>
              <a:sym typeface="Tahoma"/>
            </a:endParaRPr>
          </a:p>
          <a:p>
            <a:pPr indent="0" lvl="0" marL="1113155" marR="280670" rtl="0" algn="l">
              <a:lnSpc>
                <a:spcPct val="112700"/>
              </a:lnSpc>
              <a:spcBef>
                <a:spcPts val="5"/>
              </a:spcBef>
              <a:spcAft>
                <a:spcPts val="0"/>
              </a:spcAft>
              <a:buNone/>
            </a:pPr>
            <a:r>
              <a:rPr lang="en-US" sz="2550">
                <a:solidFill>
                  <a:srgbClr val="202F40"/>
                </a:solidFill>
                <a:latin typeface="Verdana"/>
                <a:ea typeface="Verdana"/>
                <a:cs typeface="Verdana"/>
                <a:sym typeface="Verdana"/>
              </a:rPr>
              <a:t>Sử dụng merge khi muốn nạp code vào nhánh chính Sử dụng rebase để nạp code của người khác về nhánh mình đang code</a:t>
            </a:r>
            <a:endParaRPr sz="2550">
              <a:latin typeface="Verdana"/>
              <a:ea typeface="Verdana"/>
              <a:cs typeface="Verdana"/>
              <a:sym typeface="Verdana"/>
            </a:endParaRPr>
          </a:p>
        </p:txBody>
      </p:sp>
      <p:pic>
        <p:nvPicPr>
          <p:cNvPr id="287" name="Google Shape;287;p17" title="Logo_Color.png"/>
          <p:cNvPicPr preferRelativeResize="0"/>
          <p:nvPr/>
        </p:nvPicPr>
        <p:blipFill>
          <a:blip r:embed="rId9">
            <a:alphaModFix/>
          </a:blip>
          <a:stretch>
            <a:fillRect/>
          </a:stretch>
        </p:blipFill>
        <p:spPr>
          <a:xfrm>
            <a:off x="16144875" y="0"/>
            <a:ext cx="1928827" cy="192882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8"/>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04.3</a:t>
            </a:r>
            <a:endParaRPr sz="1650">
              <a:latin typeface="Courier New"/>
              <a:ea typeface="Courier New"/>
              <a:cs typeface="Courier New"/>
              <a:sym typeface="Courier New"/>
            </a:endParaRPr>
          </a:p>
        </p:txBody>
      </p:sp>
      <p:sp>
        <p:nvSpPr>
          <p:cNvPr descr="$PPTXTitle" id="293" name="Google Shape;293;p18"/>
          <p:cNvSpPr txBox="1"/>
          <p:nvPr>
            <p:ph type="title"/>
          </p:nvPr>
        </p:nvSpPr>
        <p:spPr>
          <a:xfrm>
            <a:off x="1206499" y="1224597"/>
            <a:ext cx="15060294"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Trunk-based Development</a:t>
            </a:r>
            <a:endParaRPr/>
          </a:p>
        </p:txBody>
      </p:sp>
      <p:sp>
        <p:nvSpPr>
          <p:cNvPr id="294" name="Google Shape;294;p18"/>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5" name="Google Shape;295;p18"/>
          <p:cNvSpPr/>
          <p:nvPr/>
        </p:nvSpPr>
        <p:spPr>
          <a:xfrm>
            <a:off x="1219199" y="6715125"/>
            <a:ext cx="14668500" cy="19050"/>
          </a:xfrm>
          <a:custGeom>
            <a:rect b="b" l="l" r="r" t="t"/>
            <a:pathLst>
              <a:path extrusionOk="0" h="19050" w="14668500">
                <a:moveTo>
                  <a:pt x="14668500" y="19050"/>
                </a:moveTo>
                <a:lnTo>
                  <a:pt x="0" y="19050"/>
                </a:lnTo>
                <a:lnTo>
                  <a:pt x="0" y="0"/>
                </a:lnTo>
                <a:lnTo>
                  <a:pt x="14668500" y="0"/>
                </a:lnTo>
                <a:lnTo>
                  <a:pt x="146685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296" name="Google Shape;296;p18"/>
          <p:cNvPicPr preferRelativeResize="0"/>
          <p:nvPr/>
        </p:nvPicPr>
        <p:blipFill rotWithShape="1">
          <a:blip r:embed="rId3">
            <a:alphaModFix/>
          </a:blip>
          <a:srcRect b="0" l="0" r="0" t="0"/>
          <a:stretch/>
        </p:blipFill>
        <p:spPr>
          <a:xfrm>
            <a:off x="10418764" y="2684347"/>
            <a:ext cx="7296149" cy="3676649"/>
          </a:xfrm>
          <a:prstGeom prst="rect">
            <a:avLst/>
          </a:prstGeom>
          <a:noFill/>
          <a:ln>
            <a:noFill/>
          </a:ln>
        </p:spPr>
      </p:pic>
      <p:sp>
        <p:nvSpPr>
          <p:cNvPr id="297" name="Google Shape;297;p18"/>
          <p:cNvSpPr txBox="1"/>
          <p:nvPr/>
        </p:nvSpPr>
        <p:spPr>
          <a:xfrm>
            <a:off x="964400" y="3060250"/>
            <a:ext cx="9454500" cy="2651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4950">
                <a:solidFill>
                  <a:srgbClr val="17324D"/>
                </a:solidFill>
                <a:latin typeface="Tahoma"/>
                <a:ea typeface="Tahoma"/>
                <a:cs typeface="Tahoma"/>
                <a:sym typeface="Tahoma"/>
              </a:rPr>
              <a:t>Nhỏ. Thường xuyên. Liên tục.</a:t>
            </a:r>
            <a:endParaRPr sz="4950">
              <a:latin typeface="Tahoma"/>
              <a:ea typeface="Tahoma"/>
              <a:cs typeface="Tahoma"/>
              <a:sym typeface="Tahoma"/>
            </a:endParaRPr>
          </a:p>
          <a:p>
            <a:pPr indent="0" lvl="0" marL="12700" marR="1980564" rtl="0" algn="just">
              <a:lnSpc>
                <a:spcPct val="114599"/>
              </a:lnSpc>
              <a:spcBef>
                <a:spcPts val="5150"/>
              </a:spcBef>
              <a:spcAft>
                <a:spcPts val="0"/>
              </a:spcAft>
              <a:buNone/>
            </a:pPr>
            <a:r>
              <a:rPr lang="en-US" sz="2400">
                <a:solidFill>
                  <a:srgbClr val="202F40"/>
                </a:solidFill>
                <a:latin typeface="Verdana"/>
                <a:ea typeface="Verdana"/>
                <a:cs typeface="Verdana"/>
                <a:sym typeface="Verdana"/>
              </a:rPr>
              <a:t>Gộp các thay đổi nhỏ thường xuyên vào nhánh chính (Trunk/Main). Hỗ trợ tích hợp liên tục và giảm xung đột lớn.</a:t>
            </a:r>
            <a:endParaRPr sz="2400">
              <a:latin typeface="Verdana"/>
              <a:ea typeface="Verdana"/>
              <a:cs typeface="Verdana"/>
              <a:sym typeface="Verdana"/>
            </a:endParaRPr>
          </a:p>
        </p:txBody>
      </p:sp>
      <p:sp>
        <p:nvSpPr>
          <p:cNvPr id="298" name="Google Shape;298;p18"/>
          <p:cNvSpPr txBox="1"/>
          <p:nvPr/>
        </p:nvSpPr>
        <p:spPr>
          <a:xfrm>
            <a:off x="1206499" y="7144289"/>
            <a:ext cx="10638155" cy="35687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i="1" lang="en-US" sz="2150">
                <a:solidFill>
                  <a:srgbClr val="202F40"/>
                </a:solidFill>
                <a:latin typeface="Arial"/>
                <a:ea typeface="Arial"/>
                <a:cs typeface="Arial"/>
                <a:sym typeface="Arial"/>
              </a:rPr>
              <a:t>So với Gitflow: linh hoạt hơn, nhịp tích hợp nhanh hơn, yêu cầu kỷ luật CI cao hơn.</a:t>
            </a:r>
            <a:endParaRPr sz="2150">
              <a:latin typeface="Arial"/>
              <a:ea typeface="Arial"/>
              <a:cs typeface="Arial"/>
              <a:sym typeface="Arial"/>
            </a:endParaRPr>
          </a:p>
        </p:txBody>
      </p:sp>
      <p:sp>
        <p:nvSpPr>
          <p:cNvPr id="299" name="Google Shape;299;p18"/>
          <p:cNvSpPr txBox="1"/>
          <p:nvPr/>
        </p:nvSpPr>
        <p:spPr>
          <a:xfrm>
            <a:off x="1206499" y="9618979"/>
            <a:ext cx="257683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CONTINUOUS INTEGRATION</a:t>
            </a:r>
            <a:endParaRPr sz="1350">
              <a:latin typeface="Courier New"/>
              <a:ea typeface="Courier New"/>
              <a:cs typeface="Courier New"/>
              <a:sym typeface="Courier New"/>
            </a:endParaRPr>
          </a:p>
        </p:txBody>
      </p:sp>
      <p:pic>
        <p:nvPicPr>
          <p:cNvPr id="300" name="Google Shape;300;p18" title="Logo_Color.png"/>
          <p:cNvPicPr preferRelativeResize="0"/>
          <p:nvPr/>
        </p:nvPicPr>
        <p:blipFill>
          <a:blip r:embed="rId4">
            <a:alphaModFix/>
          </a:blip>
          <a:stretch>
            <a:fillRect/>
          </a:stretch>
        </p:blipFill>
        <p:spPr>
          <a:xfrm>
            <a:off x="16144875" y="0"/>
            <a:ext cx="1928827" cy="192882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9"/>
          <p:cNvSpPr txBox="1"/>
          <p:nvPr/>
        </p:nvSpPr>
        <p:spPr>
          <a:xfrm>
            <a:off x="1206499" y="1014094"/>
            <a:ext cx="297815"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86C7AC"/>
                </a:solidFill>
                <a:latin typeface="Courier New"/>
                <a:ea typeface="Courier New"/>
                <a:cs typeface="Courier New"/>
                <a:sym typeface="Courier New"/>
              </a:rPr>
              <a:t>04</a:t>
            </a:r>
            <a:endParaRPr sz="1650">
              <a:latin typeface="Courier New"/>
              <a:ea typeface="Courier New"/>
              <a:cs typeface="Courier New"/>
              <a:sym typeface="Courier New"/>
            </a:endParaRPr>
          </a:p>
        </p:txBody>
      </p:sp>
      <p:sp>
        <p:nvSpPr>
          <p:cNvPr descr="$PPTXTitle" id="306" name="Google Shape;306;p19"/>
          <p:cNvSpPr txBox="1"/>
          <p:nvPr>
            <p:ph type="title"/>
          </p:nvPr>
        </p:nvSpPr>
        <p:spPr>
          <a:xfrm>
            <a:off x="1174801" y="4092300"/>
            <a:ext cx="15938400" cy="11211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7200">
                <a:solidFill>
                  <a:srgbClr val="FFFFFF"/>
                </a:solidFill>
              </a:rPr>
              <a:t>DevOps vs CIC</a:t>
            </a:r>
            <a:r>
              <a:rPr lang="en-US" sz="7200">
                <a:solidFill>
                  <a:srgbClr val="FFFFFF"/>
                </a:solidFill>
              </a:rPr>
              <a:t>D cơ</a:t>
            </a:r>
            <a:r>
              <a:rPr lang="en-US" sz="7200">
                <a:solidFill>
                  <a:srgbClr val="FFFFFF"/>
                </a:solidFill>
              </a:rPr>
              <a:t>	bản</a:t>
            </a:r>
            <a:endParaRPr sz="7200"/>
          </a:p>
        </p:txBody>
      </p:sp>
      <p:sp>
        <p:nvSpPr>
          <p:cNvPr id="307" name="Google Shape;307;p19"/>
          <p:cNvSpPr txBox="1"/>
          <p:nvPr/>
        </p:nvSpPr>
        <p:spPr>
          <a:xfrm>
            <a:off x="1206499" y="9618979"/>
            <a:ext cx="339344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DAY 1  /  KICK-OFF &amp; WORKFLOW</a:t>
            </a:r>
            <a:endParaRPr sz="1350">
              <a:latin typeface="Courier New"/>
              <a:ea typeface="Courier New"/>
              <a:cs typeface="Courier New"/>
              <a:sym typeface="Courier New"/>
            </a:endParaRPr>
          </a:p>
        </p:txBody>
      </p:sp>
      <p:pic>
        <p:nvPicPr>
          <p:cNvPr id="308" name="Google Shape;308;p19" title="Logo_white.png"/>
          <p:cNvPicPr preferRelativeResize="0"/>
          <p:nvPr/>
        </p:nvPicPr>
        <p:blipFill>
          <a:blip r:embed="rId3">
            <a:alphaModFix/>
          </a:blip>
          <a:stretch>
            <a:fillRect/>
          </a:stretch>
        </p:blipFill>
        <p:spPr>
          <a:xfrm>
            <a:off x="15939500" y="167000"/>
            <a:ext cx="2051400" cy="1681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0"/>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04.1</a:t>
            </a:r>
            <a:endParaRPr sz="1650">
              <a:latin typeface="Courier New"/>
              <a:ea typeface="Courier New"/>
              <a:cs typeface="Courier New"/>
              <a:sym typeface="Courier New"/>
            </a:endParaRPr>
          </a:p>
        </p:txBody>
      </p:sp>
      <p:sp>
        <p:nvSpPr>
          <p:cNvPr descr="$PPTXTitle" id="314" name="Google Shape;314;p20"/>
          <p:cNvSpPr txBox="1"/>
          <p:nvPr>
            <p:ph type="title"/>
          </p:nvPr>
        </p:nvSpPr>
        <p:spPr>
          <a:xfrm>
            <a:off x="1206499" y="1224597"/>
            <a:ext cx="15060294"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DevOps</a:t>
            </a:r>
            <a:endParaRPr/>
          </a:p>
        </p:txBody>
      </p:sp>
      <p:sp>
        <p:nvSpPr>
          <p:cNvPr id="315" name="Google Shape;315;p20"/>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16" name="Google Shape;316;p20"/>
          <p:cNvPicPr preferRelativeResize="0"/>
          <p:nvPr/>
        </p:nvPicPr>
        <p:blipFill rotWithShape="1">
          <a:blip r:embed="rId3">
            <a:alphaModFix/>
          </a:blip>
          <a:srcRect b="0" l="0" r="0" t="0"/>
          <a:stretch/>
        </p:blipFill>
        <p:spPr>
          <a:xfrm>
            <a:off x="1219200" y="4547587"/>
            <a:ext cx="5762624" cy="4714874"/>
          </a:xfrm>
          <a:prstGeom prst="rect">
            <a:avLst/>
          </a:prstGeom>
          <a:noFill/>
          <a:ln>
            <a:noFill/>
          </a:ln>
        </p:spPr>
      </p:pic>
      <p:pic>
        <p:nvPicPr>
          <p:cNvPr id="317" name="Google Shape;317;p20"/>
          <p:cNvPicPr preferRelativeResize="0"/>
          <p:nvPr/>
        </p:nvPicPr>
        <p:blipFill rotWithShape="1">
          <a:blip r:embed="rId4">
            <a:alphaModFix/>
          </a:blip>
          <a:srcRect b="0" l="0" r="0" t="0"/>
          <a:stretch/>
        </p:blipFill>
        <p:spPr>
          <a:xfrm>
            <a:off x="8158067" y="4988402"/>
            <a:ext cx="8020049" cy="4076699"/>
          </a:xfrm>
          <a:prstGeom prst="rect">
            <a:avLst/>
          </a:prstGeom>
          <a:noFill/>
          <a:ln>
            <a:noFill/>
          </a:ln>
        </p:spPr>
      </p:pic>
      <p:sp>
        <p:nvSpPr>
          <p:cNvPr id="318" name="Google Shape;318;p20"/>
          <p:cNvSpPr txBox="1"/>
          <p:nvPr/>
        </p:nvSpPr>
        <p:spPr>
          <a:xfrm>
            <a:off x="1206499" y="9618979"/>
            <a:ext cx="71120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DevOps</a:t>
            </a:r>
            <a:endParaRPr sz="1350">
              <a:latin typeface="Courier New"/>
              <a:ea typeface="Courier New"/>
              <a:cs typeface="Courier New"/>
              <a:sym typeface="Courier New"/>
            </a:endParaRPr>
          </a:p>
        </p:txBody>
      </p:sp>
      <p:sp>
        <p:nvSpPr>
          <p:cNvPr id="319" name="Google Shape;319;p20"/>
          <p:cNvSpPr txBox="1"/>
          <p:nvPr/>
        </p:nvSpPr>
        <p:spPr>
          <a:xfrm>
            <a:off x="1016000" y="2578640"/>
            <a:ext cx="16097250" cy="1778000"/>
          </a:xfrm>
          <a:prstGeom prst="rect">
            <a:avLst/>
          </a:prstGeom>
          <a:noFill/>
          <a:ln>
            <a:noFill/>
          </a:ln>
        </p:spPr>
        <p:txBody>
          <a:bodyPr anchorCtr="0" anchor="t" bIns="0" lIns="0" spcFirstLastPara="1" rIns="0" wrap="square" tIns="12700">
            <a:spAutoFit/>
          </a:bodyPr>
          <a:lstStyle/>
          <a:p>
            <a:pPr indent="0" lvl="0" marL="12700" marR="5080" rtl="0" algn="l">
              <a:lnSpc>
                <a:spcPct val="112700"/>
              </a:lnSpc>
              <a:spcBef>
                <a:spcPts val="0"/>
              </a:spcBef>
              <a:spcAft>
                <a:spcPts val="0"/>
              </a:spcAft>
              <a:buNone/>
            </a:pPr>
            <a:r>
              <a:rPr lang="en-US" sz="2550">
                <a:latin typeface="Verdana"/>
                <a:ea typeface="Verdana"/>
                <a:cs typeface="Verdana"/>
                <a:sym typeface="Verdana"/>
              </a:rPr>
              <a:t>DevOps is a software development methodology that accelerates the delivery of high-performance applications and services by combining and automating the work of software development (Dev) and IT operations (Ops) teams.</a:t>
            </a:r>
            <a:endParaRPr sz="2550">
              <a:latin typeface="Verdana"/>
              <a:ea typeface="Verdana"/>
              <a:cs typeface="Verdana"/>
              <a:sym typeface="Verdana"/>
            </a:endParaRPr>
          </a:p>
          <a:p>
            <a:pPr indent="0" lvl="0" marL="12700" rtl="0" algn="l">
              <a:lnSpc>
                <a:spcPct val="100000"/>
              </a:lnSpc>
              <a:spcBef>
                <a:spcPts val="390"/>
              </a:spcBef>
              <a:spcAft>
                <a:spcPts val="0"/>
              </a:spcAft>
              <a:buNone/>
            </a:pPr>
            <a:r>
              <a:rPr lang="en-US" sz="2550">
                <a:latin typeface="Verdana"/>
                <a:ea typeface="Verdana"/>
                <a:cs typeface="Verdana"/>
                <a:sym typeface="Verdana"/>
              </a:rPr>
              <a:t>Source: </a:t>
            </a:r>
            <a:r>
              <a:rPr b="1" lang="en-US" sz="2550">
                <a:latin typeface="Tahoma"/>
                <a:ea typeface="Tahoma"/>
                <a:cs typeface="Tahoma"/>
                <a:sym typeface="Tahoma"/>
              </a:rPr>
              <a:t>IBM</a:t>
            </a:r>
            <a:endParaRPr sz="2550">
              <a:latin typeface="Tahoma"/>
              <a:ea typeface="Tahoma"/>
              <a:cs typeface="Tahoma"/>
              <a:sym typeface="Tahoma"/>
            </a:endParaRPr>
          </a:p>
        </p:txBody>
      </p:sp>
      <p:pic>
        <p:nvPicPr>
          <p:cNvPr id="320" name="Google Shape;320;p20" title="Logo_Color.png"/>
          <p:cNvPicPr preferRelativeResize="0"/>
          <p:nvPr/>
        </p:nvPicPr>
        <p:blipFill>
          <a:blip r:embed="rId5">
            <a:alphaModFix/>
          </a:blip>
          <a:stretch>
            <a:fillRect/>
          </a:stretch>
        </p:blipFill>
        <p:spPr>
          <a:xfrm>
            <a:off x="16144875" y="0"/>
            <a:ext cx="1928827" cy="192882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04.1</a:t>
            </a:r>
            <a:endParaRPr sz="1650">
              <a:latin typeface="Courier New"/>
              <a:ea typeface="Courier New"/>
              <a:cs typeface="Courier New"/>
              <a:sym typeface="Courier New"/>
            </a:endParaRPr>
          </a:p>
        </p:txBody>
      </p:sp>
      <p:sp>
        <p:nvSpPr>
          <p:cNvPr descr="$PPTXTitle" id="326" name="Google Shape;326;p21"/>
          <p:cNvSpPr txBox="1"/>
          <p:nvPr>
            <p:ph type="title"/>
          </p:nvPr>
        </p:nvSpPr>
        <p:spPr>
          <a:xfrm>
            <a:off x="1206499" y="1224597"/>
            <a:ext cx="15060294"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Continuous Integration (CI) vs Continuous Delivery (CD)</a:t>
            </a:r>
            <a:endParaRPr/>
          </a:p>
        </p:txBody>
      </p:sp>
      <p:sp>
        <p:nvSpPr>
          <p:cNvPr id="327" name="Google Shape;327;p21"/>
          <p:cNvSpPr/>
          <p:nvPr/>
        </p:nvSpPr>
        <p:spPr>
          <a:xfrm>
            <a:off x="1219199" y="335280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28" name="Google Shape;328;p21"/>
          <p:cNvPicPr preferRelativeResize="0"/>
          <p:nvPr/>
        </p:nvPicPr>
        <p:blipFill rotWithShape="1">
          <a:blip r:embed="rId3">
            <a:alphaModFix/>
          </a:blip>
          <a:srcRect b="0" l="0" r="0" t="0"/>
          <a:stretch/>
        </p:blipFill>
        <p:spPr>
          <a:xfrm>
            <a:off x="9758068" y="3967599"/>
            <a:ext cx="7000874" cy="3752849"/>
          </a:xfrm>
          <a:prstGeom prst="rect">
            <a:avLst/>
          </a:prstGeom>
          <a:noFill/>
          <a:ln>
            <a:noFill/>
          </a:ln>
        </p:spPr>
      </p:pic>
      <p:sp>
        <p:nvSpPr>
          <p:cNvPr id="329" name="Google Shape;329;p21"/>
          <p:cNvSpPr txBox="1"/>
          <p:nvPr/>
        </p:nvSpPr>
        <p:spPr>
          <a:xfrm>
            <a:off x="1206499" y="9618979"/>
            <a:ext cx="71120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DevOps</a:t>
            </a:r>
            <a:endParaRPr sz="1350">
              <a:latin typeface="Courier New"/>
              <a:ea typeface="Courier New"/>
              <a:cs typeface="Courier New"/>
              <a:sym typeface="Courier New"/>
            </a:endParaRPr>
          </a:p>
        </p:txBody>
      </p:sp>
      <p:sp>
        <p:nvSpPr>
          <p:cNvPr id="330" name="Google Shape;330;p21"/>
          <p:cNvSpPr txBox="1"/>
          <p:nvPr/>
        </p:nvSpPr>
        <p:spPr>
          <a:xfrm>
            <a:off x="1206499" y="3534935"/>
            <a:ext cx="7745095" cy="4406900"/>
          </a:xfrm>
          <a:prstGeom prst="rect">
            <a:avLst/>
          </a:prstGeom>
          <a:noFill/>
          <a:ln>
            <a:noFill/>
          </a:ln>
        </p:spPr>
        <p:txBody>
          <a:bodyPr anchorCtr="0" anchor="t" bIns="0" lIns="0" spcFirstLastPara="1" rIns="0" wrap="square" tIns="12700">
            <a:spAutoFit/>
          </a:bodyPr>
          <a:lstStyle/>
          <a:p>
            <a:pPr indent="0" lvl="0" marL="12700" marR="5080" rtl="0" algn="l">
              <a:lnSpc>
                <a:spcPct val="112700"/>
              </a:lnSpc>
              <a:spcBef>
                <a:spcPts val="0"/>
              </a:spcBef>
              <a:spcAft>
                <a:spcPts val="0"/>
              </a:spcAft>
              <a:buNone/>
            </a:pPr>
            <a:r>
              <a:rPr b="1" lang="en-US" sz="2550">
                <a:latin typeface="Tahoma"/>
                <a:ea typeface="Tahoma"/>
                <a:cs typeface="Tahoma"/>
                <a:sym typeface="Tahoma"/>
              </a:rPr>
              <a:t>CI/CD </a:t>
            </a:r>
            <a:r>
              <a:rPr lang="en-US" sz="2550">
                <a:latin typeface="Verdana"/>
                <a:ea typeface="Verdana"/>
                <a:cs typeface="Verdana"/>
                <a:sym typeface="Verdana"/>
              </a:rPr>
              <a:t>là viết tắt của </a:t>
            </a:r>
            <a:r>
              <a:rPr b="1" lang="en-US" sz="2550">
                <a:latin typeface="Tahoma"/>
                <a:ea typeface="Tahoma"/>
                <a:cs typeface="Tahoma"/>
                <a:sym typeface="Tahoma"/>
              </a:rPr>
              <a:t>Continuous Integration </a:t>
            </a:r>
            <a:r>
              <a:rPr lang="en-US" sz="2550">
                <a:latin typeface="Verdana"/>
                <a:ea typeface="Verdana"/>
                <a:cs typeface="Verdana"/>
                <a:sym typeface="Verdana"/>
              </a:rPr>
              <a:t>(Tích hợp liên tục) và </a:t>
            </a:r>
            <a:r>
              <a:rPr b="1" lang="en-US" sz="2550">
                <a:latin typeface="Tahoma"/>
                <a:ea typeface="Tahoma"/>
                <a:cs typeface="Tahoma"/>
                <a:sym typeface="Tahoma"/>
              </a:rPr>
              <a:t>Continuous Delivery/Continuous Deployment </a:t>
            </a:r>
            <a:r>
              <a:rPr lang="en-US" sz="2550">
                <a:latin typeface="Verdana"/>
                <a:ea typeface="Verdana"/>
                <a:cs typeface="Verdana"/>
                <a:sym typeface="Verdana"/>
              </a:rPr>
              <a:t>(Chuyển giao/Triển khai liên tục).</a:t>
            </a:r>
            <a:endParaRPr sz="2550">
              <a:latin typeface="Verdana"/>
              <a:ea typeface="Verdana"/>
              <a:cs typeface="Verdana"/>
              <a:sym typeface="Verdana"/>
            </a:endParaRPr>
          </a:p>
          <a:p>
            <a:pPr indent="0" lvl="0" marL="12700" marR="245745" rtl="0" algn="l">
              <a:lnSpc>
                <a:spcPct val="112700"/>
              </a:lnSpc>
              <a:spcBef>
                <a:spcPts val="0"/>
              </a:spcBef>
              <a:spcAft>
                <a:spcPts val="0"/>
              </a:spcAft>
              <a:buNone/>
            </a:pPr>
            <a:r>
              <a:rPr lang="en-US" sz="2550">
                <a:latin typeface="Verdana"/>
                <a:ea typeface="Verdana"/>
                <a:cs typeface="Verdana"/>
                <a:sym typeface="Verdana"/>
              </a:rPr>
              <a:t>Đây là một phương pháp tự động hóa quy trình xây dựng, kiểm thử và đưa mã nguồn phần mềm lên máy chủ, giúp lập trình viên phát hiện lỗi nhanh chóng và phát hành sản phẩm an toàn hơn.</a:t>
            </a:r>
            <a:endParaRPr sz="2550">
              <a:latin typeface="Verdana"/>
              <a:ea typeface="Verdana"/>
              <a:cs typeface="Verdana"/>
              <a:sym typeface="Verdana"/>
            </a:endParaRPr>
          </a:p>
          <a:p>
            <a:pPr indent="0" lvl="0" marL="12700" marR="598170" rtl="0" algn="l">
              <a:lnSpc>
                <a:spcPct val="112700"/>
              </a:lnSpc>
              <a:spcBef>
                <a:spcPts val="5"/>
              </a:spcBef>
              <a:spcAft>
                <a:spcPts val="0"/>
              </a:spcAft>
              <a:buNone/>
            </a:pPr>
            <a:r>
              <a:rPr lang="en-US" sz="2550">
                <a:latin typeface="Verdana"/>
                <a:ea typeface="Verdana"/>
                <a:cs typeface="Verdana"/>
                <a:sym typeface="Verdana"/>
              </a:rPr>
              <a:t>Các công cụ CI/CD phổ biến: Jenkins, GitlabCI, Github Actions, CircleCI,...</a:t>
            </a:r>
            <a:endParaRPr sz="2550">
              <a:latin typeface="Verdana"/>
              <a:ea typeface="Verdana"/>
              <a:cs typeface="Verdana"/>
              <a:sym typeface="Verdana"/>
            </a:endParaRPr>
          </a:p>
        </p:txBody>
      </p:sp>
      <p:pic>
        <p:nvPicPr>
          <p:cNvPr id="331" name="Google Shape;331;p21" title="Logo_Color.png"/>
          <p:cNvPicPr preferRelativeResize="0"/>
          <p:nvPr/>
        </p:nvPicPr>
        <p:blipFill>
          <a:blip r:embed="rId4">
            <a:alphaModFix/>
          </a:blip>
          <a:stretch>
            <a:fillRect/>
          </a:stretch>
        </p:blipFill>
        <p:spPr>
          <a:xfrm>
            <a:off x="16144875" y="0"/>
            <a:ext cx="1928827" cy="192882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2"/>
          <p:cNvSpPr txBox="1"/>
          <p:nvPr/>
        </p:nvSpPr>
        <p:spPr>
          <a:xfrm>
            <a:off x="1206499" y="633094"/>
            <a:ext cx="579120" cy="2768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50">
                <a:solidFill>
                  <a:srgbClr val="3F8069"/>
                </a:solidFill>
                <a:latin typeface="Courier New"/>
                <a:ea typeface="Courier New"/>
                <a:cs typeface="Courier New"/>
                <a:sym typeface="Courier New"/>
              </a:rPr>
              <a:t>04.1</a:t>
            </a:r>
            <a:endParaRPr sz="1650">
              <a:latin typeface="Courier New"/>
              <a:ea typeface="Courier New"/>
              <a:cs typeface="Courier New"/>
              <a:sym typeface="Courier New"/>
            </a:endParaRPr>
          </a:p>
        </p:txBody>
      </p:sp>
      <p:sp>
        <p:nvSpPr>
          <p:cNvPr descr="$PPTXTitle" id="337" name="Google Shape;337;p22"/>
          <p:cNvSpPr txBox="1"/>
          <p:nvPr>
            <p:ph type="title"/>
          </p:nvPr>
        </p:nvSpPr>
        <p:spPr>
          <a:xfrm>
            <a:off x="1206499" y="1224597"/>
            <a:ext cx="15060294" cy="6883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Practice 2: CI with Github Actions</a:t>
            </a:r>
            <a:endParaRPr/>
          </a:p>
        </p:txBody>
      </p:sp>
      <p:sp>
        <p:nvSpPr>
          <p:cNvPr id="338" name="Google Shape;338;p22"/>
          <p:cNvSpPr/>
          <p:nvPr/>
        </p:nvSpPr>
        <p:spPr>
          <a:xfrm>
            <a:off x="1219199" y="2152650"/>
            <a:ext cx="15849600" cy="19050"/>
          </a:xfrm>
          <a:custGeom>
            <a:rect b="b" l="l" r="r" t="t"/>
            <a:pathLst>
              <a:path extrusionOk="0" h="19050" w="15849600">
                <a:moveTo>
                  <a:pt x="15849600" y="19050"/>
                </a:moveTo>
                <a:lnTo>
                  <a:pt x="0" y="19050"/>
                </a:lnTo>
                <a:lnTo>
                  <a:pt x="0" y="0"/>
                </a:lnTo>
                <a:lnTo>
                  <a:pt x="15849600" y="0"/>
                </a:lnTo>
                <a:lnTo>
                  <a:pt x="15849600" y="19050"/>
                </a:lnTo>
                <a:close/>
              </a:path>
            </a:pathLst>
          </a:custGeom>
          <a:solidFill>
            <a:srgbClr val="D8DED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39" name="Google Shape;339;p22"/>
          <p:cNvPicPr preferRelativeResize="0"/>
          <p:nvPr/>
        </p:nvPicPr>
        <p:blipFill rotWithShape="1">
          <a:blip r:embed="rId3">
            <a:alphaModFix/>
          </a:blip>
          <a:srcRect b="0" l="0" r="0" t="0"/>
          <a:stretch/>
        </p:blipFill>
        <p:spPr>
          <a:xfrm>
            <a:off x="1219200" y="5780857"/>
            <a:ext cx="7324724" cy="3752849"/>
          </a:xfrm>
          <a:prstGeom prst="rect">
            <a:avLst/>
          </a:prstGeom>
          <a:noFill/>
          <a:ln>
            <a:noFill/>
          </a:ln>
        </p:spPr>
      </p:pic>
      <p:pic>
        <p:nvPicPr>
          <p:cNvPr id="340" name="Google Shape;340;p22"/>
          <p:cNvPicPr preferRelativeResize="0"/>
          <p:nvPr/>
        </p:nvPicPr>
        <p:blipFill rotWithShape="1">
          <a:blip r:embed="rId4">
            <a:alphaModFix/>
          </a:blip>
          <a:srcRect b="0" l="0" r="0" t="0"/>
          <a:stretch/>
        </p:blipFill>
        <p:spPr>
          <a:xfrm>
            <a:off x="1219200" y="2374133"/>
            <a:ext cx="13087349" cy="3209924"/>
          </a:xfrm>
          <a:prstGeom prst="rect">
            <a:avLst/>
          </a:prstGeom>
          <a:noFill/>
          <a:ln>
            <a:noFill/>
          </a:ln>
        </p:spPr>
      </p:pic>
      <p:sp>
        <p:nvSpPr>
          <p:cNvPr id="341" name="Google Shape;341;p22"/>
          <p:cNvSpPr txBox="1"/>
          <p:nvPr/>
        </p:nvSpPr>
        <p:spPr>
          <a:xfrm>
            <a:off x="1206499" y="9618979"/>
            <a:ext cx="711200" cy="231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50">
                <a:solidFill>
                  <a:srgbClr val="3F8069"/>
                </a:solidFill>
                <a:latin typeface="Courier New"/>
                <a:ea typeface="Courier New"/>
                <a:cs typeface="Courier New"/>
                <a:sym typeface="Courier New"/>
              </a:rPr>
              <a:t>DevOps</a:t>
            </a:r>
            <a:endParaRPr sz="1350">
              <a:latin typeface="Courier New"/>
              <a:ea typeface="Courier New"/>
              <a:cs typeface="Courier New"/>
              <a:sym typeface="Courier New"/>
            </a:endParaRPr>
          </a:p>
        </p:txBody>
      </p:sp>
      <p:pic>
        <p:nvPicPr>
          <p:cNvPr id="342" name="Google Shape;342;p22"/>
          <p:cNvPicPr preferRelativeResize="0"/>
          <p:nvPr/>
        </p:nvPicPr>
        <p:blipFill rotWithShape="1">
          <a:blip r:embed="rId5">
            <a:alphaModFix/>
          </a:blip>
          <a:srcRect b="0" l="0" r="0" t="0"/>
          <a:stretch/>
        </p:blipFill>
        <p:spPr>
          <a:xfrm>
            <a:off x="9000262" y="6030530"/>
            <a:ext cx="209550" cy="209550"/>
          </a:xfrm>
          <a:prstGeom prst="rect">
            <a:avLst/>
          </a:prstGeom>
          <a:noFill/>
          <a:ln>
            <a:noFill/>
          </a:ln>
        </p:spPr>
      </p:pic>
      <p:sp>
        <p:nvSpPr>
          <p:cNvPr id="343" name="Google Shape;343;p22"/>
          <p:cNvSpPr txBox="1"/>
          <p:nvPr/>
        </p:nvSpPr>
        <p:spPr>
          <a:xfrm>
            <a:off x="9616197" y="5922000"/>
            <a:ext cx="7452600" cy="1683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550">
                <a:solidFill>
                  <a:srgbClr val="202F40"/>
                </a:solidFill>
                <a:latin typeface="Verdana"/>
                <a:ea typeface="Verdana"/>
                <a:cs typeface="Verdana"/>
                <a:sym typeface="Verdana"/>
              </a:rPr>
              <a:t>Push code: Build Project + Run test (CI)</a:t>
            </a:r>
            <a:endParaRPr sz="2550">
              <a:latin typeface="Verdana"/>
              <a:ea typeface="Verdana"/>
              <a:cs typeface="Verdana"/>
              <a:sym typeface="Verdana"/>
            </a:endParaRPr>
          </a:p>
          <a:p>
            <a:pPr indent="0" lvl="0" marL="12700" marR="36195" rtl="0" algn="l">
              <a:lnSpc>
                <a:spcPct val="225500"/>
              </a:lnSpc>
              <a:spcBef>
                <a:spcPts val="0"/>
              </a:spcBef>
              <a:spcAft>
                <a:spcPts val="0"/>
              </a:spcAft>
              <a:buNone/>
            </a:pPr>
            <a:r>
              <a:rPr lang="en-US" sz="2550">
                <a:solidFill>
                  <a:srgbClr val="202F40"/>
                </a:solidFill>
                <a:latin typeface="Verdana"/>
                <a:ea typeface="Verdana"/>
                <a:cs typeface="Verdana"/>
                <a:sym typeface="Verdana"/>
              </a:rPr>
              <a:t>Merge to develop: Deploy to Beta (CD) Merge to Main: Deploy to Prod (CD)</a:t>
            </a:r>
            <a:endParaRPr sz="2550">
              <a:latin typeface="Verdana"/>
              <a:ea typeface="Verdana"/>
              <a:cs typeface="Verdana"/>
              <a:sym typeface="Verdana"/>
            </a:endParaRPr>
          </a:p>
        </p:txBody>
      </p:sp>
      <p:pic>
        <p:nvPicPr>
          <p:cNvPr id="344" name="Google Shape;344;p22" title="Logo_Color.png"/>
          <p:cNvPicPr preferRelativeResize="0"/>
          <p:nvPr/>
        </p:nvPicPr>
        <p:blipFill>
          <a:blip r:embed="rId6">
            <a:alphaModFix/>
          </a:blip>
          <a:stretch>
            <a:fillRect/>
          </a:stretch>
        </p:blipFill>
        <p:spPr>
          <a:xfrm>
            <a:off x="16144875" y="0"/>
            <a:ext cx="1928827" cy="192882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8" name="Shape 348"/>
        <p:cNvGrpSpPr/>
        <p:nvPr/>
      </p:nvGrpSpPr>
      <p:grpSpPr>
        <a:xfrm>
          <a:off x="0" y="0"/>
          <a:ext cx="0" cy="0"/>
          <a:chOff x="0" y="0"/>
          <a:chExt cx="0" cy="0"/>
        </a:xfrm>
      </p:grpSpPr>
      <p:sp>
        <p:nvSpPr>
          <p:cNvPr id="349" name="Google Shape;349;p23"/>
          <p:cNvSpPr/>
          <p:nvPr/>
        </p:nvSpPr>
        <p:spPr>
          <a:xfrm>
            <a:off x="0" y="0"/>
            <a:ext cx="18288000" cy="10287000"/>
          </a:xfrm>
          <a:custGeom>
            <a:rect b="b" l="l" r="r" t="t"/>
            <a:pathLst>
              <a:path extrusionOk="0" h="10287000" w="18288000">
                <a:moveTo>
                  <a:pt x="18287998" y="10286999"/>
                </a:moveTo>
                <a:lnTo>
                  <a:pt x="0" y="10286999"/>
                </a:lnTo>
                <a:lnTo>
                  <a:pt x="0" y="0"/>
                </a:lnTo>
                <a:lnTo>
                  <a:pt x="18287998" y="0"/>
                </a:lnTo>
                <a:lnTo>
                  <a:pt x="18287998" y="10286999"/>
                </a:lnTo>
                <a:close/>
              </a:path>
            </a:pathLst>
          </a:custGeom>
          <a:solidFill>
            <a:srgbClr val="17324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descr="$PPTXTitle" id="350" name="Google Shape;350;p23"/>
          <p:cNvSpPr txBox="1"/>
          <p:nvPr>
            <p:ph type="title"/>
          </p:nvPr>
        </p:nvSpPr>
        <p:spPr>
          <a:xfrm>
            <a:off x="1206501" y="2024225"/>
            <a:ext cx="5598000" cy="1121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7200">
                <a:solidFill>
                  <a:srgbClr val="FFFFFF"/>
                </a:solidFill>
              </a:rPr>
              <a:t>Sumary</a:t>
            </a:r>
            <a:endParaRPr sz="7200"/>
          </a:p>
        </p:txBody>
      </p:sp>
      <p:sp>
        <p:nvSpPr>
          <p:cNvPr id="351" name="Google Shape;351;p23"/>
          <p:cNvSpPr/>
          <p:nvPr/>
        </p:nvSpPr>
        <p:spPr>
          <a:xfrm>
            <a:off x="1219199" y="4524375"/>
            <a:ext cx="1524000" cy="47625"/>
          </a:xfrm>
          <a:custGeom>
            <a:rect b="b" l="l" r="r" t="t"/>
            <a:pathLst>
              <a:path extrusionOk="0" h="47625" w="1524000">
                <a:moveTo>
                  <a:pt x="1523999" y="47624"/>
                </a:moveTo>
                <a:lnTo>
                  <a:pt x="0" y="47624"/>
                </a:lnTo>
                <a:lnTo>
                  <a:pt x="0" y="0"/>
                </a:lnTo>
                <a:lnTo>
                  <a:pt x="1523999" y="0"/>
                </a:lnTo>
                <a:lnTo>
                  <a:pt x="1523999" y="47624"/>
                </a:lnTo>
                <a:close/>
              </a:path>
            </a:pathLst>
          </a:custGeom>
          <a:solidFill>
            <a:srgbClr val="3F80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2" name="Google Shape;352;p23"/>
          <p:cNvSpPr txBox="1"/>
          <p:nvPr/>
        </p:nvSpPr>
        <p:spPr>
          <a:xfrm>
            <a:off x="1206500" y="5006975"/>
            <a:ext cx="9964500" cy="1475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250">
                <a:solidFill>
                  <a:srgbClr val="FFFFFF"/>
                </a:solidFill>
                <a:latin typeface="Verdana"/>
                <a:ea typeface="Verdana"/>
                <a:cs typeface="Verdana"/>
                <a:sym typeface="Verdana"/>
              </a:rPr>
              <a:t>01 Nội dung khoá học và đề tài</a:t>
            </a:r>
            <a:endParaRPr sz="2250">
              <a:latin typeface="Verdana"/>
              <a:ea typeface="Verdana"/>
              <a:cs typeface="Verdana"/>
              <a:sym typeface="Verdana"/>
            </a:endParaRPr>
          </a:p>
          <a:p>
            <a:pPr indent="0" lvl="0" marL="12700" marR="269875" rtl="0" algn="l">
              <a:lnSpc>
                <a:spcPct val="222200"/>
              </a:lnSpc>
              <a:spcBef>
                <a:spcPts val="0"/>
              </a:spcBef>
              <a:spcAft>
                <a:spcPts val="0"/>
              </a:spcAft>
              <a:buNone/>
            </a:pPr>
            <a:r>
              <a:rPr lang="en-US" sz="2250">
                <a:solidFill>
                  <a:srgbClr val="FFFFFF"/>
                </a:solidFill>
                <a:latin typeface="Verdana"/>
                <a:ea typeface="Verdana"/>
                <a:cs typeface="Verdana"/>
                <a:sym typeface="Verdana"/>
              </a:rPr>
              <a:t>02 Quy trình phát triển dự án 03 Git vs Git workflow</a:t>
            </a:r>
            <a:endParaRPr sz="2250">
              <a:latin typeface="Verdana"/>
              <a:ea typeface="Verdana"/>
              <a:cs typeface="Verdana"/>
              <a:sym typeface="Verdana"/>
            </a:endParaRPr>
          </a:p>
          <a:p>
            <a:pPr indent="0" lvl="0" marL="0" rtl="0" algn="l">
              <a:lnSpc>
                <a:spcPct val="100000"/>
              </a:lnSpc>
              <a:spcBef>
                <a:spcPts val="0"/>
              </a:spcBef>
              <a:spcAft>
                <a:spcPts val="0"/>
              </a:spcAft>
              <a:buNone/>
            </a:pPr>
            <a:r>
              <a:rPr lang="en-US" sz="2250">
                <a:solidFill>
                  <a:srgbClr val="FFFFFF"/>
                </a:solidFill>
                <a:latin typeface="Verdana"/>
                <a:ea typeface="Verdana"/>
                <a:cs typeface="Verdana"/>
                <a:sym typeface="Verdana"/>
              </a:rPr>
              <a:t>0</a:t>
            </a:r>
            <a:r>
              <a:rPr lang="en-US" sz="2250">
                <a:solidFill>
                  <a:srgbClr val="FFFFFF"/>
                </a:solidFill>
                <a:latin typeface="Verdana"/>
                <a:ea typeface="Verdana"/>
                <a:cs typeface="Verdana"/>
                <a:sym typeface="Verdana"/>
              </a:rPr>
              <a:t>4 DevOps vs CICD</a:t>
            </a:r>
            <a:endParaRPr sz="2250">
              <a:latin typeface="Verdana"/>
              <a:ea typeface="Verdana"/>
              <a:cs typeface="Verdana"/>
              <a:sym typeface="Verdana"/>
            </a:endParaRPr>
          </a:p>
        </p:txBody>
      </p:sp>
      <p:pic>
        <p:nvPicPr>
          <p:cNvPr id="353" name="Google Shape;353;p23" title="Logo_white.png"/>
          <p:cNvPicPr preferRelativeResize="0"/>
          <p:nvPr/>
        </p:nvPicPr>
        <p:blipFill>
          <a:blip r:embed="rId3">
            <a:alphaModFix/>
          </a:blip>
          <a:stretch>
            <a:fillRect/>
          </a:stretch>
        </p:blipFill>
        <p:spPr>
          <a:xfrm>
            <a:off x="15939500" y="167000"/>
            <a:ext cx="2051400" cy="1681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2026-08-24T04:45:06Z</dcterms:created>
  <dc:creator>Bình Trương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2026-08-19T00:00:00Z</vt:filetime>
  </property>
  <property fmtid="{D5CDD505-2E9C-101B-9397-08002B2CF9AE}" pid="4" name="Creator">
    <vt:lpwstr>Canva</vt:lpwstr>
  </property>
  <property fmtid="{D5CDD505-2E9C-101B-9397-08002B2CF9AE}" pid="5" name="LastSaved">
    <vt:filetime>2026-08-24T00:00:00Z</vt:filetime>
  </property>
  <property fmtid="{D5CDD505-2E9C-101B-9397-08002B2CF9AE}" pid="6" name="Producer">
    <vt:lpwstr>Canva</vt:lpwstr>
  </property>
</Properties>
</file>