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IBM Plex Mono"/>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1" roundtripDataSignature="AMtx7mhZYn+pj53iFeZiNH4pCMpwAjSU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Mono-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BMPlexMono-bold.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png"/><Relationship Id="rId7" Type="http://schemas.openxmlformats.org/officeDocument/2006/relationships/image" Target="../media/image5.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4.png"/><Relationship Id="rId7"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83" name="Shape 83"/>
        <p:cNvGrpSpPr/>
        <p:nvPr/>
      </p:nvGrpSpPr>
      <p:grpSpPr>
        <a:xfrm>
          <a:off x="0" y="0"/>
          <a:ext cx="0" cy="0"/>
          <a:chOff x="0" y="0"/>
          <a:chExt cx="0" cy="0"/>
        </a:xfrm>
      </p:grpSpPr>
      <p:grpSp>
        <p:nvGrpSpPr>
          <p:cNvPr id="84" name="Google Shape;84;p1"/>
          <p:cNvGrpSpPr/>
          <p:nvPr/>
        </p:nvGrpSpPr>
        <p:grpSpPr>
          <a:xfrm>
            <a:off x="0" y="-28575"/>
            <a:ext cx="209550" cy="10315575"/>
            <a:chOff x="0" y="-38100"/>
            <a:chExt cx="279400" cy="13754100"/>
          </a:xfrm>
        </p:grpSpPr>
        <p:sp>
          <p:nvSpPr>
            <p:cNvPr id="85" name="Google Shape;85;p1"/>
            <p:cNvSpPr/>
            <p:nvPr/>
          </p:nvSpPr>
          <p:spPr>
            <a:xfrm>
              <a:off x="0" y="0"/>
              <a:ext cx="279400" cy="13716000"/>
            </a:xfrm>
            <a:custGeom>
              <a:rect b="b" l="l" r="r" t="t"/>
              <a:pathLst>
                <a:path extrusionOk="0" h="13716000" w="279400">
                  <a:moveTo>
                    <a:pt x="0" y="0"/>
                  </a:moveTo>
                  <a:lnTo>
                    <a:pt x="279400" y="0"/>
                  </a:lnTo>
                  <a:lnTo>
                    <a:pt x="279400" y="13716000"/>
                  </a:lnTo>
                  <a:lnTo>
                    <a:pt x="0" y="13716000"/>
                  </a:lnTo>
                  <a:close/>
                </a:path>
              </a:pathLst>
            </a:custGeom>
            <a:solidFill>
              <a:srgbClr val="3F8069"/>
            </a:solidFill>
            <a:ln>
              <a:noFill/>
            </a:ln>
          </p:spPr>
        </p:sp>
        <p:sp>
          <p:nvSpPr>
            <p:cNvPr id="86" name="Google Shape;86;p1"/>
            <p:cNvSpPr txBox="1"/>
            <p:nvPr/>
          </p:nvSpPr>
          <p:spPr>
            <a:xfrm>
              <a:off x="0" y="-38100"/>
              <a:ext cx="279400" cy="137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txBox="1"/>
          <p:nvPr/>
        </p:nvSpPr>
        <p:spPr>
          <a:xfrm>
            <a:off x="1219200" y="1219200"/>
            <a:ext cx="5715000"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3F8069"/>
                </a:solidFill>
                <a:latin typeface="IBM Plex Mono"/>
                <a:ea typeface="IBM Plex Mono"/>
                <a:cs typeface="IBM Plex Mono"/>
                <a:sym typeface="IBM Plex Mono"/>
              </a:rPr>
              <a:t>SPRING BOOT  ×  AI</a:t>
            </a:r>
            <a:endParaRPr/>
          </a:p>
        </p:txBody>
      </p:sp>
      <p:sp>
        <p:nvSpPr>
          <p:cNvPr id="88" name="Google Shape;88;p1"/>
          <p:cNvSpPr txBox="1"/>
          <p:nvPr/>
        </p:nvSpPr>
        <p:spPr>
          <a:xfrm>
            <a:off x="1288200" y="3407563"/>
            <a:ext cx="15711600" cy="2187900"/>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6900" u="none" cap="none" strike="noStrike">
                <a:solidFill>
                  <a:srgbClr val="17324D"/>
                </a:solidFill>
                <a:latin typeface="Ultra"/>
                <a:ea typeface="Ultra"/>
                <a:cs typeface="Ultra"/>
                <a:sym typeface="Ultra"/>
              </a:rPr>
              <a:t>Developing Smart Web Apps</a:t>
            </a:r>
            <a:endParaRPr/>
          </a:p>
          <a:p>
            <a:pPr indent="0" lvl="0" marL="0" marR="0" rtl="0" algn="l">
              <a:lnSpc>
                <a:spcPct val="105999"/>
              </a:lnSpc>
              <a:spcBef>
                <a:spcPts val="0"/>
              </a:spcBef>
              <a:spcAft>
                <a:spcPts val="0"/>
              </a:spcAft>
              <a:buNone/>
            </a:pPr>
            <a:r>
              <a:rPr b="1" i="0" lang="en-US" sz="6900" u="none" cap="none" strike="noStrike">
                <a:solidFill>
                  <a:srgbClr val="17324D"/>
                </a:solidFill>
                <a:latin typeface="Ultra"/>
                <a:ea typeface="Ultra"/>
                <a:cs typeface="Ultra"/>
                <a:sym typeface="Ultra"/>
              </a:rPr>
              <a:t>with Spring Boot &amp; AI</a:t>
            </a:r>
            <a:endParaRPr/>
          </a:p>
        </p:txBody>
      </p:sp>
      <p:grpSp>
        <p:nvGrpSpPr>
          <p:cNvPr id="89" name="Google Shape;89;p1"/>
          <p:cNvGrpSpPr/>
          <p:nvPr/>
        </p:nvGrpSpPr>
        <p:grpSpPr>
          <a:xfrm>
            <a:off x="1219200" y="7477125"/>
            <a:ext cx="2095500" cy="57150"/>
            <a:chOff x="0" y="-38100"/>
            <a:chExt cx="2794000" cy="76200"/>
          </a:xfrm>
        </p:grpSpPr>
        <p:sp>
          <p:nvSpPr>
            <p:cNvPr id="90" name="Google Shape;90;p1"/>
            <p:cNvSpPr/>
            <p:nvPr/>
          </p:nvSpPr>
          <p:spPr>
            <a:xfrm>
              <a:off x="0" y="0"/>
              <a:ext cx="2794000" cy="38100"/>
            </a:xfrm>
            <a:custGeom>
              <a:rect b="b" l="l" r="r" t="t"/>
              <a:pathLst>
                <a:path extrusionOk="0" h="38100" w="2794000">
                  <a:moveTo>
                    <a:pt x="0" y="0"/>
                  </a:moveTo>
                  <a:lnTo>
                    <a:pt x="2794000" y="0"/>
                  </a:lnTo>
                  <a:lnTo>
                    <a:pt x="2794000" y="38100"/>
                  </a:lnTo>
                  <a:lnTo>
                    <a:pt x="0" y="38100"/>
                  </a:lnTo>
                  <a:close/>
                </a:path>
              </a:pathLst>
            </a:custGeom>
            <a:solidFill>
              <a:srgbClr val="3F8069"/>
            </a:solidFill>
            <a:ln>
              <a:noFill/>
            </a:ln>
          </p:spPr>
        </p:sp>
        <p:sp>
          <p:nvSpPr>
            <p:cNvPr id="91" name="Google Shape;91;p1"/>
            <p:cNvSpPr txBox="1"/>
            <p:nvPr/>
          </p:nvSpPr>
          <p:spPr>
            <a:xfrm>
              <a:off x="0" y="-38100"/>
              <a:ext cx="2794000" cy="762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2" name="Google Shape;92;p1"/>
          <p:cNvSpPr txBox="1"/>
          <p:nvPr/>
        </p:nvSpPr>
        <p:spPr>
          <a:xfrm>
            <a:off x="1219200" y="6422825"/>
            <a:ext cx="13442100" cy="461700"/>
          </a:xfrm>
          <a:prstGeom prst="rect">
            <a:avLst/>
          </a:prstGeom>
          <a:noFill/>
          <a:ln>
            <a:noFill/>
          </a:ln>
        </p:spPr>
        <p:txBody>
          <a:bodyPr anchorCtr="0" anchor="t" bIns="0" lIns="0" spcFirstLastPara="1" rIns="0" wrap="square" tIns="0">
            <a:spAutoFit/>
          </a:bodyPr>
          <a:lstStyle/>
          <a:p>
            <a:pPr indent="0" lvl="0" marL="0" marR="0" rtl="0" algn="l">
              <a:lnSpc>
                <a:spcPct val="138000"/>
              </a:lnSpc>
              <a:spcBef>
                <a:spcPts val="0"/>
              </a:spcBef>
              <a:spcAft>
                <a:spcPts val="0"/>
              </a:spcAft>
              <a:buNone/>
            </a:pPr>
            <a:r>
              <a:rPr b="0" i="0" lang="en-US" sz="3000" u="none" cap="none" strike="noStrike">
                <a:solidFill>
                  <a:srgbClr val="203040"/>
                </a:solidFill>
                <a:latin typeface="Arial"/>
                <a:ea typeface="Arial"/>
                <a:cs typeface="Arial"/>
                <a:sym typeface="Arial"/>
              </a:rPr>
              <a:t>Session 4: Triển khai sản phẩm</a:t>
            </a:r>
            <a:endParaRPr/>
          </a:p>
        </p:txBody>
      </p:sp>
      <p:pic>
        <p:nvPicPr>
          <p:cNvPr id="93" name="Google Shape;93;p1" title="Logo_Color.png"/>
          <p:cNvPicPr preferRelativeResize="0"/>
          <p:nvPr/>
        </p:nvPicPr>
        <p:blipFill rotWithShape="1">
          <a:blip r:embed="rId3">
            <a:alphaModFix/>
          </a:blip>
          <a:srcRect b="0" l="0" r="0" t="0"/>
          <a:stretch/>
        </p:blipFill>
        <p:spPr>
          <a:xfrm>
            <a:off x="16144875" y="0"/>
            <a:ext cx="1928827" cy="19288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24D"/>
        </a:solidFill>
      </p:bgPr>
    </p:bg>
    <p:spTree>
      <p:nvGrpSpPr>
        <p:cNvPr id="97" name="Shape 97"/>
        <p:cNvGrpSpPr/>
        <p:nvPr/>
      </p:nvGrpSpPr>
      <p:grpSpPr>
        <a:xfrm>
          <a:off x="0" y="0"/>
          <a:ext cx="0" cy="0"/>
          <a:chOff x="0" y="0"/>
          <a:chExt cx="0" cy="0"/>
        </a:xfrm>
      </p:grpSpPr>
      <p:grpSp>
        <p:nvGrpSpPr>
          <p:cNvPr id="98" name="Google Shape;98;p2"/>
          <p:cNvGrpSpPr/>
          <p:nvPr/>
        </p:nvGrpSpPr>
        <p:grpSpPr>
          <a:xfrm>
            <a:off x="1219200" y="3114675"/>
            <a:ext cx="876300" cy="104775"/>
            <a:chOff x="0" y="-38100"/>
            <a:chExt cx="1168400" cy="139700"/>
          </a:xfrm>
        </p:grpSpPr>
        <p:sp>
          <p:nvSpPr>
            <p:cNvPr id="99" name="Google Shape;99;p2"/>
            <p:cNvSpPr/>
            <p:nvPr/>
          </p:nvSpPr>
          <p:spPr>
            <a:xfrm>
              <a:off x="0" y="0"/>
              <a:ext cx="1168400" cy="101600"/>
            </a:xfrm>
            <a:custGeom>
              <a:rect b="b" l="l" r="r" t="t"/>
              <a:pathLst>
                <a:path extrusionOk="0" h="101600" w="1168400">
                  <a:moveTo>
                    <a:pt x="0" y="0"/>
                  </a:moveTo>
                  <a:lnTo>
                    <a:pt x="1168400" y="0"/>
                  </a:lnTo>
                  <a:lnTo>
                    <a:pt x="1168400" y="101600"/>
                  </a:lnTo>
                  <a:lnTo>
                    <a:pt x="0" y="101600"/>
                  </a:lnTo>
                  <a:close/>
                </a:path>
              </a:pathLst>
            </a:custGeom>
            <a:solidFill>
              <a:srgbClr val="3F8069"/>
            </a:solidFill>
            <a:ln>
              <a:noFill/>
            </a:ln>
          </p:spPr>
        </p:sp>
        <p:sp>
          <p:nvSpPr>
            <p:cNvPr id="100" name="Google Shape;100;p2"/>
            <p:cNvSpPr txBox="1"/>
            <p:nvPr/>
          </p:nvSpPr>
          <p:spPr>
            <a:xfrm>
              <a:off x="0" y="-38100"/>
              <a:ext cx="11684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2"/>
          <p:cNvSpPr txBox="1"/>
          <p:nvPr/>
        </p:nvSpPr>
        <p:spPr>
          <a:xfrm>
            <a:off x="1219200" y="1009650"/>
            <a:ext cx="1714500" cy="2819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86C7AD"/>
                </a:solidFill>
                <a:latin typeface="IBM Plex Mono"/>
                <a:ea typeface="IBM Plex Mono"/>
                <a:cs typeface="IBM Plex Mono"/>
                <a:sym typeface="IBM Plex Mono"/>
              </a:rPr>
              <a:t>01</a:t>
            </a:r>
            <a:endParaRPr/>
          </a:p>
        </p:txBody>
      </p:sp>
      <p:sp>
        <p:nvSpPr>
          <p:cNvPr id="102" name="Google Shape;102;p2"/>
          <p:cNvSpPr txBox="1"/>
          <p:nvPr/>
        </p:nvSpPr>
        <p:spPr>
          <a:xfrm>
            <a:off x="1219200" y="3686175"/>
            <a:ext cx="14287500" cy="1269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8250" u="none" cap="none" strike="noStrike">
                <a:solidFill>
                  <a:srgbClr val="FFFFFF"/>
                </a:solidFill>
              </a:rPr>
              <a:t>Docker</a:t>
            </a:r>
            <a:endParaRPr sz="3500"/>
          </a:p>
        </p:txBody>
      </p:sp>
      <p:pic>
        <p:nvPicPr>
          <p:cNvPr id="103" name="Google Shape;103;p2" title="Logo_white.png"/>
          <p:cNvPicPr preferRelativeResize="0"/>
          <p:nvPr/>
        </p:nvPicPr>
        <p:blipFill rotWithShape="1">
          <a:blip r:embed="rId3">
            <a:alphaModFix/>
          </a:blip>
          <a:srcRect b="0" l="0" r="0" t="0"/>
          <a:stretch/>
        </p:blipFill>
        <p:spPr>
          <a:xfrm>
            <a:off x="15939500" y="167000"/>
            <a:ext cx="2051400" cy="168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07" name="Shape 107"/>
        <p:cNvGrpSpPr/>
        <p:nvPr/>
      </p:nvGrpSpPr>
      <p:grpSpPr>
        <a:xfrm>
          <a:off x="0" y="0"/>
          <a:ext cx="0" cy="0"/>
          <a:chOff x="0" y="0"/>
          <a:chExt cx="0" cy="0"/>
        </a:xfrm>
      </p:grpSpPr>
      <p:grpSp>
        <p:nvGrpSpPr>
          <p:cNvPr id="108" name="Google Shape;108;p3"/>
          <p:cNvGrpSpPr/>
          <p:nvPr/>
        </p:nvGrpSpPr>
        <p:grpSpPr>
          <a:xfrm>
            <a:off x="1219200" y="638175"/>
            <a:ext cx="15849600" cy="1533525"/>
            <a:chOff x="0" y="-38100"/>
            <a:chExt cx="21132800" cy="2044700"/>
          </a:xfrm>
        </p:grpSpPr>
        <p:sp>
          <p:nvSpPr>
            <p:cNvPr id="109" name="Google Shape;109;p3"/>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01.1</a:t>
              </a:r>
              <a:endParaRPr/>
            </a:p>
          </p:txBody>
        </p:sp>
        <p:sp>
          <p:nvSpPr>
            <p:cNvPr id="110" name="Google Shape;110;p3"/>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Docker</a:t>
              </a:r>
              <a:endParaRPr sz="4950"/>
            </a:p>
          </p:txBody>
        </p:sp>
        <p:grpSp>
          <p:nvGrpSpPr>
            <p:cNvPr id="111" name="Google Shape;111;p3"/>
            <p:cNvGrpSpPr/>
            <p:nvPr/>
          </p:nvGrpSpPr>
          <p:grpSpPr>
            <a:xfrm>
              <a:off x="0" y="1943100"/>
              <a:ext cx="21132800" cy="63500"/>
              <a:chOff x="0" y="-38100"/>
              <a:chExt cx="21132800" cy="63500"/>
            </a:xfrm>
          </p:grpSpPr>
          <p:sp>
            <p:nvSpPr>
              <p:cNvPr id="112" name="Google Shape;112;p3"/>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13" name="Google Shape;113;p3"/>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14" name="Google Shape;114;p3"/>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Docker</a:t>
            </a:r>
            <a:endParaRPr/>
          </a:p>
        </p:txBody>
      </p:sp>
      <p:sp>
        <p:nvSpPr>
          <p:cNvPr id="115" name="Google Shape;115;p3"/>
          <p:cNvSpPr txBox="1"/>
          <p:nvPr/>
        </p:nvSpPr>
        <p:spPr>
          <a:xfrm>
            <a:off x="1028700" y="2317276"/>
            <a:ext cx="16503600" cy="7449300"/>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1" i="0" lang="en-US" sz="2349" u="none" cap="none" strike="noStrike">
                <a:solidFill>
                  <a:srgbClr val="000000"/>
                </a:solidFill>
              </a:rPr>
              <a:t>Docker</a:t>
            </a:r>
            <a:r>
              <a:rPr i="0" lang="en-US" sz="2349" u="none" cap="none" strike="noStrike">
                <a:solidFill>
                  <a:srgbClr val="000000"/>
                </a:solidFill>
              </a:rPr>
              <a:t> là một nền tảng mã nguồn mở (open-source platform) cho phép nhà phát triển xây dựng, đóng gói, triển khai và vận hành ứng dụng trong các môi trường biệt lập gọi là container. Mỗi container bao gồm mã nguồn, môi trường thực thi, thư viện hệ thống, thành phần phụ thuộc và các tệp cấu hình cần thiết, giúp ứng dụng hoạt động nhất quán trong suốt quá trình phát triển, kiểm thử và triển khai.</a:t>
            </a:r>
            <a:endParaRPr i="0" sz="2349" u="none" cap="none" strike="noStrike">
              <a:solidFill>
                <a:srgbClr val="000000"/>
              </a:solidFill>
            </a:endParaRPr>
          </a:p>
          <a:p>
            <a:pPr indent="-240347" lvl="1" marL="442594" marR="0" rtl="0" algn="just">
              <a:lnSpc>
                <a:spcPct val="140019"/>
              </a:lnSpc>
              <a:spcBef>
                <a:spcPts val="0"/>
              </a:spcBef>
              <a:spcAft>
                <a:spcPts val="0"/>
              </a:spcAft>
              <a:buClr>
                <a:srgbClr val="000000"/>
              </a:buClr>
              <a:buSzPts val="2349"/>
              <a:buFont typeface="Arial"/>
              <a:buChar char="•"/>
            </a:pPr>
            <a:r>
              <a:rPr b="1" i="0" lang="en-US" sz="2349" u="none" cap="none" strike="noStrike">
                <a:solidFill>
                  <a:srgbClr val="000000"/>
                </a:solidFill>
              </a:rPr>
              <a:t>Docker Engine</a:t>
            </a:r>
            <a:r>
              <a:rPr i="0" lang="en-US" sz="2349" u="none" cap="none" strike="noStrike">
                <a:solidFill>
                  <a:srgbClr val="000000"/>
                </a:solidFill>
              </a:rPr>
              <a:t>: Là nền tảng cốt lõi chịu trách nhiệm xây dựng image và chạy container. Docker Engine hoạt động theo mô hình client–server, gồm Docker Daemon xử lý tác vụ, REST API làm cầu nối giao tiếp và Docker CLI để người dùng nhập lệnh.</a:t>
            </a:r>
            <a:endParaRPr sz="1700"/>
          </a:p>
          <a:p>
            <a:pPr indent="-240347" lvl="1" marL="442594" marR="0" rtl="0" algn="just">
              <a:lnSpc>
                <a:spcPct val="140019"/>
              </a:lnSpc>
              <a:spcBef>
                <a:spcPts val="0"/>
              </a:spcBef>
              <a:spcAft>
                <a:spcPts val="0"/>
              </a:spcAft>
              <a:buClr>
                <a:srgbClr val="000000"/>
              </a:buClr>
              <a:buSzPts val="2349"/>
              <a:buFont typeface="Arial"/>
              <a:buChar char="•"/>
            </a:pPr>
            <a:r>
              <a:rPr b="1" i="0" lang="en-US" sz="2349" u="none" cap="none" strike="noStrike">
                <a:solidFill>
                  <a:srgbClr val="000000"/>
                </a:solidFill>
              </a:rPr>
              <a:t>Dockerfile</a:t>
            </a:r>
            <a:r>
              <a:rPr i="0" lang="en-US" sz="2349" u="none" cap="none" strike="noStrike">
                <a:solidFill>
                  <a:srgbClr val="000000"/>
                </a:solidFill>
              </a:rPr>
              <a:t>: Là tệp văn bản chứa các chỉ dẫn dùng để tạo Docker Image. Tệp này xác định image nền, thư viện cần cài đặt, mã nguồn cần sao chép và lệnh khởi chạy ứng dụng, giúp quá trình đóng gói được tự động hóa và có thể lặp lại.</a:t>
            </a:r>
            <a:endParaRPr sz="1700"/>
          </a:p>
          <a:p>
            <a:pPr indent="-240347" lvl="1" marL="442594" marR="0" rtl="0" algn="just">
              <a:lnSpc>
                <a:spcPct val="140019"/>
              </a:lnSpc>
              <a:spcBef>
                <a:spcPts val="0"/>
              </a:spcBef>
              <a:spcAft>
                <a:spcPts val="0"/>
              </a:spcAft>
              <a:buClr>
                <a:srgbClr val="000000"/>
              </a:buClr>
              <a:buSzPts val="2349"/>
              <a:buFont typeface="Arial"/>
              <a:buChar char="•"/>
            </a:pPr>
            <a:r>
              <a:rPr b="1" i="0" lang="en-US" sz="2349" u="none" cap="none" strike="noStrike">
                <a:solidFill>
                  <a:srgbClr val="000000"/>
                </a:solidFill>
              </a:rPr>
              <a:t>Docker Image</a:t>
            </a:r>
            <a:r>
              <a:rPr i="0" lang="en-US" sz="2349" u="none" cap="none" strike="noStrike">
                <a:solidFill>
                  <a:srgbClr val="000000"/>
                </a:solidFill>
              </a:rPr>
              <a:t>: Là mẫu chỉ đọc chứa mã nguồn, môi trường thực thi, thư viện và toàn bộ thành phần cần thiết để ứng dụng hoạt động. Image được cấu tạo từ nhiều lớp và sẽ trở thành container khi được Docker khởi chạy.</a:t>
            </a:r>
            <a:endParaRPr sz="1700"/>
          </a:p>
          <a:p>
            <a:pPr indent="-240347" lvl="1" marL="442594" marR="0" rtl="0" algn="just">
              <a:lnSpc>
                <a:spcPct val="140019"/>
              </a:lnSpc>
              <a:spcBef>
                <a:spcPts val="0"/>
              </a:spcBef>
              <a:spcAft>
                <a:spcPts val="0"/>
              </a:spcAft>
              <a:buClr>
                <a:srgbClr val="000000"/>
              </a:buClr>
              <a:buSzPts val="2349"/>
              <a:buFont typeface="Arial"/>
              <a:buChar char="•"/>
            </a:pPr>
            <a:r>
              <a:rPr b="1" i="0" lang="en-US" sz="2349" u="none" cap="none" strike="noStrike">
                <a:solidFill>
                  <a:srgbClr val="000000"/>
                </a:solidFill>
              </a:rPr>
              <a:t>Docker Registry</a:t>
            </a:r>
            <a:r>
              <a:rPr i="0" lang="en-US" sz="2349" u="none" cap="none" strike="noStrike">
                <a:solidFill>
                  <a:srgbClr val="000000"/>
                </a:solidFill>
              </a:rPr>
              <a:t>: Là hệ thống dùng để lưu trữ và phân phối Docker Image. Các image được sắp xếp trong repository và phân biệt bằng tag, giúp người dùng quản lý nhiều phiên bản khác nhau của cùng một ứng dụng.</a:t>
            </a:r>
            <a:endParaRPr sz="1700"/>
          </a:p>
          <a:p>
            <a:pPr indent="-240346" lvl="1" marL="442594" marR="0" rtl="0" algn="just">
              <a:lnSpc>
                <a:spcPct val="140019"/>
              </a:lnSpc>
              <a:spcBef>
                <a:spcPts val="0"/>
              </a:spcBef>
              <a:spcAft>
                <a:spcPts val="0"/>
              </a:spcAft>
              <a:buClr>
                <a:srgbClr val="000000"/>
              </a:buClr>
              <a:buSzPts val="2349"/>
              <a:buFont typeface="Arial"/>
              <a:buChar char="•"/>
            </a:pPr>
            <a:r>
              <a:rPr b="1" i="0" lang="en-US" sz="2349" u="none" cap="none" strike="noStrike">
                <a:solidFill>
                  <a:srgbClr val="000000"/>
                </a:solidFill>
              </a:rPr>
              <a:t>Docker Hub</a:t>
            </a:r>
            <a:r>
              <a:rPr i="0" lang="en-US" sz="2349" u="none" cap="none" strike="noStrike">
                <a:solidFill>
                  <a:srgbClr val="000000"/>
                </a:solidFill>
              </a:rPr>
              <a:t>: Docker Hub là một dịch vụ Docker Registry do Docker Inc. cung cấp. Người dùng có thể tìm kiếm, tải xuống, lưu trữ và chia sẻ image thông qua repository công khai hoặc riêng tư. </a:t>
            </a:r>
            <a:endParaRPr i="0" sz="2349" u="none" cap="none" strike="noStrike">
              <a:solidFill>
                <a:srgbClr val="000000"/>
              </a:solidFill>
            </a:endParaRPr>
          </a:p>
        </p:txBody>
      </p:sp>
      <p:pic>
        <p:nvPicPr>
          <p:cNvPr id="116" name="Google Shape;116;p3" title="Logo_Color.png"/>
          <p:cNvPicPr preferRelativeResize="0"/>
          <p:nvPr/>
        </p:nvPicPr>
        <p:blipFill rotWithShape="1">
          <a:blip r:embed="rId3">
            <a:alphaModFix/>
          </a:blip>
          <a:srcRect b="0" l="0" r="0" t="0"/>
          <a:stretch/>
        </p:blipFill>
        <p:spPr>
          <a:xfrm>
            <a:off x="16144875" y="0"/>
            <a:ext cx="1928827" cy="19288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20" name="Shape 120"/>
        <p:cNvGrpSpPr/>
        <p:nvPr/>
      </p:nvGrpSpPr>
      <p:grpSpPr>
        <a:xfrm>
          <a:off x="0" y="0"/>
          <a:ext cx="0" cy="0"/>
          <a:chOff x="0" y="0"/>
          <a:chExt cx="0" cy="0"/>
        </a:xfrm>
      </p:grpSpPr>
      <p:grpSp>
        <p:nvGrpSpPr>
          <p:cNvPr id="121" name="Google Shape;121;p4"/>
          <p:cNvGrpSpPr/>
          <p:nvPr/>
        </p:nvGrpSpPr>
        <p:grpSpPr>
          <a:xfrm>
            <a:off x="1219200" y="638175"/>
            <a:ext cx="15849600" cy="1533525"/>
            <a:chOff x="0" y="-38100"/>
            <a:chExt cx="21132800" cy="2044700"/>
          </a:xfrm>
        </p:grpSpPr>
        <p:sp>
          <p:nvSpPr>
            <p:cNvPr id="122" name="Google Shape;122;p4"/>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01.2</a:t>
              </a:r>
              <a:endParaRPr/>
            </a:p>
          </p:txBody>
        </p:sp>
        <p:sp>
          <p:nvSpPr>
            <p:cNvPr id="123" name="Google Shape;123;p4"/>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Lợi ích của Docker</a:t>
              </a:r>
              <a:endParaRPr sz="2000"/>
            </a:p>
          </p:txBody>
        </p:sp>
        <p:grpSp>
          <p:nvGrpSpPr>
            <p:cNvPr id="124" name="Google Shape;124;p4"/>
            <p:cNvGrpSpPr/>
            <p:nvPr/>
          </p:nvGrpSpPr>
          <p:grpSpPr>
            <a:xfrm>
              <a:off x="0" y="1943100"/>
              <a:ext cx="21132800" cy="63500"/>
              <a:chOff x="0" y="-38100"/>
              <a:chExt cx="21132800" cy="63500"/>
            </a:xfrm>
          </p:grpSpPr>
          <p:sp>
            <p:nvSpPr>
              <p:cNvPr id="125" name="Google Shape;125;p4"/>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26" name="Google Shape;126;p4"/>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27" name="Google Shape;127;p4"/>
          <p:cNvSpPr/>
          <p:nvPr/>
        </p:nvSpPr>
        <p:spPr>
          <a:xfrm>
            <a:off x="5669064" y="5316544"/>
            <a:ext cx="10763087" cy="4128049"/>
          </a:xfrm>
          <a:custGeom>
            <a:rect b="b" l="l" r="r" t="t"/>
            <a:pathLst>
              <a:path extrusionOk="0" h="4128049" w="10763087">
                <a:moveTo>
                  <a:pt x="0" y="0"/>
                </a:moveTo>
                <a:lnTo>
                  <a:pt x="10763087" y="0"/>
                </a:lnTo>
                <a:lnTo>
                  <a:pt x="10763087" y="4128050"/>
                </a:lnTo>
                <a:lnTo>
                  <a:pt x="0" y="4128050"/>
                </a:lnTo>
                <a:lnTo>
                  <a:pt x="0" y="0"/>
                </a:lnTo>
                <a:close/>
              </a:path>
            </a:pathLst>
          </a:custGeom>
          <a:blipFill rotWithShape="1">
            <a:blip r:embed="rId3">
              <a:alphaModFix/>
            </a:blip>
            <a:stretch>
              <a:fillRect b="0" l="0" r="0" t="0"/>
            </a:stretch>
          </a:blipFill>
          <a:ln>
            <a:noFill/>
          </a:ln>
        </p:spPr>
      </p:sp>
      <p:sp>
        <p:nvSpPr>
          <p:cNvPr id="128" name="Google Shape;128;p4"/>
          <p:cNvSpPr txBox="1"/>
          <p:nvPr/>
        </p:nvSpPr>
        <p:spPr>
          <a:xfrm>
            <a:off x="1028700" y="2049384"/>
            <a:ext cx="16503600" cy="5139300"/>
          </a:xfrm>
          <a:prstGeom prst="rect">
            <a:avLst/>
          </a:prstGeom>
          <a:noFill/>
          <a:ln>
            <a:noFill/>
          </a:ln>
        </p:spPr>
        <p:txBody>
          <a:bodyPr anchorCtr="0" anchor="t" bIns="0" lIns="0" spcFirstLastPara="1" rIns="0" wrap="square" tIns="0">
            <a:spAutoFit/>
          </a:bodyPr>
          <a:lstStyle/>
          <a:p>
            <a:pPr indent="0" lvl="0" marL="0" marR="0" rtl="0" algn="just">
              <a:lnSpc>
                <a:spcPct val="159388"/>
              </a:lnSpc>
              <a:spcBef>
                <a:spcPts val="0"/>
              </a:spcBef>
              <a:spcAft>
                <a:spcPts val="0"/>
              </a:spcAft>
              <a:buNone/>
            </a:pPr>
            <a:r>
              <a:t/>
            </a:r>
            <a:endParaRPr i="0" sz="2200" u="none" cap="none" strike="noStrike">
              <a:solidFill>
                <a:schemeClr val="dk1"/>
              </a:solidFill>
            </a:endParaRPr>
          </a:p>
          <a:p>
            <a:pPr indent="-246697" lvl="1" marL="442594" marR="0" rtl="0" algn="just">
              <a:lnSpc>
                <a:spcPct val="140019"/>
              </a:lnSpc>
              <a:spcBef>
                <a:spcPts val="0"/>
              </a:spcBef>
              <a:spcAft>
                <a:spcPts val="0"/>
              </a:spcAft>
              <a:buClr>
                <a:srgbClr val="000000"/>
              </a:buClr>
              <a:buSzPts val="2449"/>
              <a:buChar char="•"/>
            </a:pPr>
            <a:r>
              <a:rPr i="0" lang="en-US" sz="2449" u="none" cap="none" strike="noStrike">
                <a:solidFill>
                  <a:srgbClr val="000000"/>
                </a:solidFill>
              </a:rPr>
              <a:t>Build 1 nơi, run nhiều nơi, image sẽ được cô lập với môi trường bên ngoài. Tránh trường hợp máy tôi chạy được còn máy ông thì không.</a:t>
            </a:r>
            <a:endParaRPr sz="1800"/>
          </a:p>
          <a:p>
            <a:pPr indent="-246697" lvl="1" marL="442594" marR="0" rtl="0" algn="just">
              <a:lnSpc>
                <a:spcPct val="140019"/>
              </a:lnSpc>
              <a:spcBef>
                <a:spcPts val="0"/>
              </a:spcBef>
              <a:spcAft>
                <a:spcPts val="0"/>
              </a:spcAft>
              <a:buClr>
                <a:srgbClr val="000000"/>
              </a:buClr>
              <a:buSzPts val="2449"/>
              <a:buChar char="•"/>
            </a:pPr>
            <a:r>
              <a:rPr i="0" lang="en-US" sz="2449" u="none" cap="none" strike="noStrike">
                <a:solidFill>
                  <a:srgbClr val="000000"/>
                </a:solidFill>
              </a:rPr>
              <a:t>Phổ biến: Ngày nay các hệ thống deployment đều triển khai trên khái niệm container, và Docker là platform phổ biến nhất</a:t>
            </a:r>
            <a:endParaRPr sz="1800"/>
          </a:p>
          <a:p>
            <a:pPr indent="-246697" lvl="1" marL="442594" marR="0" rtl="0" algn="just">
              <a:lnSpc>
                <a:spcPct val="140019"/>
              </a:lnSpc>
              <a:spcBef>
                <a:spcPts val="0"/>
              </a:spcBef>
              <a:spcAft>
                <a:spcPts val="0"/>
              </a:spcAft>
              <a:buClr>
                <a:srgbClr val="000000"/>
              </a:buClr>
              <a:buSzPts val="2449"/>
              <a:buChar char="•"/>
            </a:pPr>
            <a:r>
              <a:rPr i="0" lang="en-US" sz="2449" u="none" cap="none" strike="noStrike">
                <a:solidFill>
                  <a:srgbClr val="000000"/>
                </a:solidFill>
              </a:rPr>
              <a:t>Set up, triển khai nhanh chóng trên các môi trường. </a:t>
            </a:r>
            <a:endParaRPr sz="1800"/>
          </a:p>
          <a:p>
            <a:pPr indent="-246697" lvl="1" marL="442594" marR="0" rtl="0" algn="just">
              <a:lnSpc>
                <a:spcPct val="140019"/>
              </a:lnSpc>
              <a:spcBef>
                <a:spcPts val="0"/>
              </a:spcBef>
              <a:spcAft>
                <a:spcPts val="0"/>
              </a:spcAft>
              <a:buClr>
                <a:srgbClr val="000000"/>
              </a:buClr>
              <a:buSzPts val="2449"/>
              <a:buChar char="•"/>
            </a:pPr>
            <a:r>
              <a:rPr i="0" lang="en-US" sz="2449" u="none" cap="none" strike="noStrike">
                <a:solidFill>
                  <a:srgbClr val="000000"/>
                </a:solidFill>
              </a:rPr>
              <a:t>Nhẹ hơn máy ảo, dễ dàng scale khi cần.</a:t>
            </a:r>
            <a:endParaRPr sz="1800"/>
          </a:p>
          <a:p>
            <a:pPr indent="0" lvl="0" marL="0" marR="0" rtl="0" algn="just">
              <a:lnSpc>
                <a:spcPct val="140019"/>
              </a:lnSpc>
              <a:spcBef>
                <a:spcPts val="0"/>
              </a:spcBef>
              <a:spcAft>
                <a:spcPts val="0"/>
              </a:spcAft>
              <a:buNone/>
            </a:pPr>
            <a:r>
              <a:t/>
            </a:r>
            <a:endParaRPr i="0" sz="2449" u="none" cap="none" strike="noStrike">
              <a:solidFill>
                <a:srgbClr val="000000"/>
              </a:solidFill>
            </a:endParaRPr>
          </a:p>
          <a:p>
            <a:pPr indent="0" lvl="0" marL="0" marR="0" rtl="0" algn="just">
              <a:lnSpc>
                <a:spcPct val="140019"/>
              </a:lnSpc>
              <a:spcBef>
                <a:spcPts val="0"/>
              </a:spcBef>
              <a:spcAft>
                <a:spcPts val="0"/>
              </a:spcAft>
              <a:buNone/>
            </a:pPr>
            <a:r>
              <a:t/>
            </a:r>
            <a:endParaRPr i="0" sz="2449" u="none" cap="none" strike="noStrike">
              <a:solidFill>
                <a:srgbClr val="000000"/>
              </a:solidFill>
            </a:endParaRPr>
          </a:p>
          <a:p>
            <a:pPr indent="0" lvl="0" marL="0" marR="0" rtl="0" algn="just">
              <a:lnSpc>
                <a:spcPct val="140019"/>
              </a:lnSpc>
              <a:spcBef>
                <a:spcPts val="0"/>
              </a:spcBef>
              <a:spcAft>
                <a:spcPts val="0"/>
              </a:spcAft>
              <a:buNone/>
            </a:pPr>
            <a:r>
              <a:t/>
            </a:r>
            <a:endParaRPr i="0" sz="2449" u="none" cap="none" strike="noStrike">
              <a:solidFill>
                <a:srgbClr val="000000"/>
              </a:solidFill>
            </a:endParaRPr>
          </a:p>
        </p:txBody>
      </p:sp>
      <p:sp>
        <p:nvSpPr>
          <p:cNvPr id="129" name="Google Shape;129;p4"/>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Docker</a:t>
            </a:r>
            <a:endParaRPr/>
          </a:p>
        </p:txBody>
      </p:sp>
      <p:pic>
        <p:nvPicPr>
          <p:cNvPr id="130" name="Google Shape;130;p4"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34" name="Shape 134"/>
        <p:cNvGrpSpPr/>
        <p:nvPr/>
      </p:nvGrpSpPr>
      <p:grpSpPr>
        <a:xfrm>
          <a:off x="0" y="0"/>
          <a:ext cx="0" cy="0"/>
          <a:chOff x="0" y="0"/>
          <a:chExt cx="0" cy="0"/>
        </a:xfrm>
      </p:grpSpPr>
      <p:grpSp>
        <p:nvGrpSpPr>
          <p:cNvPr id="135" name="Google Shape;135;p5"/>
          <p:cNvGrpSpPr/>
          <p:nvPr/>
        </p:nvGrpSpPr>
        <p:grpSpPr>
          <a:xfrm>
            <a:off x="1219200" y="638175"/>
            <a:ext cx="15849600" cy="2133600"/>
            <a:chOff x="0" y="-38100"/>
            <a:chExt cx="21132800" cy="2844800"/>
          </a:xfrm>
        </p:grpSpPr>
        <p:sp>
          <p:nvSpPr>
            <p:cNvPr id="136" name="Google Shape;136;p5"/>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01.3</a:t>
              </a:r>
              <a:endParaRPr/>
            </a:p>
          </p:txBody>
        </p:sp>
        <p:sp>
          <p:nvSpPr>
            <p:cNvPr id="137" name="Google Shape;137;p5"/>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Dockerfile</a:t>
              </a:r>
              <a:endParaRPr b="1" i="0" sz="4950" u="none" cap="none" strike="noStrike">
                <a:solidFill>
                  <a:srgbClr val="17324D"/>
                </a:solidFill>
              </a:endParaRPr>
            </a:p>
          </p:txBody>
        </p:sp>
        <p:grpSp>
          <p:nvGrpSpPr>
            <p:cNvPr id="138" name="Google Shape;138;p5"/>
            <p:cNvGrpSpPr/>
            <p:nvPr/>
          </p:nvGrpSpPr>
          <p:grpSpPr>
            <a:xfrm>
              <a:off x="0" y="2743200"/>
              <a:ext cx="21132800" cy="63500"/>
              <a:chOff x="0" y="-38100"/>
              <a:chExt cx="21132800" cy="63500"/>
            </a:xfrm>
          </p:grpSpPr>
          <p:sp>
            <p:nvSpPr>
              <p:cNvPr id="139" name="Google Shape;139;p5"/>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40" name="Google Shape;140;p5"/>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aphicFrame>
        <p:nvGraphicFramePr>
          <p:cNvPr id="141" name="Google Shape;141;p5"/>
          <p:cNvGraphicFramePr/>
          <p:nvPr/>
        </p:nvGraphicFramePr>
        <p:xfrm>
          <a:off x="11247692" y="1726587"/>
          <a:ext cx="3771900" cy="5657850"/>
        </p:xfrm>
        <a:graphic>
          <a:graphicData uri="http://schemas.openxmlformats.org/presentationml/2006/ole">
            <mc:AlternateContent>
              <mc:Choice Requires="v">
                <p:oleObj r:id="rId4" imgH="5657850" imgW="3771900" progId="Excel.Sheet.12" spid="_x0000_s1">
                  <p:embed/>
                </p:oleObj>
              </mc:Choice>
              <mc:Fallback>
                <p:oleObj r:id="rId5" imgH="5657850" imgW="3771900" progId="Excel.Sheet.12">
                  <p:embed/>
                  <p:pic>
                    <p:nvPicPr>
                      <p:cNvPr id="141" name="Google Shape;141;p5"/>
                      <p:cNvPicPr preferRelativeResize="0"/>
                      <p:nvPr/>
                    </p:nvPicPr>
                    <p:blipFill rotWithShape="1">
                      <a:blip r:embed="rId6">
                        <a:alphaModFix/>
                      </a:blip>
                      <a:srcRect b="0" l="0" r="0" t="0"/>
                      <a:stretch/>
                    </p:blipFill>
                    <p:spPr>
                      <a:xfrm>
                        <a:off x="11247692" y="1726587"/>
                        <a:ext cx="3771900" cy="5657850"/>
                      </a:xfrm>
                      <a:prstGeom prst="rect">
                        <a:avLst/>
                      </a:prstGeom>
                      <a:noFill/>
                      <a:ln>
                        <a:noFill/>
                      </a:ln>
                    </p:spPr>
                  </p:pic>
                </p:oleObj>
              </mc:Fallback>
            </mc:AlternateContent>
          </a:graphicData>
        </a:graphic>
      </p:graphicFrame>
      <p:sp>
        <p:nvSpPr>
          <p:cNvPr id="142" name="Google Shape;142;p5"/>
          <p:cNvSpPr/>
          <p:nvPr/>
        </p:nvSpPr>
        <p:spPr>
          <a:xfrm>
            <a:off x="1219200" y="2296678"/>
            <a:ext cx="7666566" cy="4091591"/>
          </a:xfrm>
          <a:custGeom>
            <a:rect b="b" l="l" r="r" t="t"/>
            <a:pathLst>
              <a:path extrusionOk="0" h="4091591" w="7666566">
                <a:moveTo>
                  <a:pt x="0" y="0"/>
                </a:moveTo>
                <a:lnTo>
                  <a:pt x="7666566" y="0"/>
                </a:lnTo>
                <a:lnTo>
                  <a:pt x="7666566" y="4091591"/>
                </a:lnTo>
                <a:lnTo>
                  <a:pt x="0" y="4091591"/>
                </a:lnTo>
                <a:lnTo>
                  <a:pt x="0" y="0"/>
                </a:lnTo>
                <a:close/>
              </a:path>
            </a:pathLst>
          </a:custGeom>
          <a:blipFill rotWithShape="1">
            <a:blip r:embed="rId7">
              <a:alphaModFix/>
            </a:blip>
            <a:stretch>
              <a:fillRect b="0" l="0" r="0" t="0"/>
            </a:stretch>
          </a:blipFill>
          <a:ln>
            <a:noFill/>
          </a:ln>
        </p:spPr>
      </p:sp>
      <p:sp>
        <p:nvSpPr>
          <p:cNvPr id="143" name="Google Shape;143;p5"/>
          <p:cNvSpPr txBox="1"/>
          <p:nvPr/>
        </p:nvSpPr>
        <p:spPr>
          <a:xfrm>
            <a:off x="1219200" y="6581859"/>
            <a:ext cx="8455968" cy="28162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 1. Build file JAR của Spring Boot</a:t>
            </a:r>
            <a:endParaRPr/>
          </a:p>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./mvnw clean package</a:t>
            </a:r>
            <a:endParaRPr/>
          </a:p>
          <a:p>
            <a:pPr indent="0" lvl="0" marL="0" marR="0" rtl="0" algn="l">
              <a:lnSpc>
                <a:spcPct val="14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 2. Build Docker image</a:t>
            </a:r>
            <a:endParaRPr/>
          </a:p>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docker build -t spring-app .</a:t>
            </a:r>
            <a:endParaRPr/>
          </a:p>
          <a:p>
            <a:pPr indent="0" lvl="0" marL="0" marR="0" rtl="0" algn="l">
              <a:lnSpc>
                <a:spcPct val="14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 3. Run container</a:t>
            </a:r>
            <a:endParaRPr/>
          </a:p>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docker run -d --name spring-app -p 8080:8080 spring-app</a:t>
            </a:r>
            <a:endParaRPr/>
          </a:p>
        </p:txBody>
      </p:sp>
      <p:sp>
        <p:nvSpPr>
          <p:cNvPr id="144" name="Google Shape;144;p5"/>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Docker</a:t>
            </a:r>
            <a:endParaRPr/>
          </a:p>
        </p:txBody>
      </p:sp>
      <p:pic>
        <p:nvPicPr>
          <p:cNvPr id="145" name="Google Shape;145;p5" title="Logo_Color.png"/>
          <p:cNvPicPr preferRelativeResize="0"/>
          <p:nvPr/>
        </p:nvPicPr>
        <p:blipFill rotWithShape="1">
          <a:blip r:embed="rId8">
            <a:alphaModFix/>
          </a:blip>
          <a:srcRect b="0" l="0" r="0" t="0"/>
          <a:stretch/>
        </p:blipFill>
        <p:spPr>
          <a:xfrm>
            <a:off x="16144875" y="0"/>
            <a:ext cx="1928827" cy="192882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49" name="Shape 149"/>
        <p:cNvGrpSpPr/>
        <p:nvPr/>
      </p:nvGrpSpPr>
      <p:grpSpPr>
        <a:xfrm>
          <a:off x="0" y="0"/>
          <a:ext cx="0" cy="0"/>
          <a:chOff x="0" y="0"/>
          <a:chExt cx="0" cy="0"/>
        </a:xfrm>
      </p:grpSpPr>
      <p:grpSp>
        <p:nvGrpSpPr>
          <p:cNvPr id="150" name="Google Shape;150;p6"/>
          <p:cNvGrpSpPr/>
          <p:nvPr/>
        </p:nvGrpSpPr>
        <p:grpSpPr>
          <a:xfrm>
            <a:off x="1219200" y="638175"/>
            <a:ext cx="15849600" cy="1533525"/>
            <a:chOff x="0" y="-38100"/>
            <a:chExt cx="21132800" cy="2044700"/>
          </a:xfrm>
        </p:grpSpPr>
        <p:sp>
          <p:nvSpPr>
            <p:cNvPr id="151" name="Google Shape;151;p6"/>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01.4</a:t>
              </a:r>
              <a:endParaRPr/>
            </a:p>
          </p:txBody>
        </p:sp>
        <p:sp>
          <p:nvSpPr>
            <p:cNvPr id="152" name="Google Shape;152;p6"/>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Docker Compose</a:t>
              </a:r>
              <a:endParaRPr sz="2000"/>
            </a:p>
          </p:txBody>
        </p:sp>
        <p:grpSp>
          <p:nvGrpSpPr>
            <p:cNvPr id="153" name="Google Shape;153;p6"/>
            <p:cNvGrpSpPr/>
            <p:nvPr/>
          </p:nvGrpSpPr>
          <p:grpSpPr>
            <a:xfrm>
              <a:off x="0" y="1943100"/>
              <a:ext cx="21132800" cy="63500"/>
              <a:chOff x="0" y="-38100"/>
              <a:chExt cx="21132800" cy="63500"/>
            </a:xfrm>
          </p:grpSpPr>
          <p:sp>
            <p:nvSpPr>
              <p:cNvPr id="154" name="Google Shape;154;p6"/>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55" name="Google Shape;155;p6"/>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56" name="Google Shape;156;p6"/>
          <p:cNvSpPr/>
          <p:nvPr/>
        </p:nvSpPr>
        <p:spPr>
          <a:xfrm>
            <a:off x="11100938" y="2650830"/>
            <a:ext cx="6158362" cy="6711036"/>
          </a:xfrm>
          <a:custGeom>
            <a:rect b="b" l="l" r="r" t="t"/>
            <a:pathLst>
              <a:path extrusionOk="0" h="6711036" w="6158362">
                <a:moveTo>
                  <a:pt x="0" y="0"/>
                </a:moveTo>
                <a:lnTo>
                  <a:pt x="6158362" y="0"/>
                </a:lnTo>
                <a:lnTo>
                  <a:pt x="6158362" y="6711035"/>
                </a:lnTo>
                <a:lnTo>
                  <a:pt x="0" y="6711035"/>
                </a:lnTo>
                <a:lnTo>
                  <a:pt x="0" y="0"/>
                </a:lnTo>
                <a:close/>
              </a:path>
            </a:pathLst>
          </a:custGeom>
          <a:blipFill rotWithShape="1">
            <a:blip r:embed="rId3">
              <a:alphaModFix/>
            </a:blip>
            <a:stretch>
              <a:fillRect b="0" l="0" r="0" t="0"/>
            </a:stretch>
          </a:blipFill>
          <a:ln>
            <a:noFill/>
          </a:ln>
        </p:spPr>
      </p:sp>
      <p:sp>
        <p:nvSpPr>
          <p:cNvPr id="157" name="Google Shape;157;p6"/>
          <p:cNvSpPr txBox="1"/>
          <p:nvPr/>
        </p:nvSpPr>
        <p:spPr>
          <a:xfrm>
            <a:off x="1028700" y="2603205"/>
            <a:ext cx="9561600" cy="6797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300" u="none" cap="none" strike="noStrike">
                <a:solidFill>
                  <a:srgbClr val="000000"/>
                </a:solidFill>
              </a:rPr>
              <a:t>Docker-Compose là gì?</a:t>
            </a:r>
            <a:endParaRPr sz="1700"/>
          </a:p>
          <a:p>
            <a:pPr indent="0" lvl="0" marL="0" marR="0" rtl="0" algn="l">
              <a:lnSpc>
                <a:spcPct val="140000"/>
              </a:lnSpc>
              <a:spcBef>
                <a:spcPts val="0"/>
              </a:spcBef>
              <a:spcAft>
                <a:spcPts val="0"/>
              </a:spcAft>
              <a:buNone/>
            </a:pPr>
            <a:r>
              <a:t/>
            </a:r>
            <a:endParaRPr b="1" i="0" sz="2300" u="none" cap="none" strike="noStrike">
              <a:solidFill>
                <a:srgbClr val="000000"/>
              </a:solidFill>
            </a:endParaRPr>
          </a:p>
          <a:p>
            <a:pPr indent="0" lvl="0" marL="0" marR="0" rtl="0" algn="l">
              <a:lnSpc>
                <a:spcPct val="140000"/>
              </a:lnSpc>
              <a:spcBef>
                <a:spcPts val="0"/>
              </a:spcBef>
              <a:spcAft>
                <a:spcPts val="0"/>
              </a:spcAft>
              <a:buNone/>
            </a:pPr>
            <a:r>
              <a:rPr i="0" lang="en-US" sz="2300" u="none" cap="none" strike="noStrike">
                <a:solidFill>
                  <a:srgbClr val="000000"/>
                </a:solidFill>
              </a:rPr>
              <a:t>Tưởng tượng bạn đang làm một backend Spring Boot, nhưng để app chạy được thì cần thêm PostgreSQL + Redis.</a:t>
            </a:r>
            <a:endParaRPr sz="1700"/>
          </a:p>
          <a:p>
            <a:pPr indent="0" lvl="0" marL="0" marR="0" rtl="0" algn="l">
              <a:lnSpc>
                <a:spcPct val="140000"/>
              </a:lnSpc>
              <a:spcBef>
                <a:spcPts val="0"/>
              </a:spcBef>
              <a:spcAft>
                <a:spcPts val="0"/>
              </a:spcAft>
              <a:buNone/>
            </a:pPr>
            <a:r>
              <a:rPr i="0" lang="en-US" sz="2300" u="none" cap="none" strike="noStrike">
                <a:solidFill>
                  <a:srgbClr val="000000"/>
                </a:solidFill>
              </a:rPr>
              <a:t>Khi bạn cần lập trình bạn phải cài đặt DB vs Redis trên máy local hoặc một nền tảng nào đó → Tốn nhiều thời gian, resouce. Team nhiều người → tốn công setup infra cho người mới.</a:t>
            </a:r>
            <a:endParaRPr i="0" sz="2300" u="none" cap="none" strike="noStrike">
              <a:solidFill>
                <a:srgbClr val="000000"/>
              </a:solidFill>
            </a:endParaRPr>
          </a:p>
          <a:p>
            <a:pPr indent="0" lvl="0" marL="0" marR="0" rtl="0" algn="l">
              <a:lnSpc>
                <a:spcPct val="140000"/>
              </a:lnSpc>
              <a:spcBef>
                <a:spcPts val="0"/>
              </a:spcBef>
              <a:spcAft>
                <a:spcPts val="0"/>
              </a:spcAft>
              <a:buNone/>
            </a:pPr>
            <a:r>
              <a:t/>
            </a:r>
            <a:endParaRPr sz="2300"/>
          </a:p>
          <a:p>
            <a:pPr indent="0" lvl="0" marL="0" marR="0" rtl="0" algn="l">
              <a:lnSpc>
                <a:spcPct val="140000"/>
              </a:lnSpc>
              <a:spcBef>
                <a:spcPts val="0"/>
              </a:spcBef>
              <a:spcAft>
                <a:spcPts val="0"/>
              </a:spcAft>
              <a:buNone/>
            </a:pPr>
            <a:r>
              <a:rPr b="1" i="0" lang="en-US" sz="2300" u="none" cap="none" strike="noStrike">
                <a:solidFill>
                  <a:srgbClr val="000000"/>
                </a:solidFill>
              </a:rPr>
              <a:t>→ Docker-compose</a:t>
            </a:r>
            <a:endParaRPr sz="1700"/>
          </a:p>
          <a:p>
            <a:pPr indent="0" lvl="0" marL="0" marR="0" rtl="0" algn="l">
              <a:lnSpc>
                <a:spcPct val="140000"/>
              </a:lnSpc>
              <a:spcBef>
                <a:spcPts val="0"/>
              </a:spcBef>
              <a:spcAft>
                <a:spcPts val="0"/>
              </a:spcAft>
              <a:buNone/>
            </a:pPr>
            <a:r>
              <a:t/>
            </a:r>
            <a:endParaRPr b="1" i="0" sz="2300" u="none" cap="none" strike="noStrike">
              <a:solidFill>
                <a:srgbClr val="000000"/>
              </a:solidFill>
            </a:endParaRPr>
          </a:p>
          <a:p>
            <a:pPr indent="0" lvl="0" marL="0" marR="0" rtl="0" algn="l">
              <a:lnSpc>
                <a:spcPct val="140000"/>
              </a:lnSpc>
              <a:spcBef>
                <a:spcPts val="0"/>
              </a:spcBef>
              <a:spcAft>
                <a:spcPts val="0"/>
              </a:spcAft>
              <a:buNone/>
            </a:pPr>
            <a:r>
              <a:rPr i="0" lang="en-US" sz="2300" u="none" cap="none" strike="noStrike">
                <a:solidFill>
                  <a:srgbClr val="000000"/>
                </a:solidFill>
              </a:rPr>
              <a:t>Docker Compose là công cụ giúp định nghĩa và chạy các ứng dụng Docker gồm nhiều container (multi-container) thông qua một file cấu hình duy nhất dạng YAML</a:t>
            </a:r>
            <a:endParaRPr sz="2300"/>
          </a:p>
          <a:p>
            <a:pPr indent="0" lvl="0" marL="0" marR="0" rtl="0" algn="l">
              <a:lnSpc>
                <a:spcPct val="140000"/>
              </a:lnSpc>
              <a:spcBef>
                <a:spcPts val="0"/>
              </a:spcBef>
              <a:spcAft>
                <a:spcPts val="0"/>
              </a:spcAft>
              <a:buNone/>
            </a:pPr>
            <a:r>
              <a:rPr i="0" lang="en-US" sz="2300" u="none" cap="none" strike="noStrike">
                <a:solidFill>
                  <a:srgbClr val="000000"/>
                </a:solidFill>
              </a:rPr>
              <a:t>→ start everything in one step </a:t>
            </a:r>
            <a:endParaRPr i="0" sz="2300" u="none" cap="none" strike="noStrike">
              <a:solidFill>
                <a:srgbClr val="000000"/>
              </a:solidFill>
            </a:endParaRPr>
          </a:p>
        </p:txBody>
      </p:sp>
      <p:sp>
        <p:nvSpPr>
          <p:cNvPr id="158" name="Google Shape;158;p6"/>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Docker</a:t>
            </a:r>
            <a:endParaRPr/>
          </a:p>
        </p:txBody>
      </p:sp>
      <p:pic>
        <p:nvPicPr>
          <p:cNvPr id="159" name="Google Shape;159;p6"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24D"/>
        </a:solidFill>
      </p:bgPr>
    </p:bg>
    <p:spTree>
      <p:nvGrpSpPr>
        <p:cNvPr id="163" name="Shape 163"/>
        <p:cNvGrpSpPr/>
        <p:nvPr/>
      </p:nvGrpSpPr>
      <p:grpSpPr>
        <a:xfrm>
          <a:off x="0" y="0"/>
          <a:ext cx="0" cy="0"/>
          <a:chOff x="0" y="0"/>
          <a:chExt cx="0" cy="0"/>
        </a:xfrm>
      </p:grpSpPr>
      <p:grpSp>
        <p:nvGrpSpPr>
          <p:cNvPr id="164" name="Google Shape;164;p7"/>
          <p:cNvGrpSpPr/>
          <p:nvPr/>
        </p:nvGrpSpPr>
        <p:grpSpPr>
          <a:xfrm>
            <a:off x="1219200" y="3114675"/>
            <a:ext cx="876300" cy="104775"/>
            <a:chOff x="0" y="-38100"/>
            <a:chExt cx="1168400" cy="139700"/>
          </a:xfrm>
        </p:grpSpPr>
        <p:sp>
          <p:nvSpPr>
            <p:cNvPr id="165" name="Google Shape;165;p7"/>
            <p:cNvSpPr/>
            <p:nvPr/>
          </p:nvSpPr>
          <p:spPr>
            <a:xfrm>
              <a:off x="0" y="0"/>
              <a:ext cx="1168400" cy="101600"/>
            </a:xfrm>
            <a:custGeom>
              <a:rect b="b" l="l" r="r" t="t"/>
              <a:pathLst>
                <a:path extrusionOk="0" h="101600" w="1168400">
                  <a:moveTo>
                    <a:pt x="0" y="0"/>
                  </a:moveTo>
                  <a:lnTo>
                    <a:pt x="1168400" y="0"/>
                  </a:lnTo>
                  <a:lnTo>
                    <a:pt x="1168400" y="101600"/>
                  </a:lnTo>
                  <a:lnTo>
                    <a:pt x="0" y="101600"/>
                  </a:lnTo>
                  <a:close/>
                </a:path>
              </a:pathLst>
            </a:custGeom>
            <a:solidFill>
              <a:srgbClr val="3F8069"/>
            </a:solidFill>
            <a:ln>
              <a:noFill/>
            </a:ln>
          </p:spPr>
        </p:sp>
        <p:sp>
          <p:nvSpPr>
            <p:cNvPr id="166" name="Google Shape;166;p7"/>
            <p:cNvSpPr txBox="1"/>
            <p:nvPr/>
          </p:nvSpPr>
          <p:spPr>
            <a:xfrm>
              <a:off x="0" y="-38100"/>
              <a:ext cx="11684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7" name="Google Shape;167;p7"/>
          <p:cNvSpPr txBox="1"/>
          <p:nvPr/>
        </p:nvSpPr>
        <p:spPr>
          <a:xfrm>
            <a:off x="1219200" y="1009650"/>
            <a:ext cx="1714500" cy="2819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86C7AD"/>
                </a:solidFill>
                <a:latin typeface="IBM Plex Mono"/>
                <a:ea typeface="IBM Plex Mono"/>
                <a:cs typeface="IBM Plex Mono"/>
                <a:sym typeface="IBM Plex Mono"/>
              </a:rPr>
              <a:t>02</a:t>
            </a:r>
            <a:endParaRPr/>
          </a:p>
        </p:txBody>
      </p:sp>
      <p:sp>
        <p:nvSpPr>
          <p:cNvPr id="168" name="Google Shape;168;p7"/>
          <p:cNvSpPr txBox="1"/>
          <p:nvPr/>
        </p:nvSpPr>
        <p:spPr>
          <a:xfrm>
            <a:off x="1219200" y="3686175"/>
            <a:ext cx="14287500" cy="11007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7150" u="none" cap="none" strike="noStrike">
                <a:solidFill>
                  <a:srgbClr val="FFFFFF"/>
                </a:solidFill>
              </a:rPr>
              <a:t>Triển khai sản phẩm</a:t>
            </a:r>
            <a:endParaRPr sz="2400"/>
          </a:p>
        </p:txBody>
      </p:sp>
      <p:pic>
        <p:nvPicPr>
          <p:cNvPr id="169" name="Google Shape;169;p7" title="Logo_white.png"/>
          <p:cNvPicPr preferRelativeResize="0"/>
          <p:nvPr/>
        </p:nvPicPr>
        <p:blipFill rotWithShape="1">
          <a:blip r:embed="rId3">
            <a:alphaModFix/>
          </a:blip>
          <a:srcRect b="0" l="0" r="0" t="0"/>
          <a:stretch/>
        </p:blipFill>
        <p:spPr>
          <a:xfrm>
            <a:off x="15939500" y="167000"/>
            <a:ext cx="2051400" cy="1681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73" name="Shape 173"/>
        <p:cNvGrpSpPr/>
        <p:nvPr/>
      </p:nvGrpSpPr>
      <p:grpSpPr>
        <a:xfrm>
          <a:off x="0" y="0"/>
          <a:ext cx="0" cy="0"/>
          <a:chOff x="0" y="0"/>
          <a:chExt cx="0" cy="0"/>
        </a:xfrm>
      </p:grpSpPr>
      <p:grpSp>
        <p:nvGrpSpPr>
          <p:cNvPr id="174" name="Google Shape;174;p8"/>
          <p:cNvGrpSpPr/>
          <p:nvPr/>
        </p:nvGrpSpPr>
        <p:grpSpPr>
          <a:xfrm>
            <a:off x="1219200" y="638175"/>
            <a:ext cx="15849600" cy="2133600"/>
            <a:chOff x="0" y="-38100"/>
            <a:chExt cx="21132800" cy="2844800"/>
          </a:xfrm>
        </p:grpSpPr>
        <p:sp>
          <p:nvSpPr>
            <p:cNvPr id="175" name="Google Shape;175;p8"/>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02.1</a:t>
              </a:r>
              <a:endParaRPr/>
            </a:p>
          </p:txBody>
        </p:sp>
        <p:sp>
          <p:nvSpPr>
            <p:cNvPr id="176" name="Google Shape;176;p8"/>
            <p:cNvSpPr txBox="1"/>
            <p:nvPr/>
          </p:nvSpPr>
          <p:spPr>
            <a:xfrm>
              <a:off x="0" y="784225"/>
              <a:ext cx="201714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Front-end</a:t>
              </a:r>
              <a:endParaRPr sz="4950"/>
            </a:p>
          </p:txBody>
        </p:sp>
        <p:grpSp>
          <p:nvGrpSpPr>
            <p:cNvPr id="177" name="Google Shape;177;p8"/>
            <p:cNvGrpSpPr/>
            <p:nvPr/>
          </p:nvGrpSpPr>
          <p:grpSpPr>
            <a:xfrm>
              <a:off x="0" y="2743200"/>
              <a:ext cx="21132800" cy="63500"/>
              <a:chOff x="0" y="-38100"/>
              <a:chExt cx="21132800" cy="63500"/>
            </a:xfrm>
          </p:grpSpPr>
          <p:sp>
            <p:nvSpPr>
              <p:cNvPr id="178" name="Google Shape;178;p8"/>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79" name="Google Shape;179;p8"/>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80" name="Google Shape;180;p8"/>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Triển khai</a:t>
            </a:r>
            <a:endParaRPr/>
          </a:p>
        </p:txBody>
      </p:sp>
      <p:sp>
        <p:nvSpPr>
          <p:cNvPr id="181" name="Google Shape;181;p8"/>
          <p:cNvSpPr txBox="1"/>
          <p:nvPr/>
        </p:nvSpPr>
        <p:spPr>
          <a:xfrm>
            <a:off x="1219200" y="3162753"/>
            <a:ext cx="16257900" cy="5772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00" u="none" cap="none" strike="noStrike">
                <a:solidFill>
                  <a:srgbClr val="000000"/>
                </a:solidFill>
              </a:rPr>
              <a:t>Vercel</a:t>
            </a:r>
            <a:r>
              <a:rPr i="0" lang="en-US" sz="2500" u="none" cap="none" strike="noStrike">
                <a:solidFill>
                  <a:srgbClr val="000000"/>
                </a:solidFill>
              </a:rPr>
              <a:t> (công ty đứng sau Next.js) là một nền tảng cloud platform tập trung vào Frontend và Serverless Functions.</a:t>
            </a:r>
            <a:endParaRPr sz="1900"/>
          </a:p>
          <a:p>
            <a:pPr indent="0" lvl="0" marL="0" marR="0" rtl="0" algn="ctr">
              <a:lnSpc>
                <a:spcPct val="140000"/>
              </a:lnSpc>
              <a:spcBef>
                <a:spcPts val="0"/>
              </a:spcBef>
              <a:spcAft>
                <a:spcPts val="0"/>
              </a:spcAft>
              <a:buNone/>
            </a:pPr>
            <a:r>
              <a:t/>
            </a:r>
            <a:endParaRPr i="0" sz="2500" u="none" cap="none" strike="noStrike">
              <a:solidFill>
                <a:srgbClr val="000000"/>
              </a:solidFill>
            </a:endParaRPr>
          </a:p>
          <a:p>
            <a:pPr indent="0" lvl="0" marL="0" marR="0" rtl="0" algn="l">
              <a:lnSpc>
                <a:spcPct val="140000"/>
              </a:lnSpc>
              <a:spcBef>
                <a:spcPts val="0"/>
              </a:spcBef>
              <a:spcAft>
                <a:spcPts val="0"/>
              </a:spcAft>
              <a:buNone/>
            </a:pPr>
            <a:r>
              <a:rPr i="0" lang="en-US" sz="2500" u="none" cap="none" strike="noStrike">
                <a:solidFill>
                  <a:srgbClr val="000000"/>
                </a:solidFill>
              </a:rPr>
              <a:t> Cách triển khai ứng dụng FE (đặc biệt nếu xài NextJS) là vô cùng đơn giản:</a:t>
            </a:r>
            <a:endParaRPr sz="1900"/>
          </a:p>
          <a:p>
            <a:pPr indent="0" lvl="0" marL="0" marR="0" rtl="0" algn="l">
              <a:lnSpc>
                <a:spcPct val="140000"/>
              </a:lnSpc>
              <a:spcBef>
                <a:spcPts val="0"/>
              </a:spcBef>
              <a:spcAft>
                <a:spcPts val="0"/>
              </a:spcAft>
              <a:buNone/>
            </a:pPr>
            <a:r>
              <a:t/>
            </a:r>
            <a:endParaRPr i="0" sz="2500" u="none" cap="none" strike="noStrike">
              <a:solidFill>
                <a:srgbClr val="000000"/>
              </a:solidFill>
            </a:endParaRPr>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Push code lên Github (có thể dùng nền tảng Repository khác)</a:t>
            </a:r>
            <a:endParaRPr sz="1900"/>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Tạo Project mới trên Vercel → Connect tới Repo → Cài đặt các biến môi trường (env) phù hợp → Deploy</a:t>
            </a:r>
            <a:endParaRPr sz="1900"/>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Các lần sau, khi push code mới lên Github sẽ tự động sync và rebuild bên Vercel</a:t>
            </a:r>
            <a:endParaRPr sz="1900"/>
          </a:p>
          <a:p>
            <a:pPr indent="0" lvl="0" marL="0" marR="0" rtl="0" algn="l">
              <a:lnSpc>
                <a:spcPct val="140000"/>
              </a:lnSpc>
              <a:spcBef>
                <a:spcPts val="0"/>
              </a:spcBef>
              <a:spcAft>
                <a:spcPts val="0"/>
              </a:spcAft>
              <a:buNone/>
            </a:pPr>
            <a:r>
              <a:t/>
            </a:r>
            <a:endParaRPr i="0" sz="2500" u="none" cap="none" strike="noStrike">
              <a:solidFill>
                <a:srgbClr val="000000"/>
              </a:solidFill>
            </a:endParaRPr>
          </a:p>
          <a:p>
            <a:pPr indent="0" lvl="0" marL="0" marR="0" rtl="0" algn="l">
              <a:lnSpc>
                <a:spcPct val="140000"/>
              </a:lnSpc>
              <a:spcBef>
                <a:spcPts val="0"/>
              </a:spcBef>
              <a:spcAft>
                <a:spcPts val="0"/>
              </a:spcAft>
              <a:buNone/>
            </a:pPr>
            <a:r>
              <a:rPr i="0" lang="en-US" sz="2500" u="none" cap="none" strike="noStrike">
                <a:solidFill>
                  <a:srgbClr val="000000"/>
                </a:solidFill>
              </a:rPr>
              <a:t>Ngoài ra có các lựa chọn khác: </a:t>
            </a:r>
            <a:r>
              <a:rPr b="1" i="0" lang="en-US" sz="2500" u="none" cap="none" strike="noStrike">
                <a:solidFill>
                  <a:srgbClr val="000000"/>
                </a:solidFill>
              </a:rPr>
              <a:t>Render, S3 Static Web Hosting, Github Page,...</a:t>
            </a:r>
            <a:endParaRPr sz="1900"/>
          </a:p>
          <a:p>
            <a:pPr indent="0" lvl="0" marL="0" marR="0" rtl="0" algn="l">
              <a:lnSpc>
                <a:spcPct val="140000"/>
              </a:lnSpc>
              <a:spcBef>
                <a:spcPts val="0"/>
              </a:spcBef>
              <a:spcAft>
                <a:spcPts val="0"/>
              </a:spcAft>
              <a:buNone/>
            </a:pPr>
            <a:r>
              <a:t/>
            </a:r>
            <a:endParaRPr b="1" i="0" sz="2500" u="none" cap="none" strike="noStrike">
              <a:solidFill>
                <a:srgbClr val="000000"/>
              </a:solidFill>
            </a:endParaRPr>
          </a:p>
          <a:p>
            <a:pPr indent="0" lvl="0" marL="0" marR="0" rtl="0" algn="ctr">
              <a:lnSpc>
                <a:spcPct val="140000"/>
              </a:lnSpc>
              <a:spcBef>
                <a:spcPts val="0"/>
              </a:spcBef>
              <a:spcAft>
                <a:spcPts val="0"/>
              </a:spcAft>
              <a:buNone/>
            </a:pPr>
            <a:r>
              <a:t/>
            </a:r>
            <a:endParaRPr b="1" i="0" sz="2500" u="none" cap="none" strike="noStrike">
              <a:solidFill>
                <a:srgbClr val="000000"/>
              </a:solidFill>
            </a:endParaRPr>
          </a:p>
        </p:txBody>
      </p:sp>
      <p:pic>
        <p:nvPicPr>
          <p:cNvPr id="182" name="Google Shape;182;p8" title="Logo_Color.png"/>
          <p:cNvPicPr preferRelativeResize="0"/>
          <p:nvPr/>
        </p:nvPicPr>
        <p:blipFill rotWithShape="1">
          <a:blip r:embed="rId3">
            <a:alphaModFix/>
          </a:blip>
          <a:srcRect b="0" l="0" r="0" t="0"/>
          <a:stretch/>
        </p:blipFill>
        <p:spPr>
          <a:xfrm>
            <a:off x="16144875" y="0"/>
            <a:ext cx="1928827" cy="19288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86" name="Shape 186"/>
        <p:cNvGrpSpPr/>
        <p:nvPr/>
      </p:nvGrpSpPr>
      <p:grpSpPr>
        <a:xfrm>
          <a:off x="0" y="0"/>
          <a:ext cx="0" cy="0"/>
          <a:chOff x="0" y="0"/>
          <a:chExt cx="0" cy="0"/>
        </a:xfrm>
      </p:grpSpPr>
      <p:grpSp>
        <p:nvGrpSpPr>
          <p:cNvPr id="187" name="Google Shape;187;p9"/>
          <p:cNvGrpSpPr/>
          <p:nvPr/>
        </p:nvGrpSpPr>
        <p:grpSpPr>
          <a:xfrm>
            <a:off x="1219200" y="638175"/>
            <a:ext cx="15849600" cy="1533525"/>
            <a:chOff x="0" y="-38100"/>
            <a:chExt cx="21132800" cy="2044700"/>
          </a:xfrm>
        </p:grpSpPr>
        <p:sp>
          <p:nvSpPr>
            <p:cNvPr id="188" name="Google Shape;188;p9"/>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02.2</a:t>
              </a:r>
              <a:endParaRPr/>
            </a:p>
          </p:txBody>
        </p:sp>
        <p:sp>
          <p:nvSpPr>
            <p:cNvPr id="189" name="Google Shape;189;p9"/>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Back-end</a:t>
              </a:r>
              <a:endParaRPr sz="4950"/>
            </a:p>
          </p:txBody>
        </p:sp>
        <p:grpSp>
          <p:nvGrpSpPr>
            <p:cNvPr id="190" name="Google Shape;190;p9"/>
            <p:cNvGrpSpPr/>
            <p:nvPr/>
          </p:nvGrpSpPr>
          <p:grpSpPr>
            <a:xfrm>
              <a:off x="0" y="1943100"/>
              <a:ext cx="21132800" cy="63500"/>
              <a:chOff x="0" y="-38100"/>
              <a:chExt cx="21132800" cy="63500"/>
            </a:xfrm>
          </p:grpSpPr>
          <p:sp>
            <p:nvSpPr>
              <p:cNvPr id="191" name="Google Shape;191;p9"/>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192" name="Google Shape;192;p9"/>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93" name="Google Shape;193;p9"/>
          <p:cNvSpPr txBox="1"/>
          <p:nvPr/>
        </p:nvSpPr>
        <p:spPr>
          <a:xfrm>
            <a:off x="1219200" y="3162753"/>
            <a:ext cx="16257900" cy="361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i="0" lang="en-US" sz="2500" u="none" cap="none" strike="noStrike">
                <a:solidFill>
                  <a:srgbClr val="000000"/>
                </a:solidFill>
              </a:rPr>
              <a:t>Có nhiều lựa chọn để triển khai khác nhau:</a:t>
            </a:r>
            <a:endParaRPr sz="1900"/>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Thuê VPS</a:t>
            </a:r>
            <a:endParaRPr sz="1900"/>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Deploy với EC2, ECS hoặc EKS (EC2 có free-tier còn ECS, EKS thì không)</a:t>
            </a:r>
            <a:endParaRPr sz="1900"/>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Render, Heraku (đơn giản nhưng mất phí)</a:t>
            </a:r>
            <a:endParaRPr sz="1900"/>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Thuê K8s cluster</a:t>
            </a:r>
            <a:endParaRPr sz="1900"/>
          </a:p>
          <a:p>
            <a:pPr indent="-247650" lvl="1" marL="431801" marR="0" rtl="0" algn="l">
              <a:lnSpc>
                <a:spcPct val="140000"/>
              </a:lnSpc>
              <a:spcBef>
                <a:spcPts val="0"/>
              </a:spcBef>
              <a:spcAft>
                <a:spcPts val="0"/>
              </a:spcAft>
              <a:buClr>
                <a:srgbClr val="000000"/>
              </a:buClr>
              <a:buSzPts val="2500"/>
              <a:buChar char="•"/>
            </a:pPr>
            <a:r>
              <a:rPr i="0" lang="en-US" sz="2500" u="none" cap="none" strike="noStrike">
                <a:solidFill>
                  <a:srgbClr val="000000"/>
                </a:solidFill>
              </a:rPr>
              <a:t>...</a:t>
            </a:r>
            <a:endParaRPr sz="1900"/>
          </a:p>
          <a:p>
            <a:pPr indent="0" lvl="0" marL="0" marR="0" rtl="0" algn="l">
              <a:lnSpc>
                <a:spcPct val="140000"/>
              </a:lnSpc>
              <a:spcBef>
                <a:spcPts val="0"/>
              </a:spcBef>
              <a:spcAft>
                <a:spcPts val="0"/>
              </a:spcAft>
              <a:buNone/>
            </a:pPr>
            <a:r>
              <a:t/>
            </a:r>
            <a:endParaRPr i="0" sz="2500" u="none" cap="none" strike="noStrike">
              <a:solidFill>
                <a:srgbClr val="000000"/>
              </a:solidFill>
            </a:endParaRPr>
          </a:p>
        </p:txBody>
      </p:sp>
      <p:sp>
        <p:nvSpPr>
          <p:cNvPr id="194" name="Google Shape;194;p9"/>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Triển khai</a:t>
            </a:r>
            <a:endParaRPr/>
          </a:p>
        </p:txBody>
      </p:sp>
      <p:pic>
        <p:nvPicPr>
          <p:cNvPr id="195" name="Google Shape;195;p9" title="Logo_Color.png"/>
          <p:cNvPicPr preferRelativeResize="0"/>
          <p:nvPr/>
        </p:nvPicPr>
        <p:blipFill rotWithShape="1">
          <a:blip r:embed="rId3">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99" name="Shape 199"/>
        <p:cNvGrpSpPr/>
        <p:nvPr/>
      </p:nvGrpSpPr>
      <p:grpSpPr>
        <a:xfrm>
          <a:off x="0" y="0"/>
          <a:ext cx="0" cy="0"/>
          <a:chOff x="0" y="0"/>
          <a:chExt cx="0" cy="0"/>
        </a:xfrm>
      </p:grpSpPr>
      <p:grpSp>
        <p:nvGrpSpPr>
          <p:cNvPr id="200" name="Google Shape;200;p10"/>
          <p:cNvGrpSpPr/>
          <p:nvPr/>
        </p:nvGrpSpPr>
        <p:grpSpPr>
          <a:xfrm>
            <a:off x="1219200" y="638175"/>
            <a:ext cx="15849600" cy="1533525"/>
            <a:chOff x="0" y="-38100"/>
            <a:chExt cx="21132800" cy="2044700"/>
          </a:xfrm>
        </p:grpSpPr>
        <p:sp>
          <p:nvSpPr>
            <p:cNvPr id="201" name="Google Shape;201;p10"/>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02.3</a:t>
              </a:r>
              <a:endParaRPr/>
            </a:p>
          </p:txBody>
        </p:sp>
        <p:sp>
          <p:nvSpPr>
            <p:cNvPr id="202" name="Google Shape;202;p10"/>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Triển khai chung với Docker-Compose</a:t>
              </a:r>
              <a:endParaRPr sz="4950"/>
            </a:p>
          </p:txBody>
        </p:sp>
        <p:grpSp>
          <p:nvGrpSpPr>
            <p:cNvPr id="203" name="Google Shape;203;p10"/>
            <p:cNvGrpSpPr/>
            <p:nvPr/>
          </p:nvGrpSpPr>
          <p:grpSpPr>
            <a:xfrm>
              <a:off x="0" y="1943100"/>
              <a:ext cx="21132800" cy="63500"/>
              <a:chOff x="0" y="-38100"/>
              <a:chExt cx="21132800" cy="63500"/>
            </a:xfrm>
          </p:grpSpPr>
          <p:sp>
            <p:nvSpPr>
              <p:cNvPr id="204" name="Google Shape;204;p10"/>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05" name="Google Shape;205;p10"/>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06" name="Google Shape;206;p10"/>
          <p:cNvSpPr txBox="1"/>
          <p:nvPr/>
        </p:nvSpPr>
        <p:spPr>
          <a:xfrm>
            <a:off x="1219200" y="3162753"/>
            <a:ext cx="16257900" cy="3078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500" u="none" cap="none" strike="noStrike">
                <a:solidFill>
                  <a:srgbClr val="000000"/>
                </a:solidFill>
                <a:latin typeface="Arial"/>
                <a:ea typeface="Arial"/>
                <a:cs typeface="Arial"/>
                <a:sym typeface="Arial"/>
              </a:rPr>
              <a:t>Có thể triển khai chung 1 cách dễ dàng với Docker Compose:</a:t>
            </a:r>
            <a:endParaRPr sz="2500"/>
          </a:p>
          <a:p>
            <a:pPr indent="-247650" lvl="1" marL="431801" marR="0" rtl="0" algn="l">
              <a:lnSpc>
                <a:spcPct val="140000"/>
              </a:lnSpc>
              <a:spcBef>
                <a:spcPts val="0"/>
              </a:spcBef>
              <a:spcAft>
                <a:spcPts val="0"/>
              </a:spcAft>
              <a:buClr>
                <a:srgbClr val="000000"/>
              </a:buClr>
              <a:buSzPts val="2500"/>
              <a:buFont typeface="Arial"/>
              <a:buChar char="•"/>
            </a:pPr>
            <a:r>
              <a:rPr b="0" i="0" lang="en-US" sz="2500" u="none" cap="none" strike="noStrike">
                <a:solidFill>
                  <a:srgbClr val="000000"/>
                </a:solidFill>
                <a:latin typeface="Arial"/>
                <a:ea typeface="Arial"/>
                <a:cs typeface="Arial"/>
                <a:sym typeface="Arial"/>
              </a:rPr>
              <a:t>Tạo image cho BE</a:t>
            </a:r>
            <a:endParaRPr sz="2500"/>
          </a:p>
          <a:p>
            <a:pPr indent="-247650" lvl="1" marL="431801" marR="0" rtl="0" algn="l">
              <a:lnSpc>
                <a:spcPct val="140000"/>
              </a:lnSpc>
              <a:spcBef>
                <a:spcPts val="0"/>
              </a:spcBef>
              <a:spcAft>
                <a:spcPts val="0"/>
              </a:spcAft>
              <a:buClr>
                <a:srgbClr val="000000"/>
              </a:buClr>
              <a:buSzPts val="2500"/>
              <a:buFont typeface="Arial"/>
              <a:buChar char="•"/>
            </a:pPr>
            <a:r>
              <a:rPr b="0" i="0" lang="en-US" sz="2500" u="none" cap="none" strike="noStrike">
                <a:solidFill>
                  <a:srgbClr val="000000"/>
                </a:solidFill>
                <a:latin typeface="Arial"/>
                <a:ea typeface="Arial"/>
                <a:cs typeface="Arial"/>
                <a:sym typeface="Arial"/>
              </a:rPr>
              <a:t>Tạo image cho FE</a:t>
            </a:r>
            <a:endParaRPr sz="2500"/>
          </a:p>
          <a:p>
            <a:pPr indent="-247650" lvl="1" marL="431801" marR="0" rtl="0" algn="l">
              <a:lnSpc>
                <a:spcPct val="140000"/>
              </a:lnSpc>
              <a:spcBef>
                <a:spcPts val="0"/>
              </a:spcBef>
              <a:spcAft>
                <a:spcPts val="0"/>
              </a:spcAft>
              <a:buClr>
                <a:srgbClr val="000000"/>
              </a:buClr>
              <a:buSzPts val="2500"/>
              <a:buFont typeface="Arial"/>
              <a:buChar char="•"/>
            </a:pPr>
            <a:r>
              <a:rPr b="0" i="0" lang="en-US" sz="2500" u="none" cap="none" strike="noStrike">
                <a:solidFill>
                  <a:srgbClr val="000000"/>
                </a:solidFill>
                <a:latin typeface="Arial"/>
                <a:ea typeface="Arial"/>
                <a:cs typeface="Arial"/>
                <a:sym typeface="Arial"/>
              </a:rPr>
              <a:t>Tạo DB (có thể dùng compose hoặc thuê service ngoài)</a:t>
            </a:r>
            <a:endParaRPr sz="2500"/>
          </a:p>
          <a:p>
            <a:pPr indent="-247650" lvl="1" marL="431801" marR="0" rtl="0" algn="l">
              <a:lnSpc>
                <a:spcPct val="140000"/>
              </a:lnSpc>
              <a:spcBef>
                <a:spcPts val="0"/>
              </a:spcBef>
              <a:spcAft>
                <a:spcPts val="0"/>
              </a:spcAft>
              <a:buClr>
                <a:srgbClr val="000000"/>
              </a:buClr>
              <a:buSzPts val="2500"/>
              <a:buFont typeface="Arial"/>
              <a:buChar char="•"/>
            </a:pPr>
            <a:r>
              <a:rPr b="0" i="0" lang="en-US" sz="2500" u="none" cap="none" strike="noStrike">
                <a:solidFill>
                  <a:srgbClr val="000000"/>
                </a:solidFill>
                <a:latin typeface="Arial"/>
                <a:ea typeface="Arial"/>
                <a:cs typeface="Arial"/>
                <a:sym typeface="Arial"/>
              </a:rPr>
              <a:t>...</a:t>
            </a:r>
            <a:endParaRPr sz="2500"/>
          </a:p>
          <a:p>
            <a:pPr indent="-247650" lvl="1" marL="431801" marR="0" rtl="0" algn="l">
              <a:lnSpc>
                <a:spcPct val="140000"/>
              </a:lnSpc>
              <a:spcBef>
                <a:spcPts val="0"/>
              </a:spcBef>
              <a:spcAft>
                <a:spcPts val="0"/>
              </a:spcAft>
              <a:buClr>
                <a:srgbClr val="000000"/>
              </a:buClr>
              <a:buSzPts val="2500"/>
              <a:buFont typeface="Arial"/>
              <a:buChar char="•"/>
            </a:pPr>
            <a:r>
              <a:rPr b="0" i="0" lang="en-US" sz="2500" u="none" cap="none" strike="noStrike">
                <a:solidFill>
                  <a:srgbClr val="000000"/>
                </a:solidFill>
                <a:latin typeface="Arial"/>
                <a:ea typeface="Arial"/>
                <a:cs typeface="Arial"/>
                <a:sym typeface="Arial"/>
              </a:rPr>
              <a:t>docker-compose up -d</a:t>
            </a:r>
            <a:endParaRPr sz="2500"/>
          </a:p>
        </p:txBody>
      </p:sp>
      <p:sp>
        <p:nvSpPr>
          <p:cNvPr id="207" name="Google Shape;207;p10"/>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Triển khai</a:t>
            </a:r>
            <a:endParaRPr/>
          </a:p>
        </p:txBody>
      </p:sp>
      <p:pic>
        <p:nvPicPr>
          <p:cNvPr id="208" name="Google Shape;208;p10" title="Logo_Color.png"/>
          <p:cNvPicPr preferRelativeResize="0"/>
          <p:nvPr/>
        </p:nvPicPr>
        <p:blipFill rotWithShape="1">
          <a:blip r:embed="rId3">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12" name="Shape 212"/>
        <p:cNvGrpSpPr/>
        <p:nvPr/>
      </p:nvGrpSpPr>
      <p:grpSpPr>
        <a:xfrm>
          <a:off x="0" y="0"/>
          <a:ext cx="0" cy="0"/>
          <a:chOff x="0" y="0"/>
          <a:chExt cx="0" cy="0"/>
        </a:xfrm>
      </p:grpSpPr>
      <p:grpSp>
        <p:nvGrpSpPr>
          <p:cNvPr id="213" name="Google Shape;213;p11"/>
          <p:cNvGrpSpPr/>
          <p:nvPr/>
        </p:nvGrpSpPr>
        <p:grpSpPr>
          <a:xfrm>
            <a:off x="1219200" y="638175"/>
            <a:ext cx="15849600" cy="1533525"/>
            <a:chOff x="0" y="-38100"/>
            <a:chExt cx="21132800" cy="2044700"/>
          </a:xfrm>
        </p:grpSpPr>
        <p:sp>
          <p:nvSpPr>
            <p:cNvPr id="214" name="Google Shape;214;p11"/>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02.4</a:t>
              </a:r>
              <a:endParaRPr/>
            </a:p>
          </p:txBody>
        </p:sp>
        <p:sp>
          <p:nvSpPr>
            <p:cNvPr id="215" name="Google Shape;215;p11"/>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Free-tier cho một số storage phổ biến</a:t>
              </a:r>
              <a:endParaRPr sz="4950"/>
            </a:p>
          </p:txBody>
        </p:sp>
        <p:grpSp>
          <p:nvGrpSpPr>
            <p:cNvPr id="216" name="Google Shape;216;p11"/>
            <p:cNvGrpSpPr/>
            <p:nvPr/>
          </p:nvGrpSpPr>
          <p:grpSpPr>
            <a:xfrm>
              <a:off x="0" y="1943100"/>
              <a:ext cx="21132800" cy="63500"/>
              <a:chOff x="0" y="-38100"/>
              <a:chExt cx="21132800" cy="63500"/>
            </a:xfrm>
          </p:grpSpPr>
          <p:sp>
            <p:nvSpPr>
              <p:cNvPr id="217" name="Google Shape;217;p11"/>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18" name="Google Shape;218;p11"/>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aphicFrame>
        <p:nvGraphicFramePr>
          <p:cNvPr id="219" name="Google Shape;219;p11"/>
          <p:cNvGraphicFramePr/>
          <p:nvPr/>
        </p:nvGraphicFramePr>
        <p:xfrm>
          <a:off x="3295650" y="1790925"/>
          <a:ext cx="11357974" cy="7331150"/>
        </p:xfrm>
        <a:graphic>
          <a:graphicData uri="http://schemas.openxmlformats.org/presentationml/2006/ole">
            <mc:AlternateContent>
              <mc:Choice Requires="v">
                <p:oleObj r:id="rId4" imgH="7331150" imgW="11357974" progId="Excel.Sheet.12" spid="_x0000_s1">
                  <p:embed/>
                </p:oleObj>
              </mc:Choice>
              <mc:Fallback>
                <p:oleObj r:id="rId5" imgH="7331150" imgW="11357974" progId="Excel.Sheet.12">
                  <p:embed/>
                  <p:pic>
                    <p:nvPicPr>
                      <p:cNvPr id="219" name="Google Shape;219;p11"/>
                      <p:cNvPicPr preferRelativeResize="0"/>
                      <p:nvPr/>
                    </p:nvPicPr>
                    <p:blipFill rotWithShape="1">
                      <a:blip r:embed="rId6">
                        <a:alphaModFix/>
                      </a:blip>
                      <a:srcRect b="0" l="0" r="0" t="0"/>
                      <a:stretch/>
                    </p:blipFill>
                    <p:spPr>
                      <a:xfrm>
                        <a:off x="3295650" y="1790925"/>
                        <a:ext cx="11357974" cy="7331150"/>
                      </a:xfrm>
                      <a:prstGeom prst="rect">
                        <a:avLst/>
                      </a:prstGeom>
                      <a:noFill/>
                      <a:ln>
                        <a:noFill/>
                      </a:ln>
                    </p:spPr>
                  </p:pic>
                </p:oleObj>
              </mc:Fallback>
            </mc:AlternateContent>
          </a:graphicData>
        </a:graphic>
      </p:graphicFrame>
      <p:sp>
        <p:nvSpPr>
          <p:cNvPr id="220" name="Google Shape;220;p11"/>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Triển khai</a:t>
            </a:r>
            <a:endParaRPr/>
          </a:p>
        </p:txBody>
      </p:sp>
      <p:pic>
        <p:nvPicPr>
          <p:cNvPr id="221" name="Google Shape;221;p11" title="Logo_Color.png"/>
          <p:cNvPicPr preferRelativeResize="0"/>
          <p:nvPr/>
        </p:nvPicPr>
        <p:blipFill rotWithShape="1">
          <a:blip r:embed="rId7">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25" name="Shape 225"/>
        <p:cNvGrpSpPr/>
        <p:nvPr/>
      </p:nvGrpSpPr>
      <p:grpSpPr>
        <a:xfrm>
          <a:off x="0" y="0"/>
          <a:ext cx="0" cy="0"/>
          <a:chOff x="0" y="0"/>
          <a:chExt cx="0" cy="0"/>
        </a:xfrm>
      </p:grpSpPr>
      <p:grpSp>
        <p:nvGrpSpPr>
          <p:cNvPr id="226" name="Google Shape;226;p12"/>
          <p:cNvGrpSpPr/>
          <p:nvPr/>
        </p:nvGrpSpPr>
        <p:grpSpPr>
          <a:xfrm>
            <a:off x="1219200" y="638175"/>
            <a:ext cx="15849600" cy="1533525"/>
            <a:chOff x="0" y="-38100"/>
            <a:chExt cx="21132800" cy="2044700"/>
          </a:xfrm>
        </p:grpSpPr>
        <p:sp>
          <p:nvSpPr>
            <p:cNvPr id="227" name="Google Shape;227;p12"/>
            <p:cNvSpPr txBox="1"/>
            <p:nvPr/>
          </p:nvSpPr>
          <p:spPr>
            <a:xfrm>
              <a:off x="0" y="-38100"/>
              <a:ext cx="1524000" cy="363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650" u="none" cap="none" strike="noStrike">
                  <a:solidFill>
                    <a:srgbClr val="3F8069"/>
                  </a:solidFill>
                  <a:latin typeface="IBM Plex Mono"/>
                  <a:ea typeface="IBM Plex Mono"/>
                  <a:cs typeface="IBM Plex Mono"/>
                  <a:sym typeface="IBM Plex Mono"/>
                </a:rPr>
                <a:t>02.4</a:t>
              </a:r>
              <a:endParaRPr/>
            </a:p>
          </p:txBody>
        </p:sp>
        <p:sp>
          <p:nvSpPr>
            <p:cNvPr id="228" name="Google Shape;228;p12"/>
            <p:cNvSpPr txBox="1"/>
            <p:nvPr/>
          </p:nvSpPr>
          <p:spPr>
            <a:xfrm>
              <a:off x="0" y="784225"/>
              <a:ext cx="19050000" cy="101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950" u="none" cap="none" strike="noStrike">
                  <a:solidFill>
                    <a:srgbClr val="17324D"/>
                  </a:solidFill>
                </a:rPr>
                <a:t>AWS Architect</a:t>
              </a:r>
              <a:endParaRPr b="1" sz="4950"/>
            </a:p>
          </p:txBody>
        </p:sp>
        <p:grpSp>
          <p:nvGrpSpPr>
            <p:cNvPr id="229" name="Google Shape;229;p12"/>
            <p:cNvGrpSpPr/>
            <p:nvPr/>
          </p:nvGrpSpPr>
          <p:grpSpPr>
            <a:xfrm>
              <a:off x="0" y="1943100"/>
              <a:ext cx="21132800" cy="63500"/>
              <a:chOff x="0" y="-38100"/>
              <a:chExt cx="21132800" cy="63500"/>
            </a:xfrm>
          </p:grpSpPr>
          <p:sp>
            <p:nvSpPr>
              <p:cNvPr id="230" name="Google Shape;230;p12"/>
              <p:cNvSpPr/>
              <p:nvPr/>
            </p:nvSpPr>
            <p:spPr>
              <a:xfrm>
                <a:off x="0" y="0"/>
                <a:ext cx="21132800" cy="25400"/>
              </a:xfrm>
              <a:custGeom>
                <a:rect b="b" l="l" r="r" t="t"/>
                <a:pathLst>
                  <a:path extrusionOk="0" h="25400" w="21132800">
                    <a:moveTo>
                      <a:pt x="0" y="0"/>
                    </a:moveTo>
                    <a:lnTo>
                      <a:pt x="21132800" y="0"/>
                    </a:lnTo>
                    <a:lnTo>
                      <a:pt x="21132800" y="25400"/>
                    </a:lnTo>
                    <a:lnTo>
                      <a:pt x="0" y="25400"/>
                    </a:lnTo>
                    <a:close/>
                  </a:path>
                </a:pathLst>
              </a:custGeom>
              <a:solidFill>
                <a:srgbClr val="D8DEDB"/>
              </a:solidFill>
              <a:ln>
                <a:noFill/>
              </a:ln>
            </p:spPr>
          </p:sp>
          <p:sp>
            <p:nvSpPr>
              <p:cNvPr id="231" name="Google Shape;231;p12"/>
              <p:cNvSpPr txBox="1"/>
              <p:nvPr/>
            </p:nvSpPr>
            <p:spPr>
              <a:xfrm>
                <a:off x="0" y="-38100"/>
                <a:ext cx="21132800" cy="635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32" name="Google Shape;232;p12"/>
          <p:cNvSpPr/>
          <p:nvPr/>
        </p:nvSpPr>
        <p:spPr>
          <a:xfrm>
            <a:off x="4182675" y="2521327"/>
            <a:ext cx="9922650" cy="6768346"/>
          </a:xfrm>
          <a:custGeom>
            <a:rect b="b" l="l" r="r" t="t"/>
            <a:pathLst>
              <a:path extrusionOk="0" h="6768346" w="9922650">
                <a:moveTo>
                  <a:pt x="0" y="0"/>
                </a:moveTo>
                <a:lnTo>
                  <a:pt x="9922650" y="0"/>
                </a:lnTo>
                <a:lnTo>
                  <a:pt x="9922650" y="6768346"/>
                </a:lnTo>
                <a:lnTo>
                  <a:pt x="0" y="6768346"/>
                </a:lnTo>
                <a:lnTo>
                  <a:pt x="0" y="0"/>
                </a:lnTo>
                <a:close/>
              </a:path>
            </a:pathLst>
          </a:custGeom>
          <a:blipFill rotWithShape="1">
            <a:blip r:embed="rId3">
              <a:alphaModFix/>
            </a:blip>
            <a:stretch>
              <a:fillRect b="0" l="0" r="0" t="0"/>
            </a:stretch>
          </a:blipFill>
          <a:ln>
            <a:noFill/>
          </a:ln>
        </p:spPr>
      </p:sp>
      <p:sp>
        <p:nvSpPr>
          <p:cNvPr id="233" name="Google Shape;233;p12"/>
          <p:cNvSpPr txBox="1"/>
          <p:nvPr/>
        </p:nvSpPr>
        <p:spPr>
          <a:xfrm>
            <a:off x="1219200" y="9610725"/>
            <a:ext cx="15849600" cy="2324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3F8069"/>
                </a:solidFill>
                <a:latin typeface="IBM Plex Mono"/>
                <a:ea typeface="IBM Plex Mono"/>
                <a:cs typeface="IBM Plex Mono"/>
                <a:sym typeface="IBM Plex Mono"/>
              </a:rPr>
              <a:t>Triển khai</a:t>
            </a:r>
            <a:endParaRPr/>
          </a:p>
        </p:txBody>
      </p:sp>
      <p:pic>
        <p:nvPicPr>
          <p:cNvPr id="234" name="Google Shape;234;p12" title="Logo_Color.png"/>
          <p:cNvPicPr preferRelativeResize="0"/>
          <p:nvPr/>
        </p:nvPicPr>
        <p:blipFill rotWithShape="1">
          <a:blip r:embed="rId4">
            <a:alphaModFix/>
          </a:blip>
          <a:srcRect b="0" l="0" r="0" t="0"/>
          <a:stretch/>
        </p:blipFill>
        <p:spPr>
          <a:xfrm>
            <a:off x="16144875" y="0"/>
            <a:ext cx="1928827" cy="19288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24D"/>
        </a:solidFill>
      </p:bgPr>
    </p:bg>
    <p:spTree>
      <p:nvGrpSpPr>
        <p:cNvPr id="238" name="Shape 238"/>
        <p:cNvGrpSpPr/>
        <p:nvPr/>
      </p:nvGrpSpPr>
      <p:grpSpPr>
        <a:xfrm>
          <a:off x="0" y="0"/>
          <a:ext cx="0" cy="0"/>
          <a:chOff x="0" y="0"/>
          <a:chExt cx="0" cy="0"/>
        </a:xfrm>
      </p:grpSpPr>
      <p:sp>
        <p:nvSpPr>
          <p:cNvPr id="239" name="Google Shape;239;p13"/>
          <p:cNvSpPr txBox="1"/>
          <p:nvPr/>
        </p:nvSpPr>
        <p:spPr>
          <a:xfrm>
            <a:off x="1219200" y="2076450"/>
            <a:ext cx="11430000" cy="1054500"/>
          </a:xfrm>
          <a:prstGeom prst="rect">
            <a:avLst/>
          </a:prstGeom>
          <a:noFill/>
          <a:ln>
            <a:noFill/>
          </a:ln>
        </p:spPr>
        <p:txBody>
          <a:bodyPr anchorCtr="0" anchor="t" bIns="0" lIns="0" spcFirstLastPara="1" rIns="0" wrap="square" tIns="0">
            <a:spAutoFit/>
          </a:bodyPr>
          <a:lstStyle/>
          <a:p>
            <a:pPr indent="0" lvl="0" marL="0" marR="0" rtl="0" algn="l">
              <a:lnSpc>
                <a:spcPct val="104991"/>
              </a:lnSpc>
              <a:spcBef>
                <a:spcPts val="0"/>
              </a:spcBef>
              <a:spcAft>
                <a:spcPts val="0"/>
              </a:spcAft>
              <a:buNone/>
            </a:pPr>
            <a:r>
              <a:rPr b="1" i="0" lang="en-US" sz="6850" u="none" cap="none" strike="noStrike">
                <a:solidFill>
                  <a:srgbClr val="FFFFFF"/>
                </a:solidFill>
              </a:rPr>
              <a:t>Sumary</a:t>
            </a:r>
            <a:endParaRPr sz="2400"/>
          </a:p>
        </p:txBody>
      </p:sp>
      <p:grpSp>
        <p:nvGrpSpPr>
          <p:cNvPr id="240" name="Google Shape;240;p13"/>
          <p:cNvGrpSpPr/>
          <p:nvPr/>
        </p:nvGrpSpPr>
        <p:grpSpPr>
          <a:xfrm>
            <a:off x="1219200" y="4495800"/>
            <a:ext cx="1524000" cy="76200"/>
            <a:chOff x="0" y="-38100"/>
            <a:chExt cx="2032000" cy="101600"/>
          </a:xfrm>
        </p:grpSpPr>
        <p:sp>
          <p:nvSpPr>
            <p:cNvPr id="241" name="Google Shape;241;p13"/>
            <p:cNvSpPr/>
            <p:nvPr/>
          </p:nvSpPr>
          <p:spPr>
            <a:xfrm>
              <a:off x="0" y="0"/>
              <a:ext cx="2032000" cy="63500"/>
            </a:xfrm>
            <a:custGeom>
              <a:rect b="b" l="l" r="r" t="t"/>
              <a:pathLst>
                <a:path extrusionOk="0" h="63500" w="2032000">
                  <a:moveTo>
                    <a:pt x="0" y="0"/>
                  </a:moveTo>
                  <a:lnTo>
                    <a:pt x="2032000" y="0"/>
                  </a:lnTo>
                  <a:lnTo>
                    <a:pt x="2032000" y="63500"/>
                  </a:lnTo>
                  <a:lnTo>
                    <a:pt x="0" y="63500"/>
                  </a:lnTo>
                  <a:close/>
                </a:path>
              </a:pathLst>
            </a:custGeom>
            <a:solidFill>
              <a:srgbClr val="3F8069"/>
            </a:solidFill>
            <a:ln>
              <a:noFill/>
            </a:ln>
          </p:spPr>
        </p:sp>
        <p:sp>
          <p:nvSpPr>
            <p:cNvPr id="242" name="Google Shape;242;p13"/>
            <p:cNvSpPr txBox="1"/>
            <p:nvPr/>
          </p:nvSpPr>
          <p:spPr>
            <a:xfrm>
              <a:off x="0" y="-38100"/>
              <a:ext cx="2032000" cy="1016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13"/>
          <p:cNvSpPr txBox="1"/>
          <p:nvPr/>
        </p:nvSpPr>
        <p:spPr>
          <a:xfrm>
            <a:off x="1219200" y="4953000"/>
            <a:ext cx="13811400" cy="5004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3250" u="none" cap="none" strike="noStrike">
                <a:solidFill>
                  <a:srgbClr val="FFFFFF"/>
                </a:solidFill>
                <a:latin typeface="Arial"/>
                <a:ea typeface="Arial"/>
                <a:cs typeface="Arial"/>
                <a:sym typeface="Arial"/>
              </a:rPr>
              <a:t>01  Docker vs Docker Compose</a:t>
            </a:r>
            <a:endParaRPr sz="2400"/>
          </a:p>
        </p:txBody>
      </p:sp>
      <p:sp>
        <p:nvSpPr>
          <p:cNvPr id="244" name="Google Shape;244;p13"/>
          <p:cNvSpPr txBox="1"/>
          <p:nvPr/>
        </p:nvSpPr>
        <p:spPr>
          <a:xfrm>
            <a:off x="1219200" y="5715000"/>
            <a:ext cx="13811400" cy="5004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3250" u="none" cap="none" strike="noStrike">
                <a:solidFill>
                  <a:srgbClr val="FFFFFF"/>
                </a:solidFill>
                <a:latin typeface="Arial"/>
                <a:ea typeface="Arial"/>
                <a:cs typeface="Arial"/>
                <a:sym typeface="Arial"/>
              </a:rPr>
              <a:t>02  Triển khai FE vs BE</a:t>
            </a:r>
            <a:endParaRPr sz="2400"/>
          </a:p>
        </p:txBody>
      </p:sp>
      <p:pic>
        <p:nvPicPr>
          <p:cNvPr id="245" name="Google Shape;245;p13" title="Logo_white.png"/>
          <p:cNvPicPr preferRelativeResize="0"/>
          <p:nvPr/>
        </p:nvPicPr>
        <p:blipFill rotWithShape="1">
          <a:blip r:embed="rId3">
            <a:alphaModFix/>
          </a:blip>
          <a:srcRect b="0" l="0" r="0" t="0"/>
          <a:stretch/>
        </p:blipFill>
        <p:spPr>
          <a:xfrm>
            <a:off x="15939500" y="167000"/>
            <a:ext cx="2051400" cy="168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